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7e3a0a-f564-614c-e3b1-e1465d1986a2}">
          <p14:sldIdLst>
            <p14:sldId id="256"/>
            <p14:sldId id="257"/>
            <p14:sldId id="258"/>
            <p14:sldId id="259"/>
          </p14:sldIdLst>
        </p14:section>
        <p14:section name="Design" id="{92421c63-9da2-cf8e-3a6b-180f2ebba773}">
          <p14:sldIdLst>
            <p14:sldId id="260"/>
            <p14:sldId id="261"/>
            <p14:sldId id="262"/>
            <p14:sldId id="263"/>
          </p14:sldIdLst>
        </p14:section>
        <p14:section name="Implementation" id="{4335f365-012e-d878-e42c-c7f30521b544}">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the Retail Inventory and Sales Management System. The main objective is to develop a database-driven application that helps retail businesses manage inventory, process sales, record purchases, and generate reports efficiently. We use MySQL to store and manage the data. In a traditional shop, quantities and sales are kept in notebooks or spreadsheets; our system brings all of these activities into one centralized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is the difficulty of maintaining accurate inventory and sales records manually. Manual stock records go out of date, billing calculations produce errors and duplicate entries, and the owner has little visibility into best-selling products, daily revenue or items that need restocking. Our system addresses this by centralizing the data, automating billing calculations, and providing real-time stock information based on recorded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is not just to store product information. We want to integrate inventory, sales, purchases, and reporting into one system. For example, suppose a shop has 50 packets of biscuits. If a cashier sells 5 packets, the application updates the available stock to 45. When 20 more packets are received, the stock becomes 65. This automatic stock tracking is one of the most important features of the project. The database helps keep the information consistent across all these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divided the system into three roles to improve security and accountability. The Admin supervises the business, the Cashier handles sales, and the Inventory Manager maintains stock records. Each role has specific permissions. If every employee had full access, a cashier might accidentally change product costs or inventory quantities. The application must check permissions in the backend, not just hide buttons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follows a three-layer architecture. React provides the interface, Node.js and Express handle business logic, and MySQL stores the data. Vite runs the frontend development server and builds the application. The REST API gives the frontend a standard way to request or update information through the backend. For example, when a cashier searches for a product, React sends a request to the backend, Express processes it, MySQL returns the matching product, and the frontend displays the result. This separation makes the system easier to maintain, test, and expand.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the database using relational tables. Primary keys uniquely identify records, foreign keys connect related tables, and normalization reduces duplication. For example, a product's category is stored once in categories, while products only reference its category_id. This structure allows us to generate reports by joining information from different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ER diagram shows the relationships between the database tables. For example, one sale can have multiple sale items, and each sale item refers to a product. We use primary keys to identify records and foreign keys to connect them. The separate detail tables allow multiple products to be included in a single transaction: the sales table stores the invoice-level information, while sale_items stores each product, quantity and price. The same principle applies to purchases and purchase_items. If asked about the arrows: they show how tables are linked through keys. The diagram is a simplified overview; the actual schema defines the exact foreign-key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diagram is not just a visual representation. It guides how the database works. The relationships allow us to trace sales, understand purchase history, track stock changes, and generate reports without unnecessarily duplicating data. If the stock quantity changes, the system can use the movement history to help explain why. If the owner wants to see the best-selling product, the system joins products with sale_items and aggregates the quantities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database design to actual operations. First, the cashier selects products and they are added to the cart. The server validates the request: current prices, quantities and stock availability. It then starts a database transaction so related changes can be handled together. The application inserts a record into sales and the individual products into sale_items, then deducts stock and records the changes in stock_movements. If everything succeeds, the transaction is committed and the invoice is returned. If any step fails, the transaction is rolled back, so the database never ends up with a half-recorded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SQL ideas behind the workflow. A transaction groups the sale insert, the stock update and the stock movement record so they either all succeed (COMMIT) or all fail (ROLLBACK). JOINs combine products with sale_items, and GROUP BY with SUM aggregates the quantities sold to find best-sellers. A simple WHERE condition comparing stock to the reorder level produces the low-stock list. Foreign-key constraints keep references valid. Note that the SQL shown is illustrative; column names follow our schema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Retail Inventory and Sales Management System centralizes records, automates billing and stock updates, and protects data with role-based access and a well-designed MySQL schema.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731520" y="1737360"/>
            <a:ext cx="69494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4114800"/>
            <a:ext cx="6949440" cy="118872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DBMS PBL · Review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737360"/>
            <a:ext cx="6949440" cy="2103120"/>
          </a:xfrm>
          <a:prstGeom prst="rect">
            <a:avLst/>
          </a:prstGeom>
          <a:noFill/>
          <a:ln/>
        </p:spPr>
        <p:txBody>
          <a:bodyPr wrap="square" lIns="0" tIns="0" rIns="0" bIns="0" rtlCol="0" anchor="b"/>
          <a:lstStyle/>
          <a:p>
            <a:pPr algn="l" indent="0" marL="0">
              <a:buNone/>
            </a:pPr>
            <a:r>
              <a:rPr lang="en-US" sz="4400" b="1" dirty="0">
                <a:solidFill>
                  <a:schemeClr val="bg1"/>
                </a:solidFill>
              </a:rPr>
              <a:t>Retail Inventory and Sales Management System</a:t>
            </a:r>
            <a:endParaRPr lang="en-US" sz="4400" dirty="0"/>
          </a:p>
        </p:txBody>
      </p:sp>
      <p:sp>
        <p:nvSpPr>
          <p:cNvPr id="3" name="Text 1"/>
          <p:cNvSpPr/>
          <p:nvPr>
            <p:ph idx="102" type="body" hasCustomPrompt="1"/>
          </p:nvPr>
        </p:nvSpPr>
        <p:spPr>
          <a:xfrm>
            <a:off x="731520" y="4114800"/>
            <a:ext cx="6949440" cy="1188720"/>
          </a:xfrm>
          <a:prstGeom prst="rect">
            <a:avLst/>
          </a:prstGeom>
          <a:noFill/>
          <a:ln/>
        </p:spPr>
        <p:txBody>
          <a:bodyPr wrap="square" lIns="0" tIns="0" rIns="0" bIns="0" rtlCol="0" anchor="t"/>
          <a:lstStyle/>
          <a:p>
            <a:pPr indent="0" marL="0">
              <a:buNone/>
            </a:pPr>
            <a:r>
              <a:rPr lang="en-US" sz="2000" b="1" dirty="0">
                <a:solidFill>
                  <a:schemeClr val="accent2"/>
                </a:solidFill>
              </a:rPr>
              <a:t>DBMS PBL · Review 2</a:t>
            </a:r>
            <a:endParaRPr lang="en-US" sz="2000" dirty="0"/>
          </a:p>
        </p:txBody>
      </p:sp>
      <p:sp>
        <p:nvSpPr>
          <p:cNvPr id="4" name="Text 2"/>
          <p:cNvSpPr txBox="1"/>
          <p:nvPr/>
        </p:nvSpPr>
        <p:spPr>
          <a:xfrm>
            <a:off x="731520" y="4892040"/>
            <a:ext cx="6583680" cy="822960"/>
          </a:xfrm>
          <a:prstGeom prst="rect">
            <a:avLst/>
          </a:prstGeom>
          <a:noFill/>
          <a:ln/>
        </p:spPr>
        <p:txBody>
          <a:bodyPr wrap="square" lIns="0" tIns="0" rIns="0" bIns="0" rtlCol="0" anchor="t"/>
          <a:lstStyle/>
          <a:p>
            <a:pPr indent="0" marL="0">
              <a:buNone/>
            </a:pPr>
            <a:r>
              <a:rPr lang="en-US" sz="1600" dirty="0">
                <a:solidFill>
                  <a:schemeClr val="accent6"/>
                </a:solidFill>
              </a:rPr>
              <a:t>A MySQL-backed web application for inventory, billing, purchasing and reports</a:t>
            </a:r>
            <a:endParaRPr lang="en-US" sz="1600" dirty="0"/>
          </a:p>
        </p:txBody>
      </p:sp>
      <p:sp>
        <p:nvSpPr>
          <p:cNvPr id="5" name="Icon circle"/>
          <p:cNvSpPr/>
          <p:nvPr/>
        </p:nvSpPr>
        <p:spPr>
          <a:xfrm>
            <a:off x="8412480" y="1371600"/>
            <a:ext cx="3108960" cy="3108960"/>
          </a:xfrm>
          <a:prstGeom prst="ellipse">
            <a:avLst/>
          </a:prstGeom>
          <a:solidFill>
            <a:schemeClr val="accent1"/>
          </a:solidFill>
          <a:ln w="6350">
            <a:solidFill>
              <a:schemeClr val="accent1"/>
            </a:solidFill>
            <a:prstDash val="solid"/>
          </a:ln>
        </p:spPr>
      </p:sp>
      <p:pic>
        <p:nvPicPr>
          <p:cNvPr id="6" name="Icon" descr="icon">    </p:cNvPr>
          <p:cNvPicPr>
            <a:picLocks noChangeAspect="1"/>
          </p:cNvPicPr>
          <p:nvPr/>
        </p:nvPicPr>
        <p:blipFill>
          <a:blip r:embed="rId1"/>
          <a:stretch>
            <a:fillRect/>
          </a:stretch>
        </p:blipFill>
        <p:spPr>
          <a:xfrm>
            <a:off x="9220810" y="2179930"/>
            <a:ext cx="1492301" cy="1492301"/>
          </a:xfrm>
          <a:prstGeom prst="rect">
            <a:avLst/>
          </a:prstGeom>
        </p:spPr>
      </p:pic>
      <p:sp>
        <p:nvSpPr>
          <p:cNvPr id="7" name="Icon circle"/>
          <p:cNvSpPr/>
          <p:nvPr/>
        </p:nvSpPr>
        <p:spPr>
          <a:xfrm>
            <a:off x="7863840" y="4297680"/>
            <a:ext cx="1463040" cy="1463040"/>
          </a:xfrm>
          <a:prstGeom prst="ellipse">
            <a:avLst/>
          </a:prstGeom>
          <a:solidFill>
            <a:schemeClr val="accent2"/>
          </a:solidFill>
          <a:ln w="6350">
            <a:solidFill>
              <a:schemeClr val="accent2"/>
            </a:solidFill>
            <a:prstDash val="solid"/>
          </a:ln>
        </p:spPr>
      </p:sp>
      <p:pic>
        <p:nvPicPr>
          <p:cNvPr id="8" name="Icon" descr="icon">    </p:cNvPr>
          <p:cNvPicPr>
            <a:picLocks noChangeAspect="1"/>
          </p:cNvPicPr>
          <p:nvPr/>
        </p:nvPicPr>
        <p:blipFill>
          <a:blip r:embed="rId2"/>
          <a:stretch>
            <a:fillRect/>
          </a:stretch>
        </p:blipFill>
        <p:spPr>
          <a:xfrm>
            <a:off x="8244230" y="4678070"/>
            <a:ext cx="702259" cy="702259"/>
          </a:xfrm>
          <a:prstGeom prst="rect">
            <a:avLst/>
          </a:prstGeom>
        </p:spPr>
      </p:pic>
      <p:sp>
        <p:nvSpPr>
          <p:cNvPr id="9" name="Icon circle"/>
          <p:cNvSpPr/>
          <p:nvPr/>
        </p:nvSpPr>
        <p:spPr>
          <a:xfrm>
            <a:off x="10424160" y="3931920"/>
            <a:ext cx="1188720" cy="1188720"/>
          </a:xfrm>
          <a:prstGeom prst="ellipse">
            <a:avLst/>
          </a:prstGeom>
          <a:solidFill>
            <a:schemeClr val="accent3"/>
          </a:solidFill>
          <a:ln w="6350">
            <a:solidFill>
              <a:schemeClr val="accent3"/>
            </a:solidFill>
            <a:prstDash val="solid"/>
          </a:ln>
        </p:spPr>
      </p:sp>
      <p:pic>
        <p:nvPicPr>
          <p:cNvPr id="10" name="Icon" descr="icon">    </p:cNvPr>
          <p:cNvPicPr>
            <a:picLocks noChangeAspect="1"/>
          </p:cNvPicPr>
          <p:nvPr/>
        </p:nvPicPr>
        <p:blipFill>
          <a:blip r:embed="rId3"/>
          <a:stretch>
            <a:fillRect/>
          </a:stretch>
        </p:blipFill>
        <p:spPr>
          <a:xfrm>
            <a:off x="10733227" y="4240987"/>
            <a:ext cx="570586" cy="570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Problem Statement</a:t>
            </a:r>
            <a:endParaRPr lang="en-US" sz="3600" dirty="0"/>
          </a:p>
        </p:txBody>
      </p:sp>
      <p:sp>
        <p:nvSpPr>
          <p:cNvPr id="3" name="Card"/>
          <p:cNvSpPr/>
          <p:nvPr/>
        </p:nvSpPr>
        <p:spPr>
          <a:xfrm>
            <a:off x="548640" y="1371600"/>
            <a:ext cx="3566160" cy="3017520"/>
          </a:xfrm>
          <a:prstGeom prst="roundRect">
            <a:avLst>
              <a:gd name="adj" fmla="val 3636"/>
            </a:avLst>
          </a:prstGeom>
          <a:solidFill>
            <a:schemeClr val="bg2"/>
          </a:solidFill>
          <a:ln w="6350">
            <a:solidFill>
              <a:schemeClr val="bg2"/>
            </a:solidFill>
            <a:prstDash val="solid"/>
          </a:ln>
        </p:spPr>
      </p:sp>
      <p:sp>
        <p:nvSpPr>
          <p:cNvPr id="4" name="Icon circle"/>
          <p:cNvSpPr/>
          <p:nvPr/>
        </p:nvSpPr>
        <p:spPr>
          <a:xfrm>
            <a:off x="868680" y="1691640"/>
            <a:ext cx="822960" cy="82296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1082650" y="1905610"/>
            <a:ext cx="395021" cy="395021"/>
          </a:xfrm>
          <a:prstGeom prst="rect">
            <a:avLst/>
          </a:prstGeom>
        </p:spPr>
      </p:pic>
      <p:sp>
        <p:nvSpPr>
          <p:cNvPr id="6" name="Text 3"/>
          <p:cNvSpPr txBox="1"/>
          <p:nvPr/>
        </p:nvSpPr>
        <p:spPr>
          <a:xfrm>
            <a:off x="868680" y="27432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Manual stock records</a:t>
            </a:r>
            <a:endParaRPr lang="en-US" sz="2000" dirty="0"/>
          </a:p>
        </p:txBody>
      </p:sp>
      <p:sp>
        <p:nvSpPr>
          <p:cNvPr id="7" name="Text 4"/>
          <p:cNvSpPr txBox="1"/>
          <p:nvPr/>
        </p:nvSpPr>
        <p:spPr>
          <a:xfrm>
            <a:off x="868680" y="3246120"/>
            <a:ext cx="2926080" cy="1005840"/>
          </a:xfrm>
          <a:prstGeom prst="rect">
            <a:avLst/>
          </a:prstGeom>
          <a:noFill/>
          <a:ln/>
        </p:spPr>
        <p:txBody>
          <a:bodyPr wrap="square" lIns="0" tIns="0" rIns="0" bIns="0" rtlCol="0" anchor="t"/>
          <a:lstStyle/>
          <a:p>
            <a:pPr indent="0" marL="0">
              <a:buNone/>
            </a:pPr>
            <a:r>
              <a:rPr lang="en-US" sz="1400" dirty="0">
                <a:solidFill>
                  <a:schemeClr val="tx1"/>
                </a:solidFill>
              </a:rPr>
              <a:t>Hard to track available quantity; records go stale when sales and purchases are not updated.</a:t>
            </a:r>
            <a:endParaRPr lang="en-US" sz="1400" dirty="0"/>
          </a:p>
        </p:txBody>
      </p:sp>
      <p:sp>
        <p:nvSpPr>
          <p:cNvPr id="8" name="Card"/>
          <p:cNvSpPr/>
          <p:nvPr/>
        </p:nvSpPr>
        <p:spPr>
          <a:xfrm>
            <a:off x="4297680" y="1371600"/>
            <a:ext cx="3566160" cy="3017520"/>
          </a:xfrm>
          <a:prstGeom prst="roundRect">
            <a:avLst>
              <a:gd name="adj" fmla="val 3636"/>
            </a:avLst>
          </a:prstGeom>
          <a:solidFill>
            <a:schemeClr val="bg2"/>
          </a:solidFill>
          <a:ln w="6350">
            <a:solidFill>
              <a:schemeClr val="bg2"/>
            </a:solidFill>
            <a:prstDash val="solid"/>
          </a:ln>
        </p:spPr>
      </p:sp>
      <p:sp>
        <p:nvSpPr>
          <p:cNvPr id="9" name="Icon circle"/>
          <p:cNvSpPr/>
          <p:nvPr/>
        </p:nvSpPr>
        <p:spPr>
          <a:xfrm>
            <a:off x="4617720" y="1691640"/>
            <a:ext cx="822960" cy="822960"/>
          </a:xfrm>
          <a:prstGeom prst="ellipse">
            <a:avLst/>
          </a:prstGeom>
          <a:solidFill>
            <a:schemeClr val="accent5"/>
          </a:solidFill>
          <a:ln w="6350">
            <a:solidFill>
              <a:schemeClr val="accent5"/>
            </a:solidFill>
            <a:prstDash val="solid"/>
          </a:ln>
        </p:spPr>
      </p:sp>
      <p:pic>
        <p:nvPicPr>
          <p:cNvPr id="10" name="Icon" descr="icon">    </p:cNvPr>
          <p:cNvPicPr>
            <a:picLocks noChangeAspect="1"/>
          </p:cNvPicPr>
          <p:nvPr/>
        </p:nvPicPr>
        <p:blipFill>
          <a:blip r:embed="rId2"/>
          <a:stretch>
            <a:fillRect/>
          </a:stretch>
        </p:blipFill>
        <p:spPr>
          <a:xfrm>
            <a:off x="4831690" y="1905610"/>
            <a:ext cx="395021" cy="395021"/>
          </a:xfrm>
          <a:prstGeom prst="rect">
            <a:avLst/>
          </a:prstGeom>
        </p:spPr>
      </p:pic>
      <p:sp>
        <p:nvSpPr>
          <p:cNvPr id="11" name="Text 7"/>
          <p:cNvSpPr txBox="1"/>
          <p:nvPr/>
        </p:nvSpPr>
        <p:spPr>
          <a:xfrm>
            <a:off x="4617720" y="27432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Billing errors</a:t>
            </a:r>
            <a:endParaRPr lang="en-US" sz="2000" dirty="0"/>
          </a:p>
        </p:txBody>
      </p:sp>
      <p:sp>
        <p:nvSpPr>
          <p:cNvPr id="12" name="Text 8"/>
          <p:cNvSpPr txBox="1"/>
          <p:nvPr/>
        </p:nvSpPr>
        <p:spPr>
          <a:xfrm>
            <a:off x="4617720" y="3246120"/>
            <a:ext cx="2926080" cy="1005840"/>
          </a:xfrm>
          <a:prstGeom prst="rect">
            <a:avLst/>
          </a:prstGeom>
          <a:noFill/>
          <a:ln/>
        </p:spPr>
        <p:txBody>
          <a:bodyPr wrap="square" lIns="0" tIns="0" rIns="0" bIns="0" rtlCol="0" anchor="t"/>
          <a:lstStyle/>
          <a:p>
            <a:pPr indent="0" marL="0">
              <a:buNone/>
            </a:pPr>
            <a:r>
              <a:rPr lang="en-US" sz="1400" dirty="0">
                <a:solidFill>
                  <a:schemeClr val="tx1"/>
                </a:solidFill>
              </a:rPr>
              <a:t>Manual totals cause wrong amounts, duplicate entries and slower checkout.</a:t>
            </a:r>
            <a:endParaRPr lang="en-US" sz="1400" dirty="0"/>
          </a:p>
        </p:txBody>
      </p:sp>
      <p:sp>
        <p:nvSpPr>
          <p:cNvPr id="13" name="Card"/>
          <p:cNvSpPr/>
          <p:nvPr/>
        </p:nvSpPr>
        <p:spPr>
          <a:xfrm>
            <a:off x="8046720" y="1371600"/>
            <a:ext cx="3566160" cy="3017520"/>
          </a:xfrm>
          <a:prstGeom prst="roundRect">
            <a:avLst>
              <a:gd name="adj" fmla="val 3636"/>
            </a:avLst>
          </a:prstGeom>
          <a:solidFill>
            <a:schemeClr val="bg2"/>
          </a:solidFill>
          <a:ln w="6350">
            <a:solidFill>
              <a:schemeClr val="bg2"/>
            </a:solidFill>
            <a:prstDash val="solid"/>
          </a:ln>
        </p:spPr>
      </p:sp>
      <p:sp>
        <p:nvSpPr>
          <p:cNvPr id="14" name="Icon circle"/>
          <p:cNvSpPr/>
          <p:nvPr/>
        </p:nvSpPr>
        <p:spPr>
          <a:xfrm>
            <a:off x="8366760" y="1691640"/>
            <a:ext cx="822960" cy="822960"/>
          </a:xfrm>
          <a:prstGeom prst="ellipse">
            <a:avLst/>
          </a:prstGeom>
          <a:solidFill>
            <a:schemeClr val="accent1"/>
          </a:solidFill>
          <a:ln w="6350">
            <a:solidFill>
              <a:schemeClr val="accent1"/>
            </a:solidFill>
            <a:prstDash val="solid"/>
          </a:ln>
        </p:spPr>
      </p:sp>
      <p:pic>
        <p:nvPicPr>
          <p:cNvPr id="15" name="Icon" descr="icon">    </p:cNvPr>
          <p:cNvPicPr>
            <a:picLocks noChangeAspect="1"/>
          </p:cNvPicPr>
          <p:nvPr/>
        </p:nvPicPr>
        <p:blipFill>
          <a:blip r:embed="rId3"/>
          <a:stretch>
            <a:fillRect/>
          </a:stretch>
        </p:blipFill>
        <p:spPr>
          <a:xfrm>
            <a:off x="8580730" y="1905610"/>
            <a:ext cx="395021" cy="395021"/>
          </a:xfrm>
          <a:prstGeom prst="rect">
            <a:avLst/>
          </a:prstGeom>
        </p:spPr>
      </p:pic>
      <p:sp>
        <p:nvSpPr>
          <p:cNvPr id="16" name="Text 11"/>
          <p:cNvSpPr txBox="1"/>
          <p:nvPr/>
        </p:nvSpPr>
        <p:spPr>
          <a:xfrm>
            <a:off x="8366760" y="2743200"/>
            <a:ext cx="2926080" cy="411480"/>
          </a:xfrm>
          <a:prstGeom prst="rect">
            <a:avLst/>
          </a:prstGeom>
          <a:noFill/>
          <a:ln/>
        </p:spPr>
        <p:txBody>
          <a:bodyPr wrap="square" lIns="0" tIns="0" rIns="0" bIns="0" rtlCol="0" anchor="t"/>
          <a:lstStyle/>
          <a:p>
            <a:pPr indent="0" marL="0">
              <a:buNone/>
            </a:pPr>
            <a:r>
              <a:rPr lang="en-US" sz="2000" b="1" dirty="0">
                <a:solidFill>
                  <a:schemeClr val="tx2"/>
                </a:solidFill>
              </a:rPr>
              <a:t>Limited business visibility</a:t>
            </a:r>
            <a:endParaRPr lang="en-US" sz="2000" dirty="0"/>
          </a:p>
        </p:txBody>
      </p:sp>
      <p:sp>
        <p:nvSpPr>
          <p:cNvPr id="17" name="Text 12"/>
          <p:cNvSpPr txBox="1"/>
          <p:nvPr/>
        </p:nvSpPr>
        <p:spPr>
          <a:xfrm>
            <a:off x="8366760" y="3246120"/>
            <a:ext cx="2926080" cy="1005840"/>
          </a:xfrm>
          <a:prstGeom prst="rect">
            <a:avLst/>
          </a:prstGeom>
          <a:noFill/>
          <a:ln/>
        </p:spPr>
        <p:txBody>
          <a:bodyPr wrap="square" lIns="0" tIns="0" rIns="0" bIns="0" rtlCol="0" anchor="t"/>
          <a:lstStyle/>
          <a:p>
            <a:pPr indent="0" marL="0">
              <a:buNone/>
            </a:pPr>
            <a:r>
              <a:rPr lang="en-US" sz="1400" dirty="0">
                <a:solidFill>
                  <a:schemeClr val="tx1"/>
                </a:solidFill>
              </a:rPr>
              <a:t>Owners struggle to spot best-sellers, daily revenue and products that need restocking.</a:t>
            </a:r>
            <a:endParaRPr lang="en-US" sz="1400" dirty="0"/>
          </a:p>
        </p:txBody>
      </p:sp>
      <p:sp>
        <p:nvSpPr>
          <p:cNvPr id="18" name="Solution banner"/>
          <p:cNvSpPr/>
          <p:nvPr/>
        </p:nvSpPr>
        <p:spPr>
          <a:xfrm>
            <a:off x="548640" y="4663440"/>
            <a:ext cx="11064240" cy="1463040"/>
          </a:xfrm>
          <a:prstGeom prst="roundRect">
            <a:avLst>
              <a:gd name="adj" fmla="val 7500"/>
            </a:avLst>
          </a:prstGeom>
          <a:solidFill>
            <a:schemeClr val="tx2"/>
          </a:solidFill>
          <a:ln w="6350">
            <a:solidFill>
              <a:schemeClr val="tx2"/>
            </a:solidFill>
            <a:prstDash val="solid"/>
          </a:ln>
        </p:spPr>
      </p:sp>
      <p:sp>
        <p:nvSpPr>
          <p:cNvPr id="19" name="Text 14"/>
          <p:cNvSpPr txBox="1"/>
          <p:nvPr/>
        </p:nvSpPr>
        <p:spPr>
          <a:xfrm>
            <a:off x="914400" y="484632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HOW OUR PROJECT SOLVES THIS</a:t>
            </a:r>
            <a:endParaRPr lang="en-US" sz="1400" dirty="0"/>
          </a:p>
        </p:txBody>
      </p:sp>
      <p:sp>
        <p:nvSpPr>
          <p:cNvPr id="20" name="Text 15"/>
          <p:cNvSpPr txBox="1"/>
          <p:nvPr/>
        </p:nvSpPr>
        <p:spPr>
          <a:xfrm>
            <a:off x="914400" y="5257800"/>
            <a:ext cx="10332720" cy="731520"/>
          </a:xfrm>
          <a:prstGeom prst="rect">
            <a:avLst/>
          </a:prstGeom>
          <a:noFill/>
          <a:ln/>
        </p:spPr>
        <p:txBody>
          <a:bodyPr wrap="square" lIns="0" tIns="0" rIns="0" bIns="0" rtlCol="0" anchor="t"/>
          <a:lstStyle/>
          <a:p>
            <a:pPr indent="0" marL="0">
              <a:buNone/>
            </a:pPr>
            <a:r>
              <a:rPr lang="en-US" sz="1800" dirty="0">
                <a:solidFill>
                  <a:schemeClr val="bg1"/>
                </a:solidFill>
              </a:rPr>
              <a:t>Centralized records, automatic bill calculation, stock updated after every transaction, and reports generated straight from the database.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Objectives and Core Features</a:t>
            </a:r>
            <a:endParaRPr lang="en-US" sz="3600" dirty="0"/>
          </a:p>
        </p:txBody>
      </p:sp>
      <p:sp>
        <p:nvSpPr>
          <p:cNvPr id="3" name="Card"/>
          <p:cNvSpPr/>
          <p:nvPr/>
        </p:nvSpPr>
        <p:spPr>
          <a:xfrm>
            <a:off x="548640" y="1371600"/>
            <a:ext cx="3566160" cy="1600200"/>
          </a:xfrm>
          <a:prstGeom prst="roundRect">
            <a:avLst>
              <a:gd name="adj" fmla="val 6857"/>
            </a:avLst>
          </a:prstGeom>
          <a:solidFill>
            <a:schemeClr val="bg2"/>
          </a:solidFill>
          <a:ln w="6350">
            <a:solidFill>
              <a:schemeClr val="bg2"/>
            </a:solidFill>
            <a:prstDash val="solid"/>
          </a:ln>
        </p:spPr>
      </p:sp>
      <p:sp>
        <p:nvSpPr>
          <p:cNvPr id="4" name="Icon circle"/>
          <p:cNvSpPr/>
          <p:nvPr/>
        </p:nvSpPr>
        <p:spPr>
          <a:xfrm>
            <a:off x="822960" y="1645920"/>
            <a:ext cx="640080" cy="64008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1645920" y="1645920"/>
            <a:ext cx="2286000" cy="365760"/>
          </a:xfrm>
          <a:prstGeom prst="rect">
            <a:avLst/>
          </a:prstGeom>
          <a:noFill/>
          <a:ln/>
        </p:spPr>
        <p:txBody>
          <a:bodyPr wrap="square" lIns="0" tIns="0" rIns="0" bIns="0" rtlCol="0" anchor="t"/>
          <a:lstStyle/>
          <a:p>
            <a:pPr indent="0" marL="0">
              <a:buNone/>
            </a:pPr>
            <a:r>
              <a:rPr lang="en-US" sz="1800" b="1" dirty="0">
                <a:solidFill>
                  <a:schemeClr val="tx2"/>
                </a:solidFill>
              </a:rPr>
              <a:t>Inventory control</a:t>
            </a:r>
            <a:endParaRPr lang="en-US" sz="1800" dirty="0"/>
          </a:p>
        </p:txBody>
      </p:sp>
      <p:sp>
        <p:nvSpPr>
          <p:cNvPr id="7" name="Text 4"/>
          <p:cNvSpPr txBox="1"/>
          <p:nvPr/>
        </p:nvSpPr>
        <p:spPr>
          <a:xfrm>
            <a:off x="1645920" y="2057400"/>
            <a:ext cx="2286000" cy="822960"/>
          </a:xfrm>
          <a:prstGeom prst="rect">
            <a:avLst/>
          </a:prstGeom>
          <a:noFill/>
          <a:ln/>
        </p:spPr>
        <p:txBody>
          <a:bodyPr wrap="square" lIns="0" tIns="0" rIns="0" bIns="0" rtlCol="0" anchor="t"/>
          <a:lstStyle/>
          <a:p>
            <a:pPr indent="0" marL="0">
              <a:buNone/>
            </a:pPr>
            <a:r>
              <a:rPr lang="en-US" sz="1400" dirty="0">
                <a:solidFill>
                  <a:schemeClr val="tx1"/>
                </a:solidFill>
              </a:rPr>
              <a:t>Product details, stock, prices and reorder levels.</a:t>
            </a:r>
            <a:endParaRPr lang="en-US" sz="1400" dirty="0"/>
          </a:p>
        </p:txBody>
      </p:sp>
      <p:sp>
        <p:nvSpPr>
          <p:cNvPr id="8" name="Card"/>
          <p:cNvSpPr/>
          <p:nvPr/>
        </p:nvSpPr>
        <p:spPr>
          <a:xfrm>
            <a:off x="4297680" y="1371600"/>
            <a:ext cx="3566160" cy="1600200"/>
          </a:xfrm>
          <a:prstGeom prst="roundRect">
            <a:avLst>
              <a:gd name="adj" fmla="val 6857"/>
            </a:avLst>
          </a:prstGeom>
          <a:solidFill>
            <a:schemeClr val="bg2"/>
          </a:solidFill>
          <a:ln w="6350">
            <a:solidFill>
              <a:schemeClr val="bg2"/>
            </a:solidFill>
            <a:prstDash val="solid"/>
          </a:ln>
        </p:spPr>
      </p:sp>
      <p:sp>
        <p:nvSpPr>
          <p:cNvPr id="9" name="Icon circle"/>
          <p:cNvSpPr/>
          <p:nvPr/>
        </p:nvSpPr>
        <p:spPr>
          <a:xfrm>
            <a:off x="4572000" y="1645920"/>
            <a:ext cx="640080" cy="640080"/>
          </a:xfrm>
          <a:prstGeom prst="ellipse">
            <a:avLst/>
          </a:prstGeom>
          <a:solidFill>
            <a:schemeClr val="accent1"/>
          </a:solidFill>
          <a:ln w="6350">
            <a:solidFill>
              <a:schemeClr val="accent1"/>
            </a:solidFill>
            <a:prstDash val="solid"/>
          </a:ln>
        </p:spPr>
      </p:sp>
      <p:pic>
        <p:nvPicPr>
          <p:cNvPr id="10" name="Icon" descr="icon">    </p:cNvPr>
          <p:cNvPicPr>
            <a:picLocks noChangeAspect="1"/>
          </p:cNvPicPr>
          <p:nvPr/>
        </p:nvPicPr>
        <p:blipFill>
          <a:blip r:embed="rId2"/>
          <a:stretch>
            <a:fillRect/>
          </a:stretch>
        </p:blipFill>
        <p:spPr>
          <a:xfrm>
            <a:off x="4738421" y="1812341"/>
            <a:ext cx="307238" cy="307238"/>
          </a:xfrm>
          <a:prstGeom prst="rect">
            <a:avLst/>
          </a:prstGeom>
        </p:spPr>
      </p:pic>
      <p:sp>
        <p:nvSpPr>
          <p:cNvPr id="11" name="Text 7"/>
          <p:cNvSpPr txBox="1"/>
          <p:nvPr/>
        </p:nvSpPr>
        <p:spPr>
          <a:xfrm>
            <a:off x="5394960" y="1645920"/>
            <a:ext cx="2286000" cy="365760"/>
          </a:xfrm>
          <a:prstGeom prst="rect">
            <a:avLst/>
          </a:prstGeom>
          <a:noFill/>
          <a:ln/>
        </p:spPr>
        <p:txBody>
          <a:bodyPr wrap="square" lIns="0" tIns="0" rIns="0" bIns="0" rtlCol="0" anchor="t"/>
          <a:lstStyle/>
          <a:p>
            <a:pPr indent="0" marL="0">
              <a:buNone/>
            </a:pPr>
            <a:r>
              <a:rPr lang="en-US" sz="1800" b="1" dirty="0">
                <a:solidFill>
                  <a:schemeClr val="tx2"/>
                </a:solidFill>
              </a:rPr>
              <a:t>Point of sale</a:t>
            </a:r>
            <a:endParaRPr lang="en-US" sz="1800" dirty="0"/>
          </a:p>
        </p:txBody>
      </p:sp>
      <p:sp>
        <p:nvSpPr>
          <p:cNvPr id="12" name="Text 8"/>
          <p:cNvSpPr txBox="1"/>
          <p:nvPr/>
        </p:nvSpPr>
        <p:spPr>
          <a:xfrm>
            <a:off x="5394960" y="2057400"/>
            <a:ext cx="2286000" cy="822960"/>
          </a:xfrm>
          <a:prstGeom prst="rect">
            <a:avLst/>
          </a:prstGeom>
          <a:noFill/>
          <a:ln/>
        </p:spPr>
        <p:txBody>
          <a:bodyPr wrap="square" lIns="0" tIns="0" rIns="0" bIns="0" rtlCol="0" anchor="t"/>
          <a:lstStyle/>
          <a:p>
            <a:pPr indent="0" marL="0">
              <a:buNone/>
            </a:pPr>
            <a:r>
              <a:rPr lang="en-US" sz="1400" dirty="0">
                <a:solidFill>
                  <a:schemeClr val="tx1"/>
                </a:solidFill>
              </a:rPr>
              <a:t>Select products, calculate bills, record payments.</a:t>
            </a:r>
            <a:endParaRPr lang="en-US" sz="1400" dirty="0"/>
          </a:p>
        </p:txBody>
      </p:sp>
      <p:sp>
        <p:nvSpPr>
          <p:cNvPr id="13" name="Card"/>
          <p:cNvSpPr/>
          <p:nvPr/>
        </p:nvSpPr>
        <p:spPr>
          <a:xfrm>
            <a:off x="8046720" y="1371600"/>
            <a:ext cx="3566160" cy="1600200"/>
          </a:xfrm>
          <a:prstGeom prst="roundRect">
            <a:avLst>
              <a:gd name="adj" fmla="val 6857"/>
            </a:avLst>
          </a:prstGeom>
          <a:solidFill>
            <a:schemeClr val="bg2"/>
          </a:solidFill>
          <a:ln w="6350">
            <a:solidFill>
              <a:schemeClr val="bg2"/>
            </a:solidFill>
            <a:prstDash val="solid"/>
          </a:ln>
        </p:spPr>
      </p:sp>
      <p:sp>
        <p:nvSpPr>
          <p:cNvPr id="14" name="Icon circle"/>
          <p:cNvSpPr/>
          <p:nvPr/>
        </p:nvSpPr>
        <p:spPr>
          <a:xfrm>
            <a:off x="8321040" y="1645920"/>
            <a:ext cx="640080" cy="640080"/>
          </a:xfrm>
          <a:prstGeom prst="ellipse">
            <a:avLst/>
          </a:prstGeom>
          <a:solidFill>
            <a:schemeClr val="accent1"/>
          </a:solidFill>
          <a:ln w="6350">
            <a:solidFill>
              <a:schemeClr val="accent1"/>
            </a:solidFill>
            <a:prstDash val="solid"/>
          </a:ln>
        </p:spPr>
      </p:sp>
      <p:pic>
        <p:nvPicPr>
          <p:cNvPr id="15" name="Icon" descr="icon">    </p:cNvPr>
          <p:cNvPicPr>
            <a:picLocks noChangeAspect="1"/>
          </p:cNvPicPr>
          <p:nvPr/>
        </p:nvPicPr>
        <p:blipFill>
          <a:blip r:embed="rId3"/>
          <a:stretch>
            <a:fillRect/>
          </a:stretch>
        </p:blipFill>
        <p:spPr>
          <a:xfrm>
            <a:off x="8487461" y="1812341"/>
            <a:ext cx="307238" cy="307238"/>
          </a:xfrm>
          <a:prstGeom prst="rect">
            <a:avLst/>
          </a:prstGeom>
        </p:spPr>
      </p:pic>
      <p:sp>
        <p:nvSpPr>
          <p:cNvPr id="16" name="Text 11"/>
          <p:cNvSpPr txBox="1"/>
          <p:nvPr/>
        </p:nvSpPr>
        <p:spPr>
          <a:xfrm>
            <a:off x="9144000" y="1645920"/>
            <a:ext cx="2286000" cy="365760"/>
          </a:xfrm>
          <a:prstGeom prst="rect">
            <a:avLst/>
          </a:prstGeom>
          <a:noFill/>
          <a:ln/>
        </p:spPr>
        <p:txBody>
          <a:bodyPr wrap="square" lIns="0" tIns="0" rIns="0" bIns="0" rtlCol="0" anchor="t"/>
          <a:lstStyle/>
          <a:p>
            <a:pPr indent="0" marL="0">
              <a:buNone/>
            </a:pPr>
            <a:r>
              <a:rPr lang="en-US" sz="1800" b="1" dirty="0">
                <a:solidFill>
                  <a:schemeClr val="tx2"/>
                </a:solidFill>
              </a:rPr>
              <a:t>Purchasing</a:t>
            </a:r>
            <a:endParaRPr lang="en-US" sz="1800" dirty="0"/>
          </a:p>
        </p:txBody>
      </p:sp>
      <p:sp>
        <p:nvSpPr>
          <p:cNvPr id="17" name="Text 12"/>
          <p:cNvSpPr txBox="1"/>
          <p:nvPr/>
        </p:nvSpPr>
        <p:spPr>
          <a:xfrm>
            <a:off x="9144000" y="2057400"/>
            <a:ext cx="2286000" cy="822960"/>
          </a:xfrm>
          <a:prstGeom prst="rect">
            <a:avLst/>
          </a:prstGeom>
          <a:noFill/>
          <a:ln/>
        </p:spPr>
        <p:txBody>
          <a:bodyPr wrap="square" lIns="0" tIns="0" rIns="0" bIns="0" rtlCol="0" anchor="t"/>
          <a:lstStyle/>
          <a:p>
            <a:pPr indent="0" marL="0">
              <a:buNone/>
            </a:pPr>
            <a:r>
              <a:rPr lang="en-US" sz="1400" dirty="0">
                <a:solidFill>
                  <a:schemeClr val="tx1"/>
                </a:solidFill>
              </a:rPr>
              <a:t>Record supplier purchases; stock rises on receipt.</a:t>
            </a:r>
            <a:endParaRPr lang="en-US" sz="1400" dirty="0"/>
          </a:p>
        </p:txBody>
      </p:sp>
      <p:sp>
        <p:nvSpPr>
          <p:cNvPr id="18" name="Card"/>
          <p:cNvSpPr/>
          <p:nvPr/>
        </p:nvSpPr>
        <p:spPr>
          <a:xfrm>
            <a:off x="548640" y="3154680"/>
            <a:ext cx="3566160" cy="1600200"/>
          </a:xfrm>
          <a:prstGeom prst="roundRect">
            <a:avLst>
              <a:gd name="adj" fmla="val 6857"/>
            </a:avLst>
          </a:prstGeom>
          <a:solidFill>
            <a:schemeClr val="bg2"/>
          </a:solidFill>
          <a:ln w="6350">
            <a:solidFill>
              <a:schemeClr val="bg2"/>
            </a:solidFill>
            <a:prstDash val="solid"/>
          </a:ln>
        </p:spPr>
      </p:sp>
      <p:sp>
        <p:nvSpPr>
          <p:cNvPr id="19" name="Icon circle"/>
          <p:cNvSpPr/>
          <p:nvPr/>
        </p:nvSpPr>
        <p:spPr>
          <a:xfrm>
            <a:off x="822960" y="3429000"/>
            <a:ext cx="640080" cy="640080"/>
          </a:xfrm>
          <a:prstGeom prst="ellipse">
            <a:avLst/>
          </a:prstGeom>
          <a:solidFill>
            <a:schemeClr val="accent1"/>
          </a:solidFill>
          <a:ln w="6350">
            <a:solidFill>
              <a:schemeClr val="accent1"/>
            </a:solidFill>
            <a:prstDash val="solid"/>
          </a:ln>
        </p:spPr>
      </p:sp>
      <p:pic>
        <p:nvPicPr>
          <p:cNvPr id="20" name="Icon" descr="icon">    </p:cNvPr>
          <p:cNvPicPr>
            <a:picLocks noChangeAspect="1"/>
          </p:cNvPicPr>
          <p:nvPr/>
        </p:nvPicPr>
        <p:blipFill>
          <a:blip r:embed="rId4"/>
          <a:stretch>
            <a:fillRect/>
          </a:stretch>
        </p:blipFill>
        <p:spPr>
          <a:xfrm>
            <a:off x="989381" y="3595421"/>
            <a:ext cx="307238" cy="307238"/>
          </a:xfrm>
          <a:prstGeom prst="rect">
            <a:avLst/>
          </a:prstGeom>
        </p:spPr>
      </p:pic>
      <p:sp>
        <p:nvSpPr>
          <p:cNvPr id="21" name="Text 15"/>
          <p:cNvSpPr txBox="1"/>
          <p:nvPr/>
        </p:nvSpPr>
        <p:spPr>
          <a:xfrm>
            <a:off x="1645920" y="3429000"/>
            <a:ext cx="2286000" cy="365760"/>
          </a:xfrm>
          <a:prstGeom prst="rect">
            <a:avLst/>
          </a:prstGeom>
          <a:noFill/>
          <a:ln/>
        </p:spPr>
        <p:txBody>
          <a:bodyPr wrap="square" lIns="0" tIns="0" rIns="0" bIns="0" rtlCol="0" anchor="t"/>
          <a:lstStyle/>
          <a:p>
            <a:pPr indent="0" marL="0">
              <a:buNone/>
            </a:pPr>
            <a:r>
              <a:rPr lang="en-US" sz="1800" b="1" dirty="0">
                <a:solidFill>
                  <a:schemeClr val="tx2"/>
                </a:solidFill>
              </a:rPr>
              <a:t>Role-based access</a:t>
            </a:r>
            <a:endParaRPr lang="en-US" sz="1800" dirty="0"/>
          </a:p>
        </p:txBody>
      </p:sp>
      <p:sp>
        <p:nvSpPr>
          <p:cNvPr id="22" name="Text 16"/>
          <p:cNvSpPr txBox="1"/>
          <p:nvPr/>
        </p:nvSpPr>
        <p:spPr>
          <a:xfrm>
            <a:off x="1645920" y="3840480"/>
            <a:ext cx="2286000" cy="822960"/>
          </a:xfrm>
          <a:prstGeom prst="rect">
            <a:avLst/>
          </a:prstGeom>
          <a:noFill/>
          <a:ln/>
        </p:spPr>
        <p:txBody>
          <a:bodyPr wrap="square" lIns="0" tIns="0" rIns="0" bIns="0" rtlCol="0" anchor="t"/>
          <a:lstStyle/>
          <a:p>
            <a:pPr indent="0" marL="0">
              <a:buNone/>
            </a:pPr>
            <a:r>
              <a:rPr lang="en-US" sz="1400" dirty="0">
                <a:solidFill>
                  <a:schemeClr val="tx1"/>
                </a:solidFill>
              </a:rPr>
              <a:t>Separate permissions for Admin, Cashier and Inventory Manager.</a:t>
            </a:r>
            <a:endParaRPr lang="en-US" sz="1400" dirty="0"/>
          </a:p>
        </p:txBody>
      </p:sp>
      <p:sp>
        <p:nvSpPr>
          <p:cNvPr id="23" name="Card"/>
          <p:cNvSpPr/>
          <p:nvPr/>
        </p:nvSpPr>
        <p:spPr>
          <a:xfrm>
            <a:off x="4297680" y="3154680"/>
            <a:ext cx="3566160" cy="1600200"/>
          </a:xfrm>
          <a:prstGeom prst="roundRect">
            <a:avLst>
              <a:gd name="adj" fmla="val 6857"/>
            </a:avLst>
          </a:prstGeom>
          <a:solidFill>
            <a:schemeClr val="bg2"/>
          </a:solidFill>
          <a:ln w="6350">
            <a:solidFill>
              <a:schemeClr val="bg2"/>
            </a:solidFill>
            <a:prstDash val="solid"/>
          </a:ln>
        </p:spPr>
      </p:sp>
      <p:sp>
        <p:nvSpPr>
          <p:cNvPr id="24" name="Icon circle"/>
          <p:cNvSpPr/>
          <p:nvPr/>
        </p:nvSpPr>
        <p:spPr>
          <a:xfrm>
            <a:off x="4572000" y="3429000"/>
            <a:ext cx="640080" cy="640080"/>
          </a:xfrm>
          <a:prstGeom prst="ellipse">
            <a:avLst/>
          </a:prstGeom>
          <a:solidFill>
            <a:schemeClr val="accent1"/>
          </a:solidFill>
          <a:ln w="6350">
            <a:solidFill>
              <a:schemeClr val="accent1"/>
            </a:solidFill>
            <a:prstDash val="solid"/>
          </a:ln>
        </p:spPr>
      </p:sp>
      <p:pic>
        <p:nvPicPr>
          <p:cNvPr id="25" name="Icon" descr="icon">    </p:cNvPr>
          <p:cNvPicPr>
            <a:picLocks noChangeAspect="1"/>
          </p:cNvPicPr>
          <p:nvPr/>
        </p:nvPicPr>
        <p:blipFill>
          <a:blip r:embed="rId5"/>
          <a:stretch>
            <a:fillRect/>
          </a:stretch>
        </p:blipFill>
        <p:spPr>
          <a:xfrm>
            <a:off x="4738421" y="3595421"/>
            <a:ext cx="307238" cy="307238"/>
          </a:xfrm>
          <a:prstGeom prst="rect">
            <a:avLst/>
          </a:prstGeom>
        </p:spPr>
      </p:pic>
      <p:sp>
        <p:nvSpPr>
          <p:cNvPr id="26" name="Text 19"/>
          <p:cNvSpPr txBox="1"/>
          <p:nvPr/>
        </p:nvSpPr>
        <p:spPr>
          <a:xfrm>
            <a:off x="5394960" y="3429000"/>
            <a:ext cx="2286000" cy="365760"/>
          </a:xfrm>
          <a:prstGeom prst="rect">
            <a:avLst/>
          </a:prstGeom>
          <a:noFill/>
          <a:ln/>
        </p:spPr>
        <p:txBody>
          <a:bodyPr wrap="square" lIns="0" tIns="0" rIns="0" bIns="0" rtlCol="0" anchor="t"/>
          <a:lstStyle/>
          <a:p>
            <a:pPr indent="0" marL="0">
              <a:buNone/>
            </a:pPr>
            <a:r>
              <a:rPr lang="en-US" sz="1800" b="1" dirty="0">
                <a:solidFill>
                  <a:schemeClr val="tx2"/>
                </a:solidFill>
              </a:rPr>
              <a:t>Reports</a:t>
            </a:r>
            <a:endParaRPr lang="en-US" sz="1800" dirty="0"/>
          </a:p>
        </p:txBody>
      </p:sp>
      <p:sp>
        <p:nvSpPr>
          <p:cNvPr id="27" name="Text 20"/>
          <p:cNvSpPr txBox="1"/>
          <p:nvPr/>
        </p:nvSpPr>
        <p:spPr>
          <a:xfrm>
            <a:off x="5394960" y="3840480"/>
            <a:ext cx="2286000" cy="822960"/>
          </a:xfrm>
          <a:prstGeom prst="rect">
            <a:avLst/>
          </a:prstGeom>
          <a:noFill/>
          <a:ln/>
        </p:spPr>
        <p:txBody>
          <a:bodyPr wrap="square" lIns="0" tIns="0" rIns="0" bIns="0" rtlCol="0" anchor="t"/>
          <a:lstStyle/>
          <a:p>
            <a:pPr indent="0" marL="0">
              <a:buNone/>
            </a:pPr>
            <a:r>
              <a:rPr lang="en-US" sz="1400" dirty="0">
                <a:solidFill>
                  <a:schemeClr val="tx1"/>
                </a:solidFill>
              </a:rPr>
              <a:t>Sales summaries, best-sellers and low-stock items.</a:t>
            </a:r>
            <a:endParaRPr lang="en-US" sz="1400" dirty="0"/>
          </a:p>
        </p:txBody>
      </p:sp>
      <p:sp>
        <p:nvSpPr>
          <p:cNvPr id="28" name="Card"/>
          <p:cNvSpPr/>
          <p:nvPr/>
        </p:nvSpPr>
        <p:spPr>
          <a:xfrm>
            <a:off x="8046720" y="3154680"/>
            <a:ext cx="3566160" cy="1600200"/>
          </a:xfrm>
          <a:prstGeom prst="roundRect">
            <a:avLst>
              <a:gd name="adj" fmla="val 6857"/>
            </a:avLst>
          </a:prstGeom>
          <a:solidFill>
            <a:schemeClr val="bg2"/>
          </a:solidFill>
          <a:ln w="6350">
            <a:solidFill>
              <a:schemeClr val="bg2"/>
            </a:solidFill>
            <a:prstDash val="solid"/>
          </a:ln>
        </p:spPr>
      </p:sp>
      <p:sp>
        <p:nvSpPr>
          <p:cNvPr id="29" name="Icon circle"/>
          <p:cNvSpPr/>
          <p:nvPr/>
        </p:nvSpPr>
        <p:spPr>
          <a:xfrm>
            <a:off x="8321040" y="3429000"/>
            <a:ext cx="640080" cy="640080"/>
          </a:xfrm>
          <a:prstGeom prst="ellipse">
            <a:avLst/>
          </a:prstGeom>
          <a:solidFill>
            <a:schemeClr val="accent1"/>
          </a:solidFill>
          <a:ln w="6350">
            <a:solidFill>
              <a:schemeClr val="accent1"/>
            </a:solidFill>
            <a:prstDash val="solid"/>
          </a:ln>
        </p:spPr>
      </p:sp>
      <p:pic>
        <p:nvPicPr>
          <p:cNvPr id="30" name="Icon" descr="icon">    </p:cNvPr>
          <p:cNvPicPr>
            <a:picLocks noChangeAspect="1"/>
          </p:cNvPicPr>
          <p:nvPr/>
        </p:nvPicPr>
        <p:blipFill>
          <a:blip r:embed="rId6"/>
          <a:stretch>
            <a:fillRect/>
          </a:stretch>
        </p:blipFill>
        <p:spPr>
          <a:xfrm>
            <a:off x="8487461" y="3595421"/>
            <a:ext cx="307238" cy="307238"/>
          </a:xfrm>
          <a:prstGeom prst="rect">
            <a:avLst/>
          </a:prstGeom>
        </p:spPr>
      </p:pic>
      <p:sp>
        <p:nvSpPr>
          <p:cNvPr id="31" name="Text 23"/>
          <p:cNvSpPr txBox="1"/>
          <p:nvPr/>
        </p:nvSpPr>
        <p:spPr>
          <a:xfrm>
            <a:off x="9144000" y="3429000"/>
            <a:ext cx="2286000" cy="365760"/>
          </a:xfrm>
          <a:prstGeom prst="rect">
            <a:avLst/>
          </a:prstGeom>
          <a:noFill/>
          <a:ln/>
        </p:spPr>
        <p:txBody>
          <a:bodyPr wrap="square" lIns="0" tIns="0" rIns="0" bIns="0" rtlCol="0" anchor="t"/>
          <a:lstStyle/>
          <a:p>
            <a:pPr indent="0" marL="0">
              <a:buNone/>
            </a:pPr>
            <a:r>
              <a:rPr lang="en-US" sz="1800" b="1" dirty="0">
                <a:solidFill>
                  <a:schemeClr val="tx2"/>
                </a:solidFill>
              </a:rPr>
              <a:t>Data integrity</a:t>
            </a:r>
            <a:endParaRPr lang="en-US" sz="1800" dirty="0"/>
          </a:p>
        </p:txBody>
      </p:sp>
      <p:sp>
        <p:nvSpPr>
          <p:cNvPr id="32" name="Text 24"/>
          <p:cNvSpPr txBox="1"/>
          <p:nvPr/>
        </p:nvSpPr>
        <p:spPr>
          <a:xfrm>
            <a:off x="9144000" y="3840480"/>
            <a:ext cx="2286000" cy="822960"/>
          </a:xfrm>
          <a:prstGeom prst="rect">
            <a:avLst/>
          </a:prstGeom>
          <a:noFill/>
          <a:ln/>
        </p:spPr>
        <p:txBody>
          <a:bodyPr wrap="square" lIns="0" tIns="0" rIns="0" bIns="0" rtlCol="0" anchor="t"/>
          <a:lstStyle/>
          <a:p>
            <a:pPr indent="0" marL="0">
              <a:buNone/>
            </a:pPr>
            <a:r>
              <a:rPr lang="en-US" sz="1400" dirty="0">
                <a:solidFill>
                  <a:schemeClr val="tx1"/>
                </a:solidFill>
              </a:rPr>
              <a:t>MySQL rules keep records correct and consistent.</a:t>
            </a:r>
            <a:endParaRPr lang="en-US" sz="1400" dirty="0"/>
          </a:p>
        </p:txBody>
      </p:sp>
      <p:sp>
        <p:nvSpPr>
          <p:cNvPr id="33" name="Text 25"/>
          <p:cNvSpPr txBox="1"/>
          <p:nvPr/>
        </p:nvSpPr>
        <p:spPr>
          <a:xfrm>
            <a:off x="548640" y="4983480"/>
            <a:ext cx="7315200" cy="274320"/>
          </a:xfrm>
          <a:prstGeom prst="rect">
            <a:avLst/>
          </a:prstGeom>
          <a:noFill/>
          <a:ln/>
        </p:spPr>
        <p:txBody>
          <a:bodyPr wrap="square" lIns="0" tIns="0" rIns="0" bIns="0" rtlCol="0" anchor="t"/>
          <a:lstStyle/>
          <a:p>
            <a:pPr indent="0" marL="0">
              <a:buNone/>
            </a:pPr>
            <a:r>
              <a:rPr lang="en-US" sz="1400" b="1" dirty="0">
                <a:solidFill>
                  <a:schemeClr val="accent1"/>
                </a:solidFill>
              </a:rPr>
              <a:t>AUTOMATIC STOCK TRACKING — EXAMPLE</a:t>
            </a:r>
            <a:endParaRPr lang="en-US" sz="1400" dirty="0"/>
          </a:p>
        </p:txBody>
      </p:sp>
      <p:sp>
        <p:nvSpPr>
          <p:cNvPr id="34" name="Chip"/>
          <p:cNvSpPr/>
          <p:nvPr/>
        </p:nvSpPr>
        <p:spPr>
          <a:xfrm>
            <a:off x="548640" y="5349240"/>
            <a:ext cx="2468880" cy="685800"/>
          </a:xfrm>
          <a:prstGeom prst="roundRect">
            <a:avLst>
              <a:gd name="adj" fmla="val 16000"/>
            </a:avLst>
          </a:prstGeom>
          <a:solidFill>
            <a:schemeClr val="tx2"/>
          </a:solidFill>
          <a:ln w="6350">
            <a:solidFill>
              <a:schemeClr val="tx2"/>
            </a:solidFill>
            <a:prstDash val="solid"/>
          </a:ln>
        </p:spPr>
      </p:sp>
      <p:sp>
        <p:nvSpPr>
          <p:cNvPr id="35" name="Text 27"/>
          <p:cNvSpPr txBox="1"/>
          <p:nvPr/>
        </p:nvSpPr>
        <p:spPr>
          <a:xfrm>
            <a:off x="640080" y="5349240"/>
            <a:ext cx="2286000" cy="685800"/>
          </a:xfrm>
          <a:prstGeom prst="rect">
            <a:avLst/>
          </a:prstGeom>
          <a:noFill/>
          <a:ln/>
        </p:spPr>
        <p:txBody>
          <a:bodyPr wrap="square" lIns="0" tIns="0" rIns="0" bIns="0" rtlCol="0" anchor="ctr"/>
          <a:lstStyle/>
          <a:p>
            <a:pPr algn="ctr" indent="0" marL="0">
              <a:buNone/>
            </a:pPr>
            <a:r>
              <a:rPr lang="en-US" sz="1400" b="1" dirty="0">
                <a:solidFill>
                  <a:schemeClr val="bg1"/>
                </a:solidFill>
              </a:rPr>
              <a:t>50 packets of biscuits</a:t>
            </a:r>
            <a:endParaRPr lang="en-US" sz="1400" dirty="0"/>
          </a:p>
        </p:txBody>
      </p:sp>
      <p:sp>
        <p:nvSpPr>
          <p:cNvPr id="36" name="Arrow"/>
          <p:cNvSpPr/>
          <p:nvPr/>
        </p:nvSpPr>
        <p:spPr>
          <a:xfrm>
            <a:off x="3086100" y="5559552"/>
            <a:ext cx="274320" cy="274320"/>
          </a:xfrm>
          <a:prstGeom prst="rightArrow">
            <a:avLst/>
          </a:prstGeom>
          <a:solidFill>
            <a:schemeClr val="accent2"/>
          </a:solidFill>
          <a:ln w="6350">
            <a:solidFill>
              <a:schemeClr val="accent2"/>
            </a:solidFill>
            <a:prstDash val="solid"/>
          </a:ln>
        </p:spPr>
      </p:sp>
      <p:sp>
        <p:nvSpPr>
          <p:cNvPr id="37" name="Chip"/>
          <p:cNvSpPr/>
          <p:nvPr/>
        </p:nvSpPr>
        <p:spPr>
          <a:xfrm>
            <a:off x="3429000" y="5349240"/>
            <a:ext cx="1737360" cy="685800"/>
          </a:xfrm>
          <a:prstGeom prst="roundRect">
            <a:avLst>
              <a:gd name="adj" fmla="val 16000"/>
            </a:avLst>
          </a:prstGeom>
          <a:solidFill>
            <a:schemeClr val="accent4"/>
          </a:solidFill>
          <a:ln w="6350">
            <a:solidFill>
              <a:schemeClr val="accent4"/>
            </a:solidFill>
            <a:prstDash val="solid"/>
          </a:ln>
        </p:spPr>
      </p:sp>
      <p:sp>
        <p:nvSpPr>
          <p:cNvPr id="38" name="Text 30"/>
          <p:cNvSpPr txBox="1"/>
          <p:nvPr/>
        </p:nvSpPr>
        <p:spPr>
          <a:xfrm>
            <a:off x="3520440" y="5349240"/>
            <a:ext cx="1554480" cy="685800"/>
          </a:xfrm>
          <a:prstGeom prst="rect">
            <a:avLst/>
          </a:prstGeom>
          <a:noFill/>
          <a:ln/>
        </p:spPr>
        <p:txBody>
          <a:bodyPr wrap="square" lIns="0" tIns="0" rIns="0" bIns="0" rtlCol="0" anchor="ctr"/>
          <a:lstStyle/>
          <a:p>
            <a:pPr algn="ctr" indent="0" marL="0">
              <a:buNone/>
            </a:pPr>
            <a:r>
              <a:rPr lang="en-US" sz="1400" b="1" dirty="0">
                <a:solidFill>
                  <a:schemeClr val="bg1"/>
                </a:solidFill>
              </a:rPr>
              <a:t>Sell 5</a:t>
            </a:r>
            <a:endParaRPr lang="en-US" sz="1400" dirty="0"/>
          </a:p>
        </p:txBody>
      </p:sp>
      <p:sp>
        <p:nvSpPr>
          <p:cNvPr id="39" name="Arrow"/>
          <p:cNvSpPr/>
          <p:nvPr/>
        </p:nvSpPr>
        <p:spPr>
          <a:xfrm>
            <a:off x="5234940" y="5559552"/>
            <a:ext cx="274320" cy="274320"/>
          </a:xfrm>
          <a:prstGeom prst="rightArrow">
            <a:avLst/>
          </a:prstGeom>
          <a:solidFill>
            <a:schemeClr val="accent2"/>
          </a:solidFill>
          <a:ln w="6350">
            <a:solidFill>
              <a:schemeClr val="accent2"/>
            </a:solidFill>
            <a:prstDash val="solid"/>
          </a:ln>
        </p:spPr>
      </p:sp>
      <p:sp>
        <p:nvSpPr>
          <p:cNvPr id="40" name="Chip"/>
          <p:cNvSpPr/>
          <p:nvPr/>
        </p:nvSpPr>
        <p:spPr>
          <a:xfrm>
            <a:off x="5577840" y="5349240"/>
            <a:ext cx="1737360" cy="685800"/>
          </a:xfrm>
          <a:prstGeom prst="roundRect">
            <a:avLst>
              <a:gd name="adj" fmla="val 16000"/>
            </a:avLst>
          </a:prstGeom>
          <a:solidFill>
            <a:schemeClr val="tx2"/>
          </a:solidFill>
          <a:ln w="6350">
            <a:solidFill>
              <a:schemeClr val="tx2"/>
            </a:solidFill>
            <a:prstDash val="solid"/>
          </a:ln>
        </p:spPr>
      </p:sp>
      <p:sp>
        <p:nvSpPr>
          <p:cNvPr id="41" name="Text 33"/>
          <p:cNvSpPr txBox="1"/>
          <p:nvPr/>
        </p:nvSpPr>
        <p:spPr>
          <a:xfrm>
            <a:off x="5669280" y="5349240"/>
            <a:ext cx="1554480" cy="685800"/>
          </a:xfrm>
          <a:prstGeom prst="rect">
            <a:avLst/>
          </a:prstGeom>
          <a:noFill/>
          <a:ln/>
        </p:spPr>
        <p:txBody>
          <a:bodyPr wrap="square" lIns="0" tIns="0" rIns="0" bIns="0" rtlCol="0" anchor="ctr"/>
          <a:lstStyle/>
          <a:p>
            <a:pPr algn="ctr" indent="0" marL="0">
              <a:buNone/>
            </a:pPr>
            <a:r>
              <a:rPr lang="en-US" sz="1400" b="1" dirty="0">
                <a:solidFill>
                  <a:schemeClr val="bg1"/>
                </a:solidFill>
              </a:rPr>
              <a:t>45 left</a:t>
            </a:r>
            <a:endParaRPr lang="en-US" sz="1400" dirty="0"/>
          </a:p>
        </p:txBody>
      </p:sp>
      <p:sp>
        <p:nvSpPr>
          <p:cNvPr id="42" name="Arrow"/>
          <p:cNvSpPr/>
          <p:nvPr/>
        </p:nvSpPr>
        <p:spPr>
          <a:xfrm>
            <a:off x="7383780" y="5559552"/>
            <a:ext cx="274320" cy="274320"/>
          </a:xfrm>
          <a:prstGeom prst="rightArrow">
            <a:avLst/>
          </a:prstGeom>
          <a:solidFill>
            <a:schemeClr val="accent2"/>
          </a:solidFill>
          <a:ln w="6350">
            <a:solidFill>
              <a:schemeClr val="accent2"/>
            </a:solidFill>
            <a:prstDash val="solid"/>
          </a:ln>
        </p:spPr>
      </p:sp>
      <p:sp>
        <p:nvSpPr>
          <p:cNvPr id="43" name="Chip"/>
          <p:cNvSpPr/>
          <p:nvPr/>
        </p:nvSpPr>
        <p:spPr>
          <a:xfrm>
            <a:off x="7726680" y="5349240"/>
            <a:ext cx="1737360" cy="685800"/>
          </a:xfrm>
          <a:prstGeom prst="roundRect">
            <a:avLst>
              <a:gd name="adj" fmla="val 16000"/>
            </a:avLst>
          </a:prstGeom>
          <a:solidFill>
            <a:schemeClr val="accent3"/>
          </a:solidFill>
          <a:ln w="6350">
            <a:solidFill>
              <a:schemeClr val="accent3"/>
            </a:solidFill>
            <a:prstDash val="solid"/>
          </a:ln>
        </p:spPr>
      </p:sp>
      <p:sp>
        <p:nvSpPr>
          <p:cNvPr id="44" name="Text 36"/>
          <p:cNvSpPr txBox="1"/>
          <p:nvPr/>
        </p:nvSpPr>
        <p:spPr>
          <a:xfrm>
            <a:off x="7818120" y="5349240"/>
            <a:ext cx="1554480" cy="685800"/>
          </a:xfrm>
          <a:prstGeom prst="rect">
            <a:avLst/>
          </a:prstGeom>
          <a:noFill/>
          <a:ln/>
        </p:spPr>
        <p:txBody>
          <a:bodyPr wrap="square" lIns="0" tIns="0" rIns="0" bIns="0" rtlCol="0" anchor="ctr"/>
          <a:lstStyle/>
          <a:p>
            <a:pPr algn="ctr" indent="0" marL="0">
              <a:buNone/>
            </a:pPr>
            <a:r>
              <a:rPr lang="en-US" sz="1400" b="1" dirty="0">
                <a:solidFill>
                  <a:schemeClr val="bg1"/>
                </a:solidFill>
              </a:rPr>
              <a:t>Receive 20</a:t>
            </a:r>
            <a:endParaRPr lang="en-US" sz="1400" dirty="0"/>
          </a:p>
        </p:txBody>
      </p:sp>
      <p:sp>
        <p:nvSpPr>
          <p:cNvPr id="45" name="Arrow"/>
          <p:cNvSpPr/>
          <p:nvPr/>
        </p:nvSpPr>
        <p:spPr>
          <a:xfrm>
            <a:off x="9532620" y="5559552"/>
            <a:ext cx="274320" cy="274320"/>
          </a:xfrm>
          <a:prstGeom prst="rightArrow">
            <a:avLst/>
          </a:prstGeom>
          <a:solidFill>
            <a:schemeClr val="accent2"/>
          </a:solidFill>
          <a:ln w="6350">
            <a:solidFill>
              <a:schemeClr val="accent2"/>
            </a:solidFill>
            <a:prstDash val="solid"/>
          </a:ln>
        </p:spPr>
      </p:sp>
      <p:sp>
        <p:nvSpPr>
          <p:cNvPr id="46" name="Chip"/>
          <p:cNvSpPr/>
          <p:nvPr/>
        </p:nvSpPr>
        <p:spPr>
          <a:xfrm>
            <a:off x="9875520" y="5349240"/>
            <a:ext cx="1737360" cy="685800"/>
          </a:xfrm>
          <a:prstGeom prst="roundRect">
            <a:avLst>
              <a:gd name="adj" fmla="val 16000"/>
            </a:avLst>
          </a:prstGeom>
          <a:solidFill>
            <a:schemeClr val="tx2"/>
          </a:solidFill>
          <a:ln w="6350">
            <a:solidFill>
              <a:schemeClr val="tx2"/>
            </a:solidFill>
            <a:prstDash val="solid"/>
          </a:ln>
        </p:spPr>
      </p:sp>
      <p:sp>
        <p:nvSpPr>
          <p:cNvPr id="47" name="Text 39"/>
          <p:cNvSpPr txBox="1"/>
          <p:nvPr/>
        </p:nvSpPr>
        <p:spPr>
          <a:xfrm>
            <a:off x="9966960" y="5349240"/>
            <a:ext cx="1554480" cy="685800"/>
          </a:xfrm>
          <a:prstGeom prst="rect">
            <a:avLst/>
          </a:prstGeom>
          <a:noFill/>
          <a:ln/>
        </p:spPr>
        <p:txBody>
          <a:bodyPr wrap="square" lIns="0" tIns="0" rIns="0" bIns="0" rtlCol="0" anchor="ctr"/>
          <a:lstStyle/>
          <a:p>
            <a:pPr algn="ctr" indent="0" marL="0">
              <a:buNone/>
            </a:pPr>
            <a:r>
              <a:rPr lang="en-US" sz="1400" b="1" dirty="0">
                <a:solidFill>
                  <a:schemeClr val="bg1"/>
                </a:solidFill>
              </a:rPr>
              <a:t>65 in stock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User Roles and Responsibilities</a:t>
            </a:r>
            <a:endParaRPr lang="en-US" sz="3600" dirty="0"/>
          </a:p>
        </p:txBody>
      </p:sp>
      <p:sp>
        <p:nvSpPr>
          <p:cNvPr id="3" name="Card"/>
          <p:cNvSpPr/>
          <p:nvPr/>
        </p:nvSpPr>
        <p:spPr>
          <a:xfrm>
            <a:off x="548640" y="1371600"/>
            <a:ext cx="3566160" cy="3931920"/>
          </a:xfrm>
          <a:prstGeom prst="roundRect">
            <a:avLst>
              <a:gd name="adj" fmla="val 3077"/>
            </a:avLst>
          </a:prstGeom>
          <a:solidFill>
            <a:schemeClr val="bg2"/>
          </a:solidFill>
          <a:ln w="6350">
            <a:solidFill>
              <a:schemeClr val="bg2"/>
            </a:solidFill>
            <a:prstDash val="solid"/>
          </a:ln>
        </p:spPr>
      </p:sp>
      <p:sp>
        <p:nvSpPr>
          <p:cNvPr id="4" name="Icon circle"/>
          <p:cNvSpPr/>
          <p:nvPr/>
        </p:nvSpPr>
        <p:spPr>
          <a:xfrm>
            <a:off x="868680" y="1645920"/>
            <a:ext cx="822960" cy="82296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1082650" y="1859890"/>
            <a:ext cx="395021" cy="395021"/>
          </a:xfrm>
          <a:prstGeom prst="rect">
            <a:avLst/>
          </a:prstGeom>
        </p:spPr>
      </p:pic>
      <p:sp>
        <p:nvSpPr>
          <p:cNvPr id="6" name="Text 3"/>
          <p:cNvSpPr txBox="1"/>
          <p:nvPr/>
        </p:nvSpPr>
        <p:spPr>
          <a:xfrm>
            <a:off x="868680" y="2697480"/>
            <a:ext cx="3017520" cy="411480"/>
          </a:xfrm>
          <a:prstGeom prst="rect">
            <a:avLst/>
          </a:prstGeom>
          <a:noFill/>
          <a:ln/>
        </p:spPr>
        <p:txBody>
          <a:bodyPr wrap="square" lIns="0" tIns="0" rIns="0" bIns="0" rtlCol="0" anchor="t"/>
          <a:lstStyle/>
          <a:p>
            <a:pPr indent="0" marL="0">
              <a:buNone/>
            </a:pPr>
            <a:r>
              <a:rPr lang="en-US" sz="2000" b="1" dirty="0">
                <a:solidFill>
                  <a:schemeClr val="tx2"/>
                </a:solidFill>
              </a:rPr>
              <a:t>Admin / Store Owner</a:t>
            </a:r>
            <a:endParaRPr lang="en-US" sz="2000" dirty="0"/>
          </a:p>
        </p:txBody>
      </p:sp>
      <p:sp>
        <p:nvSpPr>
          <p:cNvPr id="7" name="Text 4"/>
          <p:cNvSpPr txBox="1"/>
          <p:nvPr/>
        </p:nvSpPr>
        <p:spPr>
          <a:xfrm>
            <a:off x="868680" y="3154680"/>
            <a:ext cx="3017520" cy="822960"/>
          </a:xfrm>
          <a:prstGeom prst="rect">
            <a:avLst/>
          </a:prstGeom>
          <a:noFill/>
          <a:ln/>
        </p:spPr>
        <p:txBody>
          <a:bodyPr wrap="square" lIns="0" tIns="0" rIns="0" bIns="0" rtlCol="0" anchor="t"/>
          <a:lstStyle/>
          <a:p>
            <a:pPr indent="0" marL="0">
              <a:buNone/>
            </a:pPr>
            <a:r>
              <a:rPr lang="en-US" sz="1400" dirty="0">
                <a:solidFill>
                  <a:schemeClr val="tx1"/>
                </a:solidFill>
              </a:rPr>
              <a:t>Manages user accounts, products, suppliers, purchase records and reports.</a:t>
            </a:r>
            <a:endParaRPr lang="en-US" sz="1400" dirty="0"/>
          </a:p>
        </p:txBody>
      </p:sp>
      <p:sp>
        <p:nvSpPr>
          <p:cNvPr id="8" name="Text 5"/>
          <p:cNvSpPr txBox="1"/>
          <p:nvPr/>
        </p:nvSpPr>
        <p:spPr>
          <a:xfrm>
            <a:off x="868680" y="4023360"/>
            <a:ext cx="3017520" cy="274320"/>
          </a:xfrm>
          <a:prstGeom prst="rect">
            <a:avLst/>
          </a:prstGeom>
          <a:noFill/>
          <a:ln/>
        </p:spPr>
        <p:txBody>
          <a:bodyPr wrap="square" lIns="0" tIns="0" rIns="0" bIns="0" rtlCol="0" anchor="t"/>
          <a:lstStyle/>
          <a:p>
            <a:pPr indent="0" marL="0">
              <a:buNone/>
            </a:pPr>
            <a:r>
              <a:rPr lang="en-US" sz="1200" b="1" dirty="0">
                <a:solidFill>
                  <a:schemeClr val="accent1"/>
                </a:solidFill>
              </a:rPr>
              <a:t>EXAMPLE</a:t>
            </a:r>
            <a:endParaRPr lang="en-US" sz="1200" dirty="0"/>
          </a:p>
        </p:txBody>
      </p:sp>
      <p:sp>
        <p:nvSpPr>
          <p:cNvPr id="9" name="Text 6"/>
          <p:cNvSpPr txBox="1"/>
          <p:nvPr/>
        </p:nvSpPr>
        <p:spPr>
          <a:xfrm>
            <a:off x="868680" y="4297680"/>
            <a:ext cx="3017520" cy="868680"/>
          </a:xfrm>
          <a:prstGeom prst="rect">
            <a:avLst/>
          </a:prstGeom>
          <a:noFill/>
          <a:ln/>
        </p:spPr>
        <p:txBody>
          <a:bodyPr wrap="square" lIns="0" tIns="0" rIns="0" bIns="0" rtlCol="0" anchor="t"/>
          <a:lstStyle/>
          <a:p>
            <a:pPr indent="0" marL="0">
              <a:buNone/>
            </a:pPr>
            <a:r>
              <a:rPr lang="en-US" sz="1400" i="1" dirty="0">
                <a:solidFill>
                  <a:schemeClr val="tx1"/>
                </a:solidFill>
              </a:rPr>
              <a:t>The owner checks monthly revenue and creates an account for a new cashier.</a:t>
            </a:r>
            <a:endParaRPr lang="en-US" sz="1400" dirty="0"/>
          </a:p>
        </p:txBody>
      </p:sp>
      <p:sp>
        <p:nvSpPr>
          <p:cNvPr id="10" name="Card"/>
          <p:cNvSpPr/>
          <p:nvPr/>
        </p:nvSpPr>
        <p:spPr>
          <a:xfrm>
            <a:off x="4297680" y="1371600"/>
            <a:ext cx="3566160" cy="3931920"/>
          </a:xfrm>
          <a:prstGeom prst="roundRect">
            <a:avLst>
              <a:gd name="adj" fmla="val 3077"/>
            </a:avLst>
          </a:prstGeom>
          <a:solidFill>
            <a:schemeClr val="bg2"/>
          </a:solidFill>
          <a:ln w="6350">
            <a:solidFill>
              <a:schemeClr val="bg2"/>
            </a:solidFill>
            <a:prstDash val="solid"/>
          </a:ln>
        </p:spPr>
      </p:sp>
      <p:sp>
        <p:nvSpPr>
          <p:cNvPr id="11" name="Icon circle"/>
          <p:cNvSpPr/>
          <p:nvPr/>
        </p:nvSpPr>
        <p:spPr>
          <a:xfrm>
            <a:off x="4617720" y="1645920"/>
            <a:ext cx="822960" cy="822960"/>
          </a:xfrm>
          <a:prstGeom prst="ellipse">
            <a:avLst/>
          </a:prstGeom>
          <a:solidFill>
            <a:schemeClr val="accent5"/>
          </a:solidFill>
          <a:ln w="6350">
            <a:solidFill>
              <a:schemeClr val="accent5"/>
            </a:solidFill>
            <a:prstDash val="solid"/>
          </a:ln>
        </p:spPr>
      </p:sp>
      <p:pic>
        <p:nvPicPr>
          <p:cNvPr id="12" name="Icon" descr="icon">    </p:cNvPr>
          <p:cNvPicPr>
            <a:picLocks noChangeAspect="1"/>
          </p:cNvPicPr>
          <p:nvPr/>
        </p:nvPicPr>
        <p:blipFill>
          <a:blip r:embed="rId2"/>
          <a:stretch>
            <a:fillRect/>
          </a:stretch>
        </p:blipFill>
        <p:spPr>
          <a:xfrm>
            <a:off x="4831690" y="1859890"/>
            <a:ext cx="395021" cy="395021"/>
          </a:xfrm>
          <a:prstGeom prst="rect">
            <a:avLst/>
          </a:prstGeom>
        </p:spPr>
      </p:pic>
      <p:sp>
        <p:nvSpPr>
          <p:cNvPr id="13" name="Text 9"/>
          <p:cNvSpPr txBox="1"/>
          <p:nvPr/>
        </p:nvSpPr>
        <p:spPr>
          <a:xfrm>
            <a:off x="4617720" y="2697480"/>
            <a:ext cx="3017520" cy="411480"/>
          </a:xfrm>
          <a:prstGeom prst="rect">
            <a:avLst/>
          </a:prstGeom>
          <a:noFill/>
          <a:ln/>
        </p:spPr>
        <p:txBody>
          <a:bodyPr wrap="square" lIns="0" tIns="0" rIns="0" bIns="0" rtlCol="0" anchor="t"/>
          <a:lstStyle/>
          <a:p>
            <a:pPr indent="0" marL="0">
              <a:buNone/>
            </a:pPr>
            <a:r>
              <a:rPr lang="en-US" sz="2000" b="1" dirty="0">
                <a:solidFill>
                  <a:schemeClr val="tx2"/>
                </a:solidFill>
              </a:rPr>
              <a:t>Cashier / Sales Staff</a:t>
            </a:r>
            <a:endParaRPr lang="en-US" sz="2000" dirty="0"/>
          </a:p>
        </p:txBody>
      </p:sp>
      <p:sp>
        <p:nvSpPr>
          <p:cNvPr id="14" name="Text 10"/>
          <p:cNvSpPr txBox="1"/>
          <p:nvPr/>
        </p:nvSpPr>
        <p:spPr>
          <a:xfrm>
            <a:off x="4617720" y="3154680"/>
            <a:ext cx="3017520" cy="822960"/>
          </a:xfrm>
          <a:prstGeom prst="rect">
            <a:avLst/>
          </a:prstGeom>
          <a:noFill/>
          <a:ln/>
        </p:spPr>
        <p:txBody>
          <a:bodyPr wrap="square" lIns="0" tIns="0" rIns="0" bIns="0" rtlCol="0" anchor="t"/>
          <a:lstStyle/>
          <a:p>
            <a:pPr indent="0" marL="0">
              <a:buNone/>
            </a:pPr>
            <a:r>
              <a:rPr lang="en-US" sz="1400" dirty="0">
                <a:solidFill>
                  <a:schemeClr val="tx1"/>
                </a:solidFill>
              </a:rPr>
              <a:t>Handles customer purchases, selects products, processes payments and generates receipts.</a:t>
            </a:r>
            <a:endParaRPr lang="en-US" sz="1400" dirty="0"/>
          </a:p>
        </p:txBody>
      </p:sp>
      <p:sp>
        <p:nvSpPr>
          <p:cNvPr id="15" name="Text 11"/>
          <p:cNvSpPr txBox="1"/>
          <p:nvPr/>
        </p:nvSpPr>
        <p:spPr>
          <a:xfrm>
            <a:off x="4617720" y="4023360"/>
            <a:ext cx="3017520" cy="274320"/>
          </a:xfrm>
          <a:prstGeom prst="rect">
            <a:avLst/>
          </a:prstGeom>
          <a:noFill/>
          <a:ln/>
        </p:spPr>
        <p:txBody>
          <a:bodyPr wrap="square" lIns="0" tIns="0" rIns="0" bIns="0" rtlCol="0" anchor="t"/>
          <a:lstStyle/>
          <a:p>
            <a:pPr indent="0" marL="0">
              <a:buNone/>
            </a:pPr>
            <a:r>
              <a:rPr lang="en-US" sz="1200" b="1" dirty="0">
                <a:solidFill>
                  <a:schemeClr val="accent1"/>
                </a:solidFill>
              </a:rPr>
              <a:t>EXAMPLE</a:t>
            </a:r>
            <a:endParaRPr lang="en-US" sz="1200" dirty="0"/>
          </a:p>
        </p:txBody>
      </p:sp>
      <p:sp>
        <p:nvSpPr>
          <p:cNvPr id="16" name="Text 12"/>
          <p:cNvSpPr txBox="1"/>
          <p:nvPr/>
        </p:nvSpPr>
        <p:spPr>
          <a:xfrm>
            <a:off x="4617720" y="4297680"/>
            <a:ext cx="3017520" cy="868680"/>
          </a:xfrm>
          <a:prstGeom prst="rect">
            <a:avLst/>
          </a:prstGeom>
          <a:noFill/>
          <a:ln/>
        </p:spPr>
        <p:txBody>
          <a:bodyPr wrap="square" lIns="0" tIns="0" rIns="0" bIns="0" rtlCol="0" anchor="t"/>
          <a:lstStyle/>
          <a:p>
            <a:pPr indent="0" marL="0">
              <a:buNone/>
            </a:pPr>
            <a:r>
              <a:rPr lang="en-US" sz="1400" i="1" dirty="0">
                <a:solidFill>
                  <a:schemeClr val="tx1"/>
                </a:solidFill>
              </a:rPr>
              <a:t>A customer buys three products; the cashier adds them to the cart and completes the sale.</a:t>
            </a:r>
            <a:endParaRPr lang="en-US" sz="1400" dirty="0"/>
          </a:p>
        </p:txBody>
      </p:sp>
      <p:sp>
        <p:nvSpPr>
          <p:cNvPr id="17" name="Card"/>
          <p:cNvSpPr/>
          <p:nvPr/>
        </p:nvSpPr>
        <p:spPr>
          <a:xfrm>
            <a:off x="8046720" y="1371600"/>
            <a:ext cx="3566160" cy="3931920"/>
          </a:xfrm>
          <a:prstGeom prst="roundRect">
            <a:avLst>
              <a:gd name="adj" fmla="val 3077"/>
            </a:avLst>
          </a:prstGeom>
          <a:solidFill>
            <a:schemeClr val="bg2"/>
          </a:solidFill>
          <a:ln w="6350">
            <a:solidFill>
              <a:schemeClr val="bg2"/>
            </a:solidFill>
            <a:prstDash val="solid"/>
          </a:ln>
        </p:spPr>
      </p:sp>
      <p:sp>
        <p:nvSpPr>
          <p:cNvPr id="18" name="Icon circle"/>
          <p:cNvSpPr/>
          <p:nvPr/>
        </p:nvSpPr>
        <p:spPr>
          <a:xfrm>
            <a:off x="8366760" y="1645920"/>
            <a:ext cx="822960" cy="822960"/>
          </a:xfrm>
          <a:prstGeom prst="ellipse">
            <a:avLst/>
          </a:prstGeom>
          <a:solidFill>
            <a:schemeClr val="accent3"/>
          </a:solidFill>
          <a:ln w="6350">
            <a:solidFill>
              <a:schemeClr val="accent3"/>
            </a:solidFill>
            <a:prstDash val="solid"/>
          </a:ln>
        </p:spPr>
      </p:sp>
      <p:pic>
        <p:nvPicPr>
          <p:cNvPr id="19" name="Icon" descr="icon">    </p:cNvPr>
          <p:cNvPicPr>
            <a:picLocks noChangeAspect="1"/>
          </p:cNvPicPr>
          <p:nvPr/>
        </p:nvPicPr>
        <p:blipFill>
          <a:blip r:embed="rId3"/>
          <a:stretch>
            <a:fillRect/>
          </a:stretch>
        </p:blipFill>
        <p:spPr>
          <a:xfrm>
            <a:off x="8580730" y="1859890"/>
            <a:ext cx="395021" cy="395021"/>
          </a:xfrm>
          <a:prstGeom prst="rect">
            <a:avLst/>
          </a:prstGeom>
        </p:spPr>
      </p:pic>
      <p:sp>
        <p:nvSpPr>
          <p:cNvPr id="20" name="Text 15"/>
          <p:cNvSpPr txBox="1"/>
          <p:nvPr/>
        </p:nvSpPr>
        <p:spPr>
          <a:xfrm>
            <a:off x="8366760" y="2697480"/>
            <a:ext cx="3017520" cy="411480"/>
          </a:xfrm>
          <a:prstGeom prst="rect">
            <a:avLst/>
          </a:prstGeom>
          <a:noFill/>
          <a:ln/>
        </p:spPr>
        <p:txBody>
          <a:bodyPr wrap="square" lIns="0" tIns="0" rIns="0" bIns="0" rtlCol="0" anchor="t"/>
          <a:lstStyle/>
          <a:p>
            <a:pPr indent="0" marL="0">
              <a:buNone/>
            </a:pPr>
            <a:r>
              <a:rPr lang="en-US" sz="2000" b="1" dirty="0">
                <a:solidFill>
                  <a:schemeClr val="tx2"/>
                </a:solidFill>
              </a:rPr>
              <a:t>Inventory Manager</a:t>
            </a:r>
            <a:endParaRPr lang="en-US" sz="2000" dirty="0"/>
          </a:p>
        </p:txBody>
      </p:sp>
      <p:sp>
        <p:nvSpPr>
          <p:cNvPr id="21" name="Text 16"/>
          <p:cNvSpPr txBox="1"/>
          <p:nvPr/>
        </p:nvSpPr>
        <p:spPr>
          <a:xfrm>
            <a:off x="8366760" y="3154680"/>
            <a:ext cx="3017520" cy="822960"/>
          </a:xfrm>
          <a:prstGeom prst="rect">
            <a:avLst/>
          </a:prstGeom>
          <a:noFill/>
          <a:ln/>
        </p:spPr>
        <p:txBody>
          <a:bodyPr wrap="square" lIns="0" tIns="0" rIns="0" bIns="0" rtlCol="0" anchor="t"/>
          <a:lstStyle/>
          <a:p>
            <a:pPr indent="0" marL="0">
              <a:buNone/>
            </a:pPr>
            <a:r>
              <a:rPr lang="en-US" sz="1400" dirty="0">
                <a:solidFill>
                  <a:schemeClr val="tx1"/>
                </a:solidFill>
              </a:rPr>
              <a:t>Monitors stock, records received goods, manages adjustments and flags restocking.</a:t>
            </a:r>
            <a:endParaRPr lang="en-US" sz="1400" dirty="0"/>
          </a:p>
        </p:txBody>
      </p:sp>
      <p:sp>
        <p:nvSpPr>
          <p:cNvPr id="22" name="Text 17"/>
          <p:cNvSpPr txBox="1"/>
          <p:nvPr/>
        </p:nvSpPr>
        <p:spPr>
          <a:xfrm>
            <a:off x="8366760" y="4023360"/>
            <a:ext cx="3017520" cy="274320"/>
          </a:xfrm>
          <a:prstGeom prst="rect">
            <a:avLst/>
          </a:prstGeom>
          <a:noFill/>
          <a:ln/>
        </p:spPr>
        <p:txBody>
          <a:bodyPr wrap="square" lIns="0" tIns="0" rIns="0" bIns="0" rtlCol="0" anchor="t"/>
          <a:lstStyle/>
          <a:p>
            <a:pPr indent="0" marL="0">
              <a:buNone/>
            </a:pPr>
            <a:r>
              <a:rPr lang="en-US" sz="1200" b="1" dirty="0">
                <a:solidFill>
                  <a:schemeClr val="accent1"/>
                </a:solidFill>
              </a:rPr>
              <a:t>EXAMPLE</a:t>
            </a:r>
            <a:endParaRPr lang="en-US" sz="1200" dirty="0"/>
          </a:p>
        </p:txBody>
      </p:sp>
      <p:sp>
        <p:nvSpPr>
          <p:cNvPr id="23" name="Text 18"/>
          <p:cNvSpPr txBox="1"/>
          <p:nvPr/>
        </p:nvSpPr>
        <p:spPr>
          <a:xfrm>
            <a:off x="8366760" y="4297680"/>
            <a:ext cx="3017520" cy="868680"/>
          </a:xfrm>
          <a:prstGeom prst="rect">
            <a:avLst/>
          </a:prstGeom>
          <a:noFill/>
          <a:ln/>
        </p:spPr>
        <p:txBody>
          <a:bodyPr wrap="square" lIns="0" tIns="0" rIns="0" bIns="0" rtlCol="0" anchor="t"/>
          <a:lstStyle/>
          <a:p>
            <a:pPr indent="0" marL="0">
              <a:buNone/>
            </a:pPr>
            <a:r>
              <a:rPr lang="en-US" sz="1400" i="1" dirty="0">
                <a:solidFill>
                  <a:schemeClr val="tx1"/>
                </a:solidFill>
              </a:rPr>
              <a:t>Only four bottles remain with a reorder level of ten, so the manager arranges a restock.</a:t>
            </a:r>
            <a:endParaRPr lang="en-US" sz="1400" dirty="0"/>
          </a:p>
        </p:txBody>
      </p:sp>
      <p:sp>
        <p:nvSpPr>
          <p:cNvPr id="24" name="Note banner"/>
          <p:cNvSpPr/>
          <p:nvPr/>
        </p:nvSpPr>
        <p:spPr>
          <a:xfrm>
            <a:off x="548640" y="5486400"/>
            <a:ext cx="11064240" cy="777240"/>
          </a:xfrm>
          <a:prstGeom prst="roundRect">
            <a:avLst>
              <a:gd name="adj" fmla="val 14118"/>
            </a:avLst>
          </a:prstGeom>
          <a:solidFill>
            <a:schemeClr val="tx2"/>
          </a:solidFill>
          <a:ln w="6350">
            <a:solidFill>
              <a:schemeClr val="tx2"/>
            </a:solidFill>
            <a:prstDash val="solid"/>
          </a:ln>
        </p:spPr>
      </p:sp>
      <p:sp>
        <p:nvSpPr>
          <p:cNvPr id="25" name="Text 20"/>
          <p:cNvSpPr txBox="1"/>
          <p:nvPr/>
        </p:nvSpPr>
        <p:spPr>
          <a:xfrm>
            <a:off x="868680" y="5486400"/>
            <a:ext cx="10424160" cy="777240"/>
          </a:xfrm>
          <a:prstGeom prst="rect">
            <a:avLst/>
          </a:prstGeom>
          <a:noFill/>
          <a:ln/>
        </p:spPr>
        <p:txBody>
          <a:bodyPr wrap="square" lIns="0" tIns="0" rIns="0" bIns="0" rtlCol="0" anchor="ctr"/>
          <a:lstStyle/>
          <a:p>
            <a:pPr indent="0" marL="0">
              <a:buNone/>
            </a:pPr>
            <a:r>
              <a:rPr lang="en-US" sz="1400" b="1" dirty="0">
                <a:solidFill>
                  <a:schemeClr val="accent2"/>
                </a:solidFill>
              </a:rPr>
              <a:t>Why separate roles? </a:t>
            </a:r>
            <a:pPr indent="0" marL="0">
              <a:buNone/>
            </a:pPr>
            <a:r>
              <a:rPr lang="en-US" sz="1400" dirty="0">
                <a:solidFill>
                  <a:schemeClr val="bg1"/>
                </a:solidFill>
              </a:rPr>
              <a:t>Full access could let a cashier change costs or stock by mistake. Permissions are checked in the backend, not just by hiding buttons.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System Architecture and Technology</a:t>
            </a:r>
            <a:endParaRPr lang="en-US" sz="3600" dirty="0"/>
          </a:p>
        </p:txBody>
      </p:sp>
      <p:sp>
        <p:nvSpPr>
          <p:cNvPr id="3" name="Card"/>
          <p:cNvSpPr/>
          <p:nvPr/>
        </p:nvSpPr>
        <p:spPr>
          <a:xfrm>
            <a:off x="548640" y="1371600"/>
            <a:ext cx="3291840" cy="3200400"/>
          </a:xfrm>
          <a:prstGeom prst="roundRect">
            <a:avLst>
              <a:gd name="adj" fmla="val 3429"/>
            </a:avLst>
          </a:prstGeom>
          <a:solidFill>
            <a:schemeClr val="bg2"/>
          </a:solidFill>
          <a:ln w="6350">
            <a:solidFill>
              <a:schemeClr val="bg2"/>
            </a:solidFill>
            <a:prstDash val="solid"/>
          </a:ln>
        </p:spPr>
      </p:sp>
      <p:sp>
        <p:nvSpPr>
          <p:cNvPr id="4" name="Icon circle"/>
          <p:cNvSpPr/>
          <p:nvPr/>
        </p:nvSpPr>
        <p:spPr>
          <a:xfrm>
            <a:off x="822960" y="1600200"/>
            <a:ext cx="640080" cy="64008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989381" y="1766621"/>
            <a:ext cx="307238" cy="307238"/>
          </a:xfrm>
          <a:prstGeom prst="rect">
            <a:avLst/>
          </a:prstGeom>
        </p:spPr>
      </p:pic>
      <p:sp>
        <p:nvSpPr>
          <p:cNvPr id="6" name="Text 3"/>
          <p:cNvSpPr txBox="1"/>
          <p:nvPr/>
        </p:nvSpPr>
        <p:spPr>
          <a:xfrm>
            <a:off x="1645920" y="1645920"/>
            <a:ext cx="2011680" cy="228600"/>
          </a:xfrm>
          <a:prstGeom prst="rect">
            <a:avLst/>
          </a:prstGeom>
          <a:noFill/>
          <a:ln/>
        </p:spPr>
        <p:txBody>
          <a:bodyPr wrap="square" lIns="0" tIns="0" rIns="0" bIns="0" rtlCol="0" anchor="t"/>
          <a:lstStyle/>
          <a:p>
            <a:pPr indent="0" marL="0">
              <a:buNone/>
            </a:pPr>
            <a:r>
              <a:rPr lang="en-US" sz="1200" b="1" dirty="0">
                <a:solidFill>
                  <a:schemeClr val="accent1"/>
                </a:solidFill>
              </a:rPr>
              <a:t>FRONTEND</a:t>
            </a:r>
            <a:endParaRPr lang="en-US" sz="1200" dirty="0"/>
          </a:p>
        </p:txBody>
      </p:sp>
      <p:sp>
        <p:nvSpPr>
          <p:cNvPr id="7" name="Text 4"/>
          <p:cNvSpPr txBox="1"/>
          <p:nvPr/>
        </p:nvSpPr>
        <p:spPr>
          <a:xfrm>
            <a:off x="1645920" y="1874520"/>
            <a:ext cx="2103120" cy="365760"/>
          </a:xfrm>
          <a:prstGeom prst="rect">
            <a:avLst/>
          </a:prstGeom>
          <a:noFill/>
          <a:ln/>
        </p:spPr>
        <p:txBody>
          <a:bodyPr wrap="square" lIns="0" tIns="0" rIns="0" bIns="0" rtlCol="0" anchor="t"/>
          <a:lstStyle/>
          <a:p>
            <a:pPr indent="0" marL="0">
              <a:buNone/>
            </a:pPr>
            <a:r>
              <a:rPr lang="en-US" sz="2000" b="1" dirty="0">
                <a:solidFill>
                  <a:schemeClr val="tx2"/>
                </a:solidFill>
              </a:rPr>
              <a:t>React + Vite</a:t>
            </a:r>
            <a:endParaRPr lang="en-US" sz="2000" dirty="0"/>
          </a:p>
        </p:txBody>
      </p:sp>
      <p:sp>
        <p:nvSpPr>
          <p:cNvPr id="8" name="Text 5"/>
          <p:cNvSpPr txBox="1"/>
          <p:nvPr/>
        </p:nvSpPr>
        <p:spPr>
          <a:xfrm>
            <a:off x="822960" y="2514600"/>
            <a:ext cx="2743200" cy="1920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Dashboards, product tables, billing screens, reports</a:t>
            </a:r>
            <a:endParaRPr lang="en-US" sz="1400" dirty="0"/>
          </a:p>
          <a:p>
            <a:pPr marL="342900" indent="-342900">
              <a:spcAft>
                <a:spcPts val="400"/>
              </a:spcAft>
              <a:buSzPct val="100000"/>
              <a:buChar char="•"/>
            </a:pPr>
            <a:r>
              <a:rPr lang="en-US" sz="1400" dirty="0">
                <a:solidFill>
                  <a:schemeClr val="tx1"/>
                </a:solidFill>
              </a:rPr>
              <a:t>React builds the UI; Vite runs and builds the app</a:t>
            </a:r>
            <a:endParaRPr lang="en-US" sz="1400" dirty="0"/>
          </a:p>
        </p:txBody>
      </p:sp>
      <p:sp>
        <p:nvSpPr>
          <p:cNvPr id="9" name="Arrow"/>
          <p:cNvSpPr/>
          <p:nvPr/>
        </p:nvSpPr>
        <p:spPr>
          <a:xfrm>
            <a:off x="3913632" y="2788920"/>
            <a:ext cx="411480" cy="365760"/>
          </a:xfrm>
          <a:prstGeom prst="rightArrow">
            <a:avLst/>
          </a:prstGeom>
          <a:solidFill>
            <a:schemeClr val="accent2"/>
          </a:solidFill>
          <a:ln w="6350">
            <a:solidFill>
              <a:schemeClr val="accent2"/>
            </a:solidFill>
            <a:prstDash val="solid"/>
          </a:ln>
        </p:spPr>
      </p:sp>
      <p:sp>
        <p:nvSpPr>
          <p:cNvPr id="10" name="Card"/>
          <p:cNvSpPr/>
          <p:nvPr/>
        </p:nvSpPr>
        <p:spPr>
          <a:xfrm>
            <a:off x="4434840" y="1371600"/>
            <a:ext cx="3291840" cy="3200400"/>
          </a:xfrm>
          <a:prstGeom prst="roundRect">
            <a:avLst>
              <a:gd name="adj" fmla="val 3429"/>
            </a:avLst>
          </a:prstGeom>
          <a:solidFill>
            <a:schemeClr val="bg2"/>
          </a:solidFill>
          <a:ln w="6350">
            <a:solidFill>
              <a:schemeClr val="bg2"/>
            </a:solidFill>
            <a:prstDash val="solid"/>
          </a:ln>
        </p:spPr>
      </p:sp>
      <p:sp>
        <p:nvSpPr>
          <p:cNvPr id="11" name="Icon circle"/>
          <p:cNvSpPr/>
          <p:nvPr/>
        </p:nvSpPr>
        <p:spPr>
          <a:xfrm>
            <a:off x="4709160" y="1600200"/>
            <a:ext cx="640080" cy="640080"/>
          </a:xfrm>
          <a:prstGeom prst="ellipse">
            <a:avLst/>
          </a:prstGeom>
          <a:solidFill>
            <a:schemeClr val="accent5"/>
          </a:solidFill>
          <a:ln w="6350">
            <a:solidFill>
              <a:schemeClr val="accent5"/>
            </a:solidFill>
            <a:prstDash val="solid"/>
          </a:ln>
        </p:spPr>
      </p:sp>
      <p:pic>
        <p:nvPicPr>
          <p:cNvPr id="12" name="Icon" descr="icon">    </p:cNvPr>
          <p:cNvPicPr>
            <a:picLocks noChangeAspect="1"/>
          </p:cNvPicPr>
          <p:nvPr/>
        </p:nvPicPr>
        <p:blipFill>
          <a:blip r:embed="rId2"/>
          <a:stretch>
            <a:fillRect/>
          </a:stretch>
        </p:blipFill>
        <p:spPr>
          <a:xfrm>
            <a:off x="4875581" y="1766621"/>
            <a:ext cx="307238" cy="307238"/>
          </a:xfrm>
          <a:prstGeom prst="rect">
            <a:avLst/>
          </a:prstGeom>
        </p:spPr>
      </p:pic>
      <p:sp>
        <p:nvSpPr>
          <p:cNvPr id="13" name="Text 9"/>
          <p:cNvSpPr txBox="1"/>
          <p:nvPr/>
        </p:nvSpPr>
        <p:spPr>
          <a:xfrm>
            <a:off x="5532120" y="1645920"/>
            <a:ext cx="2011680" cy="228600"/>
          </a:xfrm>
          <a:prstGeom prst="rect">
            <a:avLst/>
          </a:prstGeom>
          <a:noFill/>
          <a:ln/>
        </p:spPr>
        <p:txBody>
          <a:bodyPr wrap="square" lIns="0" tIns="0" rIns="0" bIns="0" rtlCol="0" anchor="t"/>
          <a:lstStyle/>
          <a:p>
            <a:pPr indent="0" marL="0">
              <a:buNone/>
            </a:pPr>
            <a:r>
              <a:rPr lang="en-US" sz="1200" b="1" dirty="0">
                <a:solidFill>
                  <a:schemeClr val="accent1"/>
                </a:solidFill>
              </a:rPr>
              <a:t>BACKEND</a:t>
            </a:r>
            <a:endParaRPr lang="en-US" sz="1200" dirty="0"/>
          </a:p>
        </p:txBody>
      </p:sp>
      <p:sp>
        <p:nvSpPr>
          <p:cNvPr id="14" name="Text 10"/>
          <p:cNvSpPr txBox="1"/>
          <p:nvPr/>
        </p:nvSpPr>
        <p:spPr>
          <a:xfrm>
            <a:off x="5532120" y="1874520"/>
            <a:ext cx="2103120" cy="365760"/>
          </a:xfrm>
          <a:prstGeom prst="rect">
            <a:avLst/>
          </a:prstGeom>
          <a:noFill/>
          <a:ln/>
        </p:spPr>
        <p:txBody>
          <a:bodyPr wrap="square" lIns="0" tIns="0" rIns="0" bIns="0" rtlCol="0" anchor="t"/>
          <a:lstStyle/>
          <a:p>
            <a:pPr indent="0" marL="0">
              <a:buNone/>
            </a:pPr>
            <a:r>
              <a:rPr lang="en-US" sz="2000" b="1" dirty="0">
                <a:solidFill>
                  <a:schemeClr val="tx2"/>
                </a:solidFill>
              </a:rPr>
              <a:t>Node.js + Express</a:t>
            </a:r>
            <a:endParaRPr lang="en-US" sz="2000" dirty="0"/>
          </a:p>
        </p:txBody>
      </p:sp>
      <p:sp>
        <p:nvSpPr>
          <p:cNvPr id="15" name="Text 11"/>
          <p:cNvSpPr txBox="1"/>
          <p:nvPr/>
        </p:nvSpPr>
        <p:spPr>
          <a:xfrm>
            <a:off x="4709160" y="2514600"/>
            <a:ext cx="2743200" cy="1920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Validates data and checks permissions</a:t>
            </a:r>
            <a:endParaRPr lang="en-US" sz="1400" dirty="0"/>
          </a:p>
          <a:p>
            <a:pPr marL="342900" indent="-342900">
              <a:spcAft>
                <a:spcPts val="400"/>
              </a:spcAft>
              <a:buSzPct val="100000"/>
              <a:buChar char="•"/>
            </a:pPr>
            <a:r>
              <a:rPr lang="en-US" sz="1400" dirty="0">
                <a:solidFill>
                  <a:schemeClr val="tx1"/>
                </a:solidFill>
              </a:rPr>
              <a:t>Calculates bills and serves REST API routes</a:t>
            </a:r>
            <a:endParaRPr lang="en-US" sz="1400" dirty="0"/>
          </a:p>
          <a:p>
            <a:pPr marL="342900" indent="-342900">
              <a:spcAft>
                <a:spcPts val="400"/>
              </a:spcAft>
              <a:buSzPct val="100000"/>
              <a:buChar char="•"/>
            </a:pPr>
            <a:r>
              <a:rPr lang="en-US" sz="1400" dirty="0">
                <a:solidFill>
                  <a:schemeClr val="tx1"/>
                </a:solidFill>
              </a:rPr>
              <a:t>Communicates with MySQL</a:t>
            </a:r>
            <a:endParaRPr lang="en-US" sz="1400" dirty="0"/>
          </a:p>
        </p:txBody>
      </p:sp>
      <p:sp>
        <p:nvSpPr>
          <p:cNvPr id="16" name="Arrow"/>
          <p:cNvSpPr/>
          <p:nvPr/>
        </p:nvSpPr>
        <p:spPr>
          <a:xfrm>
            <a:off x="7799832" y="2788920"/>
            <a:ext cx="411480" cy="365760"/>
          </a:xfrm>
          <a:prstGeom prst="rightArrow">
            <a:avLst/>
          </a:prstGeom>
          <a:solidFill>
            <a:schemeClr val="accent2"/>
          </a:solidFill>
          <a:ln w="6350">
            <a:solidFill>
              <a:schemeClr val="accent2"/>
            </a:solidFill>
            <a:prstDash val="solid"/>
          </a:ln>
        </p:spPr>
      </p:sp>
      <p:sp>
        <p:nvSpPr>
          <p:cNvPr id="17" name="Card"/>
          <p:cNvSpPr/>
          <p:nvPr/>
        </p:nvSpPr>
        <p:spPr>
          <a:xfrm>
            <a:off x="8321040" y="1371600"/>
            <a:ext cx="3291840" cy="3200400"/>
          </a:xfrm>
          <a:prstGeom prst="roundRect">
            <a:avLst>
              <a:gd name="adj" fmla="val 3429"/>
            </a:avLst>
          </a:prstGeom>
          <a:solidFill>
            <a:schemeClr val="bg2"/>
          </a:solidFill>
          <a:ln w="6350">
            <a:solidFill>
              <a:schemeClr val="bg2"/>
            </a:solidFill>
            <a:prstDash val="solid"/>
          </a:ln>
        </p:spPr>
      </p:sp>
      <p:sp>
        <p:nvSpPr>
          <p:cNvPr id="18" name="Icon circle"/>
          <p:cNvSpPr/>
          <p:nvPr/>
        </p:nvSpPr>
        <p:spPr>
          <a:xfrm>
            <a:off x="8595360" y="1600200"/>
            <a:ext cx="640080" cy="640080"/>
          </a:xfrm>
          <a:prstGeom prst="ellipse">
            <a:avLst/>
          </a:prstGeom>
          <a:solidFill>
            <a:schemeClr val="accent3"/>
          </a:solidFill>
          <a:ln w="6350">
            <a:solidFill>
              <a:schemeClr val="accent3"/>
            </a:solidFill>
            <a:prstDash val="solid"/>
          </a:ln>
        </p:spPr>
      </p:sp>
      <p:pic>
        <p:nvPicPr>
          <p:cNvPr id="19" name="Icon" descr="icon">    </p:cNvPr>
          <p:cNvPicPr>
            <a:picLocks noChangeAspect="1"/>
          </p:cNvPicPr>
          <p:nvPr/>
        </p:nvPicPr>
        <p:blipFill>
          <a:blip r:embed="rId3"/>
          <a:stretch>
            <a:fillRect/>
          </a:stretch>
        </p:blipFill>
        <p:spPr>
          <a:xfrm>
            <a:off x="8761781" y="1766621"/>
            <a:ext cx="307238" cy="307238"/>
          </a:xfrm>
          <a:prstGeom prst="rect">
            <a:avLst/>
          </a:prstGeom>
        </p:spPr>
      </p:pic>
      <p:sp>
        <p:nvSpPr>
          <p:cNvPr id="20" name="Text 15"/>
          <p:cNvSpPr txBox="1"/>
          <p:nvPr/>
        </p:nvSpPr>
        <p:spPr>
          <a:xfrm>
            <a:off x="9418320" y="1645920"/>
            <a:ext cx="2011680" cy="228600"/>
          </a:xfrm>
          <a:prstGeom prst="rect">
            <a:avLst/>
          </a:prstGeom>
          <a:noFill/>
          <a:ln/>
        </p:spPr>
        <p:txBody>
          <a:bodyPr wrap="square" lIns="0" tIns="0" rIns="0" bIns="0" rtlCol="0" anchor="t"/>
          <a:lstStyle/>
          <a:p>
            <a:pPr indent="0" marL="0">
              <a:buNone/>
            </a:pPr>
            <a:r>
              <a:rPr lang="en-US" sz="1200" b="1" dirty="0">
                <a:solidFill>
                  <a:schemeClr val="accent1"/>
                </a:solidFill>
              </a:rPr>
              <a:t>DATABASE</a:t>
            </a:r>
            <a:endParaRPr lang="en-US" sz="1200" dirty="0"/>
          </a:p>
        </p:txBody>
      </p:sp>
      <p:sp>
        <p:nvSpPr>
          <p:cNvPr id="21" name="Text 16"/>
          <p:cNvSpPr txBox="1"/>
          <p:nvPr/>
        </p:nvSpPr>
        <p:spPr>
          <a:xfrm>
            <a:off x="9418320" y="1874520"/>
            <a:ext cx="2103120" cy="365760"/>
          </a:xfrm>
          <a:prstGeom prst="rect">
            <a:avLst/>
          </a:prstGeom>
          <a:noFill/>
          <a:ln/>
        </p:spPr>
        <p:txBody>
          <a:bodyPr wrap="square" lIns="0" tIns="0" rIns="0" bIns="0" rtlCol="0" anchor="t"/>
          <a:lstStyle/>
          <a:p>
            <a:pPr indent="0" marL="0">
              <a:buNone/>
            </a:pPr>
            <a:r>
              <a:rPr lang="en-US" sz="2000" b="1" dirty="0">
                <a:solidFill>
                  <a:schemeClr val="tx2"/>
                </a:solidFill>
              </a:rPr>
              <a:t>MySQL</a:t>
            </a:r>
            <a:endParaRPr lang="en-US" sz="2000" dirty="0"/>
          </a:p>
        </p:txBody>
      </p:sp>
      <p:sp>
        <p:nvSpPr>
          <p:cNvPr id="22" name="Text 17"/>
          <p:cNvSpPr txBox="1"/>
          <p:nvPr/>
        </p:nvSpPr>
        <p:spPr>
          <a:xfrm>
            <a:off x="8595360" y="2514600"/>
            <a:ext cx="2743200" cy="1920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Permanently stores users, products, sales and purchases</a:t>
            </a:r>
            <a:endParaRPr lang="en-US" sz="1400" dirty="0"/>
          </a:p>
          <a:p>
            <a:pPr marL="342900" indent="-342900">
              <a:spcAft>
                <a:spcPts val="400"/>
              </a:spcAft>
              <a:buSzPct val="100000"/>
              <a:buChar char="•"/>
            </a:pPr>
            <a:r>
              <a:rPr lang="en-US" sz="1400" dirty="0">
                <a:solidFill>
                  <a:schemeClr val="tx1"/>
                </a:solidFill>
              </a:rPr>
              <a:t>Keeps stock movement records in related tables</a:t>
            </a:r>
            <a:endParaRPr lang="en-US" sz="1400" dirty="0"/>
          </a:p>
        </p:txBody>
      </p:sp>
      <p:sp>
        <p:nvSpPr>
          <p:cNvPr id="23" name="Text 18"/>
          <p:cNvSpPr txBox="1"/>
          <p:nvPr/>
        </p:nvSpPr>
        <p:spPr>
          <a:xfrm>
            <a:off x="548640" y="4800600"/>
            <a:ext cx="8229600" cy="274320"/>
          </a:xfrm>
          <a:prstGeom prst="rect">
            <a:avLst/>
          </a:prstGeom>
          <a:noFill/>
          <a:ln/>
        </p:spPr>
        <p:txBody>
          <a:bodyPr wrap="square" lIns="0" tIns="0" rIns="0" bIns="0" rtlCol="0" anchor="t"/>
          <a:lstStyle/>
          <a:p>
            <a:pPr indent="0" marL="0">
              <a:buNone/>
            </a:pPr>
            <a:r>
              <a:rPr lang="en-US" sz="1400" b="1" dirty="0">
                <a:solidFill>
                  <a:schemeClr val="accent1"/>
                </a:solidFill>
              </a:rPr>
              <a:t>EXAMPLE: A CASHIER SEARCHES FOR A PRODUCT</a:t>
            </a:r>
            <a:endParaRPr lang="en-US" sz="1400" dirty="0"/>
          </a:p>
        </p:txBody>
      </p:sp>
      <p:sp>
        <p:nvSpPr>
          <p:cNvPr id="24" name="Chip"/>
          <p:cNvSpPr/>
          <p:nvPr/>
        </p:nvSpPr>
        <p:spPr>
          <a:xfrm>
            <a:off x="548640" y="5212080"/>
            <a:ext cx="2423160" cy="731520"/>
          </a:xfrm>
          <a:prstGeom prst="roundRect">
            <a:avLst>
              <a:gd name="adj" fmla="val 15000"/>
            </a:avLst>
          </a:prstGeom>
          <a:solidFill>
            <a:schemeClr val="tx2"/>
          </a:solidFill>
          <a:ln w="6350">
            <a:solidFill>
              <a:schemeClr val="tx2"/>
            </a:solidFill>
            <a:prstDash val="solid"/>
          </a:ln>
        </p:spPr>
      </p:sp>
      <p:sp>
        <p:nvSpPr>
          <p:cNvPr id="25" name="Text 20"/>
          <p:cNvSpPr txBox="1"/>
          <p:nvPr/>
        </p:nvSpPr>
        <p:spPr>
          <a:xfrm>
            <a:off x="640080" y="5212080"/>
            <a:ext cx="2240280" cy="731520"/>
          </a:xfrm>
          <a:prstGeom prst="rect">
            <a:avLst/>
          </a:prstGeom>
          <a:noFill/>
          <a:ln/>
        </p:spPr>
        <p:txBody>
          <a:bodyPr wrap="square" lIns="0" tIns="0" rIns="0" bIns="0" rtlCol="0" anchor="ctr"/>
          <a:lstStyle/>
          <a:p>
            <a:pPr algn="ctr" indent="0" marL="0">
              <a:buNone/>
            </a:pPr>
            <a:r>
              <a:rPr lang="en-US" sz="1400" b="1" dirty="0">
                <a:solidFill>
                  <a:schemeClr val="bg1"/>
                </a:solidFill>
              </a:rPr>
              <a:t>React sends a request</a:t>
            </a:r>
            <a:endParaRPr lang="en-US" sz="1400" dirty="0"/>
          </a:p>
        </p:txBody>
      </p:sp>
      <p:sp>
        <p:nvSpPr>
          <p:cNvPr id="26" name="Arrow"/>
          <p:cNvSpPr/>
          <p:nvPr/>
        </p:nvSpPr>
        <p:spPr>
          <a:xfrm>
            <a:off x="3035808" y="5458968"/>
            <a:ext cx="274320" cy="237744"/>
          </a:xfrm>
          <a:prstGeom prst="rightArrow">
            <a:avLst/>
          </a:prstGeom>
          <a:solidFill>
            <a:schemeClr val="accent2"/>
          </a:solidFill>
          <a:ln w="6350">
            <a:solidFill>
              <a:schemeClr val="accent2"/>
            </a:solidFill>
            <a:prstDash val="solid"/>
          </a:ln>
        </p:spPr>
      </p:sp>
      <p:sp>
        <p:nvSpPr>
          <p:cNvPr id="27" name="Chip"/>
          <p:cNvSpPr/>
          <p:nvPr/>
        </p:nvSpPr>
        <p:spPr>
          <a:xfrm>
            <a:off x="3383280" y="5212080"/>
            <a:ext cx="2423160" cy="731520"/>
          </a:xfrm>
          <a:prstGeom prst="roundRect">
            <a:avLst>
              <a:gd name="adj" fmla="val 15000"/>
            </a:avLst>
          </a:prstGeom>
          <a:solidFill>
            <a:schemeClr val="tx2"/>
          </a:solidFill>
          <a:ln w="6350">
            <a:solidFill>
              <a:schemeClr val="tx2"/>
            </a:solidFill>
            <a:prstDash val="solid"/>
          </a:ln>
        </p:spPr>
      </p:sp>
      <p:sp>
        <p:nvSpPr>
          <p:cNvPr id="28" name="Text 23"/>
          <p:cNvSpPr txBox="1"/>
          <p:nvPr/>
        </p:nvSpPr>
        <p:spPr>
          <a:xfrm>
            <a:off x="3474720" y="5212080"/>
            <a:ext cx="2240280" cy="731520"/>
          </a:xfrm>
          <a:prstGeom prst="rect">
            <a:avLst/>
          </a:prstGeom>
          <a:noFill/>
          <a:ln/>
        </p:spPr>
        <p:txBody>
          <a:bodyPr wrap="square" lIns="0" tIns="0" rIns="0" bIns="0" rtlCol="0" anchor="ctr"/>
          <a:lstStyle/>
          <a:p>
            <a:pPr algn="ctr" indent="0" marL="0">
              <a:buNone/>
            </a:pPr>
            <a:r>
              <a:rPr lang="en-US" sz="1400" b="1" dirty="0">
                <a:solidFill>
                  <a:schemeClr val="bg1"/>
                </a:solidFill>
              </a:rPr>
              <a:t>Express processes it</a:t>
            </a:r>
            <a:endParaRPr lang="en-US" sz="1400" dirty="0"/>
          </a:p>
        </p:txBody>
      </p:sp>
      <p:sp>
        <p:nvSpPr>
          <p:cNvPr id="29" name="Arrow"/>
          <p:cNvSpPr/>
          <p:nvPr/>
        </p:nvSpPr>
        <p:spPr>
          <a:xfrm>
            <a:off x="5870448" y="5458968"/>
            <a:ext cx="274320" cy="237744"/>
          </a:xfrm>
          <a:prstGeom prst="rightArrow">
            <a:avLst/>
          </a:prstGeom>
          <a:solidFill>
            <a:schemeClr val="accent2"/>
          </a:solidFill>
          <a:ln w="6350">
            <a:solidFill>
              <a:schemeClr val="accent2"/>
            </a:solidFill>
            <a:prstDash val="solid"/>
          </a:ln>
        </p:spPr>
      </p:sp>
      <p:sp>
        <p:nvSpPr>
          <p:cNvPr id="30" name="Chip"/>
          <p:cNvSpPr/>
          <p:nvPr/>
        </p:nvSpPr>
        <p:spPr>
          <a:xfrm>
            <a:off x="6217920" y="5212080"/>
            <a:ext cx="2423160" cy="731520"/>
          </a:xfrm>
          <a:prstGeom prst="roundRect">
            <a:avLst>
              <a:gd name="adj" fmla="val 15000"/>
            </a:avLst>
          </a:prstGeom>
          <a:solidFill>
            <a:schemeClr val="tx2"/>
          </a:solidFill>
          <a:ln w="6350">
            <a:solidFill>
              <a:schemeClr val="tx2"/>
            </a:solidFill>
            <a:prstDash val="solid"/>
          </a:ln>
        </p:spPr>
      </p:sp>
      <p:sp>
        <p:nvSpPr>
          <p:cNvPr id="31" name="Text 26"/>
          <p:cNvSpPr txBox="1"/>
          <p:nvPr/>
        </p:nvSpPr>
        <p:spPr>
          <a:xfrm>
            <a:off x="6309360" y="5212080"/>
            <a:ext cx="2240280" cy="731520"/>
          </a:xfrm>
          <a:prstGeom prst="rect">
            <a:avLst/>
          </a:prstGeom>
          <a:noFill/>
          <a:ln/>
        </p:spPr>
        <p:txBody>
          <a:bodyPr wrap="square" lIns="0" tIns="0" rIns="0" bIns="0" rtlCol="0" anchor="ctr"/>
          <a:lstStyle/>
          <a:p>
            <a:pPr algn="ctr" indent="0" marL="0">
              <a:buNone/>
            </a:pPr>
            <a:r>
              <a:rPr lang="en-US" sz="1400" b="1" dirty="0">
                <a:solidFill>
                  <a:schemeClr val="bg1"/>
                </a:solidFill>
              </a:rPr>
              <a:t>MySQL returns the match</a:t>
            </a:r>
            <a:endParaRPr lang="en-US" sz="1400" dirty="0"/>
          </a:p>
        </p:txBody>
      </p:sp>
      <p:sp>
        <p:nvSpPr>
          <p:cNvPr id="32" name="Arrow"/>
          <p:cNvSpPr/>
          <p:nvPr/>
        </p:nvSpPr>
        <p:spPr>
          <a:xfrm>
            <a:off x="8705088" y="5458968"/>
            <a:ext cx="274320" cy="237744"/>
          </a:xfrm>
          <a:prstGeom prst="rightArrow">
            <a:avLst/>
          </a:prstGeom>
          <a:solidFill>
            <a:schemeClr val="accent2"/>
          </a:solidFill>
          <a:ln w="6350">
            <a:solidFill>
              <a:schemeClr val="accent2"/>
            </a:solidFill>
            <a:prstDash val="solid"/>
          </a:ln>
        </p:spPr>
      </p:sp>
      <p:sp>
        <p:nvSpPr>
          <p:cNvPr id="33" name="Chip"/>
          <p:cNvSpPr/>
          <p:nvPr/>
        </p:nvSpPr>
        <p:spPr>
          <a:xfrm>
            <a:off x="9052560" y="5212080"/>
            <a:ext cx="2423160" cy="731520"/>
          </a:xfrm>
          <a:prstGeom prst="roundRect">
            <a:avLst>
              <a:gd name="adj" fmla="val 15000"/>
            </a:avLst>
          </a:prstGeom>
          <a:solidFill>
            <a:schemeClr val="tx2"/>
          </a:solidFill>
          <a:ln w="6350">
            <a:solidFill>
              <a:schemeClr val="tx2"/>
            </a:solidFill>
            <a:prstDash val="solid"/>
          </a:ln>
        </p:spPr>
      </p:sp>
      <p:sp>
        <p:nvSpPr>
          <p:cNvPr id="34" name="Text 29"/>
          <p:cNvSpPr txBox="1"/>
          <p:nvPr/>
        </p:nvSpPr>
        <p:spPr>
          <a:xfrm>
            <a:off x="9144000" y="5212080"/>
            <a:ext cx="2240280" cy="731520"/>
          </a:xfrm>
          <a:prstGeom prst="rect">
            <a:avLst/>
          </a:prstGeom>
          <a:noFill/>
          <a:ln/>
        </p:spPr>
        <p:txBody>
          <a:bodyPr wrap="square" lIns="0" tIns="0" rIns="0" bIns="0" rtlCol="0" anchor="ctr"/>
          <a:lstStyle/>
          <a:p>
            <a:pPr algn="ctr" indent="0" marL="0">
              <a:buNone/>
            </a:pPr>
            <a:r>
              <a:rPr lang="en-US" sz="1400" b="1" dirty="0">
                <a:solidFill>
                  <a:schemeClr val="bg1"/>
                </a:solidFill>
              </a:rPr>
              <a:t>Frontend shows the result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MySQL Database Design</a:t>
            </a:r>
            <a:endParaRPr lang="en-US" sz="3600" dirty="0"/>
          </a:p>
        </p:txBody>
      </p:sp>
      <p:graphicFrame>
        <p:nvGraphicFramePr>
          <p:cNvPr id="7" name="Tables overview"/>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103120"/>
                <a:gridCol w="4572000"/>
              </a:tblGrid>
              <a:tr h="393192">
                <a:tc>
                  <a:txBody>
                    <a:bodyPr/>
                    <a:lstStyle/>
                    <a:p>
                      <a:pPr indent="0" marL="0">
                        <a:buNone/>
                      </a:pPr>
                      <a:r>
                        <a:rPr lang="en-US" sz="1400" b="1" dirty="0">
                          <a:solidFill>
                            <a:schemeClr val="bg1"/>
                          </a:solidFill>
                        </a:rPr>
                        <a:t>Table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What it stores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393192">
                <a:tc>
                  <a:txBody>
                    <a:bodyPr/>
                    <a:lstStyle/>
                    <a:p>
                      <a:pPr indent="0" marL="0">
                        <a:buNone/>
                      </a:pPr>
                      <a:r>
                        <a:rPr lang="en-US" sz="1400" b="1" dirty="0">
                          <a:solidFill>
                            <a:schemeClr val="accent1"/>
                          </a:solidFill>
                        </a:rPr>
                        <a:t>users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User accounts and their roles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accent1"/>
                          </a:solidFill>
                        </a:rPr>
                        <a:t>categories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Groups products, e.g. groceries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400" b="1" dirty="0">
                          <a:solidFill>
                            <a:schemeClr val="accent1"/>
                          </a:solidFill>
                        </a:rPr>
                        <a:t>suppliers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Supplier contact information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accent1"/>
                          </a:solidFill>
                        </a:rPr>
                        <a:t>products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SKU, price, category, current stock</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400" b="1" dirty="0">
                          <a:solidFill>
                            <a:schemeClr val="accent1"/>
                          </a:solidFill>
                        </a:rPr>
                        <a:t>sales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Overall details of each invoice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accent1"/>
                          </a:solidFill>
                        </a:rPr>
                        <a:t>sale_items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Each product within a sale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400" b="1" dirty="0">
                          <a:solidFill>
                            <a:schemeClr val="accent1"/>
                          </a:solidFill>
                        </a:rPr>
                        <a:t>purchases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Main details of supplier purchases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accent1"/>
                          </a:solidFill>
                        </a:rPr>
                        <a:t>purchase_items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Products and quantities per purchase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400" b="1" dirty="0">
                          <a:solidFill>
                            <a:schemeClr val="accent1"/>
                          </a:solidFill>
                        </a:rPr>
                        <a:t>stock_movements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Increases and decreases in stock</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accent1"/>
                          </a:solidFill>
                        </a:rPr>
                        <a:t>audit_logs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Important user and system actions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Card"/>
          <p:cNvSpPr/>
          <p:nvPr/>
        </p:nvSpPr>
        <p:spPr>
          <a:xfrm>
            <a:off x="7498080" y="1371600"/>
            <a:ext cx="4114800" cy="1371600"/>
          </a:xfrm>
          <a:prstGeom prst="roundRect">
            <a:avLst>
              <a:gd name="adj" fmla="val 8000"/>
            </a:avLst>
          </a:prstGeom>
          <a:solidFill>
            <a:schemeClr val="bg2"/>
          </a:solidFill>
          <a:ln w="6350">
            <a:solidFill>
              <a:schemeClr val="bg2"/>
            </a:solidFill>
            <a:prstDash val="solid"/>
          </a:ln>
        </p:spPr>
      </p:sp>
      <p:sp>
        <p:nvSpPr>
          <p:cNvPr id="5" name="Icon circle"/>
          <p:cNvSpPr/>
          <p:nvPr/>
        </p:nvSpPr>
        <p:spPr>
          <a:xfrm>
            <a:off x="7726680" y="1600200"/>
            <a:ext cx="594360" cy="594360"/>
          </a:xfrm>
          <a:prstGeom prst="ellipse">
            <a:avLst/>
          </a:prstGeom>
          <a:solidFill>
            <a:schemeClr val="accent1"/>
          </a:solidFill>
          <a:ln w="6350">
            <a:solidFill>
              <a:schemeClr val="accent1"/>
            </a:solidFill>
            <a:prstDash val="solid"/>
          </a:ln>
        </p:spPr>
      </p:sp>
      <p:pic>
        <p:nvPicPr>
          <p:cNvPr id="6" name="Icon" descr="icon">    </p:cNvPr>
          <p:cNvPicPr>
            <a:picLocks noChangeAspect="1"/>
          </p:cNvPicPr>
          <p:nvPr/>
        </p:nvPicPr>
        <p:blipFill>
          <a:blip r:embed="rId1"/>
          <a:stretch>
            <a:fillRect/>
          </a:stretch>
        </p:blipFill>
        <p:spPr>
          <a:xfrm>
            <a:off x="7881214" y="1754734"/>
            <a:ext cx="285293" cy="285293"/>
          </a:xfrm>
          <a:prstGeom prst="rect">
            <a:avLst/>
          </a:prstGeom>
        </p:spPr>
      </p:pic>
      <p:sp>
        <p:nvSpPr>
          <p:cNvPr id="7" name="Text 3"/>
          <p:cNvSpPr txBox="1"/>
          <p:nvPr/>
        </p:nvSpPr>
        <p:spPr>
          <a:xfrm>
            <a:off x="8503920" y="1554480"/>
            <a:ext cx="2926080" cy="365760"/>
          </a:xfrm>
          <a:prstGeom prst="rect">
            <a:avLst/>
          </a:prstGeom>
          <a:noFill/>
          <a:ln/>
        </p:spPr>
        <p:txBody>
          <a:bodyPr wrap="square" lIns="0" tIns="0" rIns="0" bIns="0" rtlCol="0" anchor="t"/>
          <a:lstStyle/>
          <a:p>
            <a:pPr indent="0" marL="0">
              <a:buNone/>
            </a:pPr>
            <a:r>
              <a:rPr lang="en-US" sz="1800" b="1" dirty="0">
                <a:solidFill>
                  <a:schemeClr val="tx2"/>
                </a:solidFill>
              </a:rPr>
              <a:t>Primary key (PK)</a:t>
            </a:r>
            <a:endParaRPr lang="en-US" sz="1800" dirty="0"/>
          </a:p>
        </p:txBody>
      </p:sp>
      <p:sp>
        <p:nvSpPr>
          <p:cNvPr id="8" name="Text 4"/>
          <p:cNvSpPr txBox="1"/>
          <p:nvPr/>
        </p:nvSpPr>
        <p:spPr>
          <a:xfrm>
            <a:off x="8503920" y="1965960"/>
            <a:ext cx="2926080" cy="685800"/>
          </a:xfrm>
          <a:prstGeom prst="rect">
            <a:avLst/>
          </a:prstGeom>
          <a:noFill/>
          <a:ln/>
        </p:spPr>
        <p:txBody>
          <a:bodyPr wrap="square" lIns="0" tIns="0" rIns="0" bIns="0" rtlCol="0" anchor="t"/>
          <a:lstStyle/>
          <a:p>
            <a:pPr indent="0" marL="0">
              <a:buNone/>
            </a:pPr>
            <a:r>
              <a:rPr lang="en-US" sz="1400" dirty="0">
                <a:solidFill>
                  <a:schemeClr val="tx1"/>
                </a:solidFill>
              </a:rPr>
              <a:t>Uniquely identifies a record, e.g. product_id for one product.</a:t>
            </a:r>
            <a:endParaRPr lang="en-US" sz="1400" dirty="0"/>
          </a:p>
        </p:txBody>
      </p:sp>
      <p:sp>
        <p:nvSpPr>
          <p:cNvPr id="9" name="Card"/>
          <p:cNvSpPr/>
          <p:nvPr/>
        </p:nvSpPr>
        <p:spPr>
          <a:xfrm>
            <a:off x="7498080" y="2880360"/>
            <a:ext cx="4114800" cy="1371600"/>
          </a:xfrm>
          <a:prstGeom prst="roundRect">
            <a:avLst>
              <a:gd name="adj" fmla="val 8000"/>
            </a:avLst>
          </a:prstGeom>
          <a:solidFill>
            <a:schemeClr val="bg2"/>
          </a:solidFill>
          <a:ln w="6350">
            <a:solidFill>
              <a:schemeClr val="bg2"/>
            </a:solidFill>
            <a:prstDash val="solid"/>
          </a:ln>
        </p:spPr>
      </p:sp>
      <p:sp>
        <p:nvSpPr>
          <p:cNvPr id="10" name="Icon circle"/>
          <p:cNvSpPr/>
          <p:nvPr/>
        </p:nvSpPr>
        <p:spPr>
          <a:xfrm>
            <a:off x="7726680" y="3108960"/>
            <a:ext cx="594360" cy="594360"/>
          </a:xfrm>
          <a:prstGeom prst="ellipse">
            <a:avLst/>
          </a:prstGeom>
          <a:solidFill>
            <a:schemeClr val="accent5"/>
          </a:solidFill>
          <a:ln w="6350">
            <a:solidFill>
              <a:schemeClr val="accent5"/>
            </a:solidFill>
            <a:prstDash val="solid"/>
          </a:ln>
        </p:spPr>
      </p:sp>
      <p:pic>
        <p:nvPicPr>
          <p:cNvPr id="11" name="Icon" descr="icon">    </p:cNvPr>
          <p:cNvPicPr>
            <a:picLocks noChangeAspect="1"/>
          </p:cNvPicPr>
          <p:nvPr/>
        </p:nvPicPr>
        <p:blipFill>
          <a:blip r:embed="rId2"/>
          <a:stretch>
            <a:fillRect/>
          </a:stretch>
        </p:blipFill>
        <p:spPr>
          <a:xfrm>
            <a:off x="7881214" y="3263494"/>
            <a:ext cx="285293" cy="285293"/>
          </a:xfrm>
          <a:prstGeom prst="rect">
            <a:avLst/>
          </a:prstGeom>
        </p:spPr>
      </p:pic>
      <p:sp>
        <p:nvSpPr>
          <p:cNvPr id="12" name="Text 7"/>
          <p:cNvSpPr txBox="1"/>
          <p:nvPr/>
        </p:nvSpPr>
        <p:spPr>
          <a:xfrm>
            <a:off x="8503920" y="3063240"/>
            <a:ext cx="2926080" cy="365760"/>
          </a:xfrm>
          <a:prstGeom prst="rect">
            <a:avLst/>
          </a:prstGeom>
          <a:noFill/>
          <a:ln/>
        </p:spPr>
        <p:txBody>
          <a:bodyPr wrap="square" lIns="0" tIns="0" rIns="0" bIns="0" rtlCol="0" anchor="t"/>
          <a:lstStyle/>
          <a:p>
            <a:pPr indent="0" marL="0">
              <a:buNone/>
            </a:pPr>
            <a:r>
              <a:rPr lang="en-US" sz="1800" b="1" dirty="0">
                <a:solidFill>
                  <a:schemeClr val="tx2"/>
                </a:solidFill>
              </a:rPr>
              <a:t>Foreign key (FK)</a:t>
            </a:r>
            <a:endParaRPr lang="en-US" sz="1800" dirty="0"/>
          </a:p>
        </p:txBody>
      </p:sp>
      <p:sp>
        <p:nvSpPr>
          <p:cNvPr id="13" name="Text 8"/>
          <p:cNvSpPr txBox="1"/>
          <p:nvPr/>
        </p:nvSpPr>
        <p:spPr>
          <a:xfrm>
            <a:off x="8503920" y="3474720"/>
            <a:ext cx="2926080" cy="685800"/>
          </a:xfrm>
          <a:prstGeom prst="rect">
            <a:avLst/>
          </a:prstGeom>
          <a:noFill/>
          <a:ln/>
        </p:spPr>
        <p:txBody>
          <a:bodyPr wrap="square" lIns="0" tIns="0" rIns="0" bIns="0" rtlCol="0" anchor="t"/>
          <a:lstStyle/>
          <a:p>
            <a:pPr indent="0" marL="0">
              <a:buNone/>
            </a:pPr>
            <a:r>
              <a:rPr lang="en-US" sz="1400" dirty="0">
                <a:solidFill>
                  <a:schemeClr val="tx1"/>
                </a:solidFill>
              </a:rPr>
              <a:t>Connects tables, e.g. sales.cashier_id refers to users.user_id.</a:t>
            </a:r>
            <a:endParaRPr lang="en-US" sz="1400" dirty="0"/>
          </a:p>
        </p:txBody>
      </p:sp>
      <p:sp>
        <p:nvSpPr>
          <p:cNvPr id="14" name="Card"/>
          <p:cNvSpPr/>
          <p:nvPr/>
        </p:nvSpPr>
        <p:spPr>
          <a:xfrm>
            <a:off x="7498080" y="4389120"/>
            <a:ext cx="4114800" cy="1371600"/>
          </a:xfrm>
          <a:prstGeom prst="roundRect">
            <a:avLst>
              <a:gd name="adj" fmla="val 8000"/>
            </a:avLst>
          </a:prstGeom>
          <a:solidFill>
            <a:schemeClr val="bg2"/>
          </a:solidFill>
          <a:ln w="6350">
            <a:solidFill>
              <a:schemeClr val="bg2"/>
            </a:solidFill>
            <a:prstDash val="solid"/>
          </a:ln>
        </p:spPr>
      </p:sp>
      <p:sp>
        <p:nvSpPr>
          <p:cNvPr id="15" name="Icon circle"/>
          <p:cNvSpPr/>
          <p:nvPr/>
        </p:nvSpPr>
        <p:spPr>
          <a:xfrm>
            <a:off x="7726680" y="4617720"/>
            <a:ext cx="594360" cy="594360"/>
          </a:xfrm>
          <a:prstGeom prst="ellipse">
            <a:avLst/>
          </a:prstGeom>
          <a:solidFill>
            <a:schemeClr val="accent3"/>
          </a:solidFill>
          <a:ln w="6350">
            <a:solidFill>
              <a:schemeClr val="accent3"/>
            </a:solidFill>
            <a:prstDash val="solid"/>
          </a:ln>
        </p:spPr>
      </p:sp>
      <p:pic>
        <p:nvPicPr>
          <p:cNvPr id="16" name="Icon" descr="icon">    </p:cNvPr>
          <p:cNvPicPr>
            <a:picLocks noChangeAspect="1"/>
          </p:cNvPicPr>
          <p:nvPr/>
        </p:nvPicPr>
        <p:blipFill>
          <a:blip r:embed="rId3"/>
          <a:stretch>
            <a:fillRect/>
          </a:stretch>
        </p:blipFill>
        <p:spPr>
          <a:xfrm>
            <a:off x="7881214" y="4772254"/>
            <a:ext cx="285293" cy="285293"/>
          </a:xfrm>
          <a:prstGeom prst="rect">
            <a:avLst/>
          </a:prstGeom>
        </p:spPr>
      </p:pic>
      <p:sp>
        <p:nvSpPr>
          <p:cNvPr id="17" name="Text 11"/>
          <p:cNvSpPr txBox="1"/>
          <p:nvPr/>
        </p:nvSpPr>
        <p:spPr>
          <a:xfrm>
            <a:off x="8503920" y="4572000"/>
            <a:ext cx="2926080" cy="365760"/>
          </a:xfrm>
          <a:prstGeom prst="rect">
            <a:avLst/>
          </a:prstGeom>
          <a:noFill/>
          <a:ln/>
        </p:spPr>
        <p:txBody>
          <a:bodyPr wrap="square" lIns="0" tIns="0" rIns="0" bIns="0" rtlCol="0" anchor="t"/>
          <a:lstStyle/>
          <a:p>
            <a:pPr indent="0" marL="0">
              <a:buNone/>
            </a:pPr>
            <a:r>
              <a:rPr lang="en-US" sz="1800" b="1" dirty="0">
                <a:solidFill>
                  <a:schemeClr val="tx2"/>
                </a:solidFill>
              </a:rPr>
              <a:t>Normalization</a:t>
            </a:r>
            <a:endParaRPr lang="en-US" sz="1800" dirty="0"/>
          </a:p>
        </p:txBody>
      </p:sp>
      <p:sp>
        <p:nvSpPr>
          <p:cNvPr id="18" name="Text 12"/>
          <p:cNvSpPr txBox="1"/>
          <p:nvPr/>
        </p:nvSpPr>
        <p:spPr>
          <a:xfrm>
            <a:off x="8503920" y="4983480"/>
            <a:ext cx="2926080" cy="685800"/>
          </a:xfrm>
          <a:prstGeom prst="rect">
            <a:avLst/>
          </a:prstGeom>
          <a:noFill/>
          <a:ln/>
        </p:spPr>
        <p:txBody>
          <a:bodyPr wrap="square" lIns="0" tIns="0" rIns="0" bIns="0" rtlCol="0" anchor="t"/>
          <a:lstStyle/>
          <a:p>
            <a:pPr indent="0" marL="0">
              <a:buNone/>
            </a:pPr>
            <a:r>
              <a:rPr lang="en-US" sz="1400" dirty="0">
                <a:solidFill>
                  <a:schemeClr val="tx1"/>
                </a:solidFill>
              </a:rPr>
              <a:t>Avoids duplicate data, e.g. products store only category_id.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ER Diagram</a:t>
            </a:r>
            <a:endParaRPr lang="en-US" sz="3600" dirty="0"/>
          </a:p>
        </p:txBody>
      </p:sp>
      <p:sp>
        <p:nvSpPr>
          <p:cNvPr id="3" name="USERS entity"/>
          <p:cNvSpPr/>
          <p:nvPr/>
        </p:nvSpPr>
        <p:spPr>
          <a:xfrm>
            <a:off x="548640" y="1371600"/>
            <a:ext cx="1783080" cy="1143000"/>
          </a:xfrm>
          <a:prstGeom prst="rect">
            <a:avLst/>
          </a:prstGeom>
          <a:solidFill>
            <a:schemeClr val="bg1"/>
          </a:solidFill>
          <a:ln w="15875">
            <a:solidFill>
              <a:schemeClr val="accent1"/>
            </a:solidFill>
            <a:prstDash val="solid"/>
          </a:ln>
        </p:spPr>
      </p:sp>
      <p:sp>
        <p:nvSpPr>
          <p:cNvPr id="4" name="USERS header"/>
          <p:cNvSpPr/>
          <p:nvPr/>
        </p:nvSpPr>
        <p:spPr>
          <a:xfrm>
            <a:off x="548640" y="1371600"/>
            <a:ext cx="1783080" cy="329184"/>
          </a:xfrm>
          <a:prstGeom prst="rect">
            <a:avLst/>
          </a:prstGeom>
          <a:solidFill>
            <a:schemeClr val="accent1"/>
          </a:solidFill>
          <a:ln w="15875">
            <a:solidFill>
              <a:schemeClr val="accent1"/>
            </a:solidFill>
            <a:prstDash val="solid"/>
          </a:ln>
        </p:spPr>
      </p:sp>
      <p:sp>
        <p:nvSpPr>
          <p:cNvPr id="5" name="Text 3"/>
          <p:cNvSpPr txBox="1"/>
          <p:nvPr/>
        </p:nvSpPr>
        <p:spPr>
          <a:xfrm>
            <a:off x="548640" y="137160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USERS</a:t>
            </a:r>
            <a:endParaRPr lang="en-US" sz="1200" dirty="0"/>
          </a:p>
        </p:txBody>
      </p:sp>
      <p:sp>
        <p:nvSpPr>
          <p:cNvPr id="6" name="Text 4"/>
          <p:cNvSpPr txBox="1"/>
          <p:nvPr/>
        </p:nvSpPr>
        <p:spPr>
          <a:xfrm>
            <a:off x="640080" y="1755648"/>
            <a:ext cx="1234440" cy="246888"/>
          </a:xfrm>
          <a:prstGeom prst="rect">
            <a:avLst/>
          </a:prstGeom>
          <a:noFill/>
          <a:ln/>
        </p:spPr>
        <p:txBody>
          <a:bodyPr wrap="square" lIns="0" tIns="0" rIns="0" bIns="0" rtlCol="0" anchor="ctr"/>
          <a:lstStyle/>
          <a:p>
            <a:pPr indent="0" marL="0">
              <a:buNone/>
            </a:pPr>
            <a:r>
              <a:rPr lang="en-US" sz="1100" dirty="0">
                <a:solidFill>
                  <a:schemeClr val="tx1"/>
                </a:solidFill>
              </a:rPr>
              <a:t>user_id</a:t>
            </a:r>
            <a:endParaRPr lang="en-US" sz="1100" dirty="0"/>
          </a:p>
        </p:txBody>
      </p:sp>
      <p:sp>
        <p:nvSpPr>
          <p:cNvPr id="7" name="Text 5"/>
          <p:cNvSpPr txBox="1"/>
          <p:nvPr/>
        </p:nvSpPr>
        <p:spPr>
          <a:xfrm>
            <a:off x="1874520" y="175564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8" name="Text 6"/>
          <p:cNvSpPr txBox="1"/>
          <p:nvPr/>
        </p:nvSpPr>
        <p:spPr>
          <a:xfrm>
            <a:off x="640080" y="2002536"/>
            <a:ext cx="1234440" cy="246888"/>
          </a:xfrm>
          <a:prstGeom prst="rect">
            <a:avLst/>
          </a:prstGeom>
          <a:noFill/>
          <a:ln/>
        </p:spPr>
        <p:txBody>
          <a:bodyPr wrap="square" lIns="0" tIns="0" rIns="0" bIns="0" rtlCol="0" anchor="ctr"/>
          <a:lstStyle/>
          <a:p>
            <a:pPr indent="0" marL="0">
              <a:buNone/>
            </a:pPr>
            <a:r>
              <a:rPr lang="en-US" sz="1100" dirty="0">
                <a:solidFill>
                  <a:schemeClr val="tx1"/>
                </a:solidFill>
              </a:rPr>
              <a:t>name</a:t>
            </a:r>
            <a:endParaRPr lang="en-US" sz="1100" dirty="0"/>
          </a:p>
        </p:txBody>
      </p:sp>
      <p:sp>
        <p:nvSpPr>
          <p:cNvPr id="9" name="Text 7"/>
          <p:cNvSpPr txBox="1"/>
          <p:nvPr/>
        </p:nvSpPr>
        <p:spPr>
          <a:xfrm>
            <a:off x="640080" y="2249424"/>
            <a:ext cx="1234440" cy="246888"/>
          </a:xfrm>
          <a:prstGeom prst="rect">
            <a:avLst/>
          </a:prstGeom>
          <a:noFill/>
          <a:ln/>
        </p:spPr>
        <p:txBody>
          <a:bodyPr wrap="square" lIns="0" tIns="0" rIns="0" bIns="0" rtlCol="0" anchor="ctr"/>
          <a:lstStyle/>
          <a:p>
            <a:pPr indent="0" marL="0">
              <a:buNone/>
            </a:pPr>
            <a:r>
              <a:rPr lang="en-US" sz="1100" dirty="0">
                <a:solidFill>
                  <a:schemeClr val="tx1"/>
                </a:solidFill>
              </a:rPr>
              <a:t>role</a:t>
            </a:r>
            <a:endParaRPr lang="en-US" sz="1100" dirty="0"/>
          </a:p>
        </p:txBody>
      </p:sp>
      <p:sp>
        <p:nvSpPr>
          <p:cNvPr id="10" name="SALES entity"/>
          <p:cNvSpPr/>
          <p:nvPr/>
        </p:nvSpPr>
        <p:spPr>
          <a:xfrm>
            <a:off x="2871216" y="1371600"/>
            <a:ext cx="1783080" cy="1143000"/>
          </a:xfrm>
          <a:prstGeom prst="rect">
            <a:avLst/>
          </a:prstGeom>
          <a:solidFill>
            <a:schemeClr val="bg1"/>
          </a:solidFill>
          <a:ln w="15875">
            <a:solidFill>
              <a:schemeClr val="accent1"/>
            </a:solidFill>
            <a:prstDash val="solid"/>
          </a:ln>
        </p:spPr>
      </p:sp>
      <p:sp>
        <p:nvSpPr>
          <p:cNvPr id="11" name="SALES header"/>
          <p:cNvSpPr/>
          <p:nvPr/>
        </p:nvSpPr>
        <p:spPr>
          <a:xfrm>
            <a:off x="2871216" y="1371600"/>
            <a:ext cx="1783080" cy="329184"/>
          </a:xfrm>
          <a:prstGeom prst="rect">
            <a:avLst/>
          </a:prstGeom>
          <a:solidFill>
            <a:schemeClr val="accent1"/>
          </a:solidFill>
          <a:ln w="15875">
            <a:solidFill>
              <a:schemeClr val="accent1"/>
            </a:solidFill>
            <a:prstDash val="solid"/>
          </a:ln>
        </p:spPr>
      </p:sp>
      <p:sp>
        <p:nvSpPr>
          <p:cNvPr id="12" name="Text 10"/>
          <p:cNvSpPr txBox="1"/>
          <p:nvPr/>
        </p:nvSpPr>
        <p:spPr>
          <a:xfrm>
            <a:off x="2871216" y="137160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SALES</a:t>
            </a:r>
            <a:endParaRPr lang="en-US" sz="1200" dirty="0"/>
          </a:p>
        </p:txBody>
      </p:sp>
      <p:sp>
        <p:nvSpPr>
          <p:cNvPr id="13" name="Text 11"/>
          <p:cNvSpPr txBox="1"/>
          <p:nvPr/>
        </p:nvSpPr>
        <p:spPr>
          <a:xfrm>
            <a:off x="2962656" y="1755648"/>
            <a:ext cx="1234440" cy="246888"/>
          </a:xfrm>
          <a:prstGeom prst="rect">
            <a:avLst/>
          </a:prstGeom>
          <a:noFill/>
          <a:ln/>
        </p:spPr>
        <p:txBody>
          <a:bodyPr wrap="square" lIns="0" tIns="0" rIns="0" bIns="0" rtlCol="0" anchor="ctr"/>
          <a:lstStyle/>
          <a:p>
            <a:pPr indent="0" marL="0">
              <a:buNone/>
            </a:pPr>
            <a:r>
              <a:rPr lang="en-US" sz="1100" dirty="0">
                <a:solidFill>
                  <a:schemeClr val="tx1"/>
                </a:solidFill>
              </a:rPr>
              <a:t>sale_id</a:t>
            </a:r>
            <a:endParaRPr lang="en-US" sz="1100" dirty="0"/>
          </a:p>
        </p:txBody>
      </p:sp>
      <p:sp>
        <p:nvSpPr>
          <p:cNvPr id="14" name="Text 12"/>
          <p:cNvSpPr txBox="1"/>
          <p:nvPr/>
        </p:nvSpPr>
        <p:spPr>
          <a:xfrm>
            <a:off x="4197096" y="175564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15" name="Text 13"/>
          <p:cNvSpPr txBox="1"/>
          <p:nvPr/>
        </p:nvSpPr>
        <p:spPr>
          <a:xfrm>
            <a:off x="2962656" y="2002536"/>
            <a:ext cx="1234440" cy="246888"/>
          </a:xfrm>
          <a:prstGeom prst="rect">
            <a:avLst/>
          </a:prstGeom>
          <a:noFill/>
          <a:ln/>
        </p:spPr>
        <p:txBody>
          <a:bodyPr wrap="square" lIns="0" tIns="0" rIns="0" bIns="0" rtlCol="0" anchor="ctr"/>
          <a:lstStyle/>
          <a:p>
            <a:pPr indent="0" marL="0">
              <a:buNone/>
            </a:pPr>
            <a:r>
              <a:rPr lang="en-US" sz="1100" dirty="0">
                <a:solidFill>
                  <a:schemeClr val="tx1"/>
                </a:solidFill>
              </a:rPr>
              <a:t>cashier_id</a:t>
            </a:r>
            <a:endParaRPr lang="en-US" sz="1100" dirty="0"/>
          </a:p>
        </p:txBody>
      </p:sp>
      <p:sp>
        <p:nvSpPr>
          <p:cNvPr id="16" name="Text 14"/>
          <p:cNvSpPr txBox="1"/>
          <p:nvPr/>
        </p:nvSpPr>
        <p:spPr>
          <a:xfrm>
            <a:off x="4197096" y="2002536"/>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17" name="Text 15"/>
          <p:cNvSpPr txBox="1"/>
          <p:nvPr/>
        </p:nvSpPr>
        <p:spPr>
          <a:xfrm>
            <a:off x="2962656" y="2249424"/>
            <a:ext cx="1234440" cy="246888"/>
          </a:xfrm>
          <a:prstGeom prst="rect">
            <a:avLst/>
          </a:prstGeom>
          <a:noFill/>
          <a:ln/>
        </p:spPr>
        <p:txBody>
          <a:bodyPr wrap="square" lIns="0" tIns="0" rIns="0" bIns="0" rtlCol="0" anchor="ctr"/>
          <a:lstStyle/>
          <a:p>
            <a:pPr indent="0" marL="0">
              <a:buNone/>
            </a:pPr>
            <a:r>
              <a:rPr lang="en-US" sz="1100" dirty="0">
                <a:solidFill>
                  <a:schemeClr val="tx1"/>
                </a:solidFill>
              </a:rPr>
              <a:t>total_amount</a:t>
            </a:r>
            <a:endParaRPr lang="en-US" sz="1100" dirty="0"/>
          </a:p>
        </p:txBody>
      </p:sp>
      <p:sp>
        <p:nvSpPr>
          <p:cNvPr id="18" name="SALE_ITEMS entity"/>
          <p:cNvSpPr/>
          <p:nvPr/>
        </p:nvSpPr>
        <p:spPr>
          <a:xfrm>
            <a:off x="5193792" y="1371600"/>
            <a:ext cx="1783080" cy="1143000"/>
          </a:xfrm>
          <a:prstGeom prst="rect">
            <a:avLst/>
          </a:prstGeom>
          <a:solidFill>
            <a:schemeClr val="bg1"/>
          </a:solidFill>
          <a:ln w="15875">
            <a:solidFill>
              <a:schemeClr val="accent1"/>
            </a:solidFill>
            <a:prstDash val="solid"/>
          </a:ln>
        </p:spPr>
      </p:sp>
      <p:sp>
        <p:nvSpPr>
          <p:cNvPr id="19" name="SALE_ITEMS header"/>
          <p:cNvSpPr/>
          <p:nvPr/>
        </p:nvSpPr>
        <p:spPr>
          <a:xfrm>
            <a:off x="5193792" y="1371600"/>
            <a:ext cx="1783080" cy="329184"/>
          </a:xfrm>
          <a:prstGeom prst="rect">
            <a:avLst/>
          </a:prstGeom>
          <a:solidFill>
            <a:schemeClr val="accent1"/>
          </a:solidFill>
          <a:ln w="15875">
            <a:solidFill>
              <a:schemeClr val="accent1"/>
            </a:solidFill>
            <a:prstDash val="solid"/>
          </a:ln>
        </p:spPr>
      </p:sp>
      <p:sp>
        <p:nvSpPr>
          <p:cNvPr id="20" name="Text 18"/>
          <p:cNvSpPr txBox="1"/>
          <p:nvPr/>
        </p:nvSpPr>
        <p:spPr>
          <a:xfrm>
            <a:off x="5193792" y="137160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SALE_ITEMS</a:t>
            </a:r>
            <a:endParaRPr lang="en-US" sz="1200" dirty="0"/>
          </a:p>
        </p:txBody>
      </p:sp>
      <p:sp>
        <p:nvSpPr>
          <p:cNvPr id="21" name="Text 19"/>
          <p:cNvSpPr txBox="1"/>
          <p:nvPr/>
        </p:nvSpPr>
        <p:spPr>
          <a:xfrm>
            <a:off x="5285232" y="1755648"/>
            <a:ext cx="1234440" cy="246888"/>
          </a:xfrm>
          <a:prstGeom prst="rect">
            <a:avLst/>
          </a:prstGeom>
          <a:noFill/>
          <a:ln/>
        </p:spPr>
        <p:txBody>
          <a:bodyPr wrap="square" lIns="0" tIns="0" rIns="0" bIns="0" rtlCol="0" anchor="ctr"/>
          <a:lstStyle/>
          <a:p>
            <a:pPr indent="0" marL="0">
              <a:buNone/>
            </a:pPr>
            <a:r>
              <a:rPr lang="en-US" sz="1100" dirty="0">
                <a:solidFill>
                  <a:schemeClr val="tx1"/>
                </a:solidFill>
              </a:rPr>
              <a:t>sale_item_id</a:t>
            </a:r>
            <a:endParaRPr lang="en-US" sz="1100" dirty="0"/>
          </a:p>
        </p:txBody>
      </p:sp>
      <p:sp>
        <p:nvSpPr>
          <p:cNvPr id="22" name="Text 20"/>
          <p:cNvSpPr txBox="1"/>
          <p:nvPr/>
        </p:nvSpPr>
        <p:spPr>
          <a:xfrm>
            <a:off x="6519672" y="175564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23" name="Text 21"/>
          <p:cNvSpPr txBox="1"/>
          <p:nvPr/>
        </p:nvSpPr>
        <p:spPr>
          <a:xfrm>
            <a:off x="5285232" y="2002536"/>
            <a:ext cx="1234440" cy="246888"/>
          </a:xfrm>
          <a:prstGeom prst="rect">
            <a:avLst/>
          </a:prstGeom>
          <a:noFill/>
          <a:ln/>
        </p:spPr>
        <p:txBody>
          <a:bodyPr wrap="square" lIns="0" tIns="0" rIns="0" bIns="0" rtlCol="0" anchor="ctr"/>
          <a:lstStyle/>
          <a:p>
            <a:pPr indent="0" marL="0">
              <a:buNone/>
            </a:pPr>
            <a:r>
              <a:rPr lang="en-US" sz="1100" dirty="0">
                <a:solidFill>
                  <a:schemeClr val="tx1"/>
                </a:solidFill>
              </a:rPr>
              <a:t>sale_id</a:t>
            </a:r>
            <a:endParaRPr lang="en-US" sz="1100" dirty="0"/>
          </a:p>
        </p:txBody>
      </p:sp>
      <p:sp>
        <p:nvSpPr>
          <p:cNvPr id="24" name="Text 22"/>
          <p:cNvSpPr txBox="1"/>
          <p:nvPr/>
        </p:nvSpPr>
        <p:spPr>
          <a:xfrm>
            <a:off x="6519672" y="2002536"/>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25" name="Text 23"/>
          <p:cNvSpPr txBox="1"/>
          <p:nvPr/>
        </p:nvSpPr>
        <p:spPr>
          <a:xfrm>
            <a:off x="5285232" y="2249424"/>
            <a:ext cx="1234440" cy="246888"/>
          </a:xfrm>
          <a:prstGeom prst="rect">
            <a:avLst/>
          </a:prstGeom>
          <a:noFill/>
          <a:ln/>
        </p:spPr>
        <p:txBody>
          <a:bodyPr wrap="square" lIns="0" tIns="0" rIns="0" bIns="0" rtlCol="0" anchor="ctr"/>
          <a:lstStyle/>
          <a:p>
            <a:pPr indent="0" marL="0">
              <a:buNone/>
            </a:pPr>
            <a:r>
              <a:rPr lang="en-US" sz="1100" dirty="0">
                <a:solidFill>
                  <a:schemeClr val="tx1"/>
                </a:solidFill>
              </a:rPr>
              <a:t>product_id</a:t>
            </a:r>
            <a:endParaRPr lang="en-US" sz="1100" dirty="0"/>
          </a:p>
        </p:txBody>
      </p:sp>
      <p:sp>
        <p:nvSpPr>
          <p:cNvPr id="26" name="Text 24"/>
          <p:cNvSpPr txBox="1"/>
          <p:nvPr/>
        </p:nvSpPr>
        <p:spPr>
          <a:xfrm>
            <a:off x="6519672" y="2249424"/>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27" name="PRODUCTS entity"/>
          <p:cNvSpPr/>
          <p:nvPr/>
        </p:nvSpPr>
        <p:spPr>
          <a:xfrm>
            <a:off x="7516368" y="1371600"/>
            <a:ext cx="1783080" cy="1143000"/>
          </a:xfrm>
          <a:prstGeom prst="rect">
            <a:avLst/>
          </a:prstGeom>
          <a:solidFill>
            <a:schemeClr val="bg1"/>
          </a:solidFill>
          <a:ln w="15875">
            <a:solidFill>
              <a:schemeClr val="accent1"/>
            </a:solidFill>
            <a:prstDash val="solid"/>
          </a:ln>
        </p:spPr>
      </p:sp>
      <p:sp>
        <p:nvSpPr>
          <p:cNvPr id="28" name="PRODUCTS header"/>
          <p:cNvSpPr/>
          <p:nvPr/>
        </p:nvSpPr>
        <p:spPr>
          <a:xfrm>
            <a:off x="7516368" y="1371600"/>
            <a:ext cx="1783080" cy="329184"/>
          </a:xfrm>
          <a:prstGeom prst="rect">
            <a:avLst/>
          </a:prstGeom>
          <a:solidFill>
            <a:schemeClr val="accent1"/>
          </a:solidFill>
          <a:ln w="15875">
            <a:solidFill>
              <a:schemeClr val="accent1"/>
            </a:solidFill>
            <a:prstDash val="solid"/>
          </a:ln>
        </p:spPr>
      </p:sp>
      <p:sp>
        <p:nvSpPr>
          <p:cNvPr id="29" name="Text 27"/>
          <p:cNvSpPr txBox="1"/>
          <p:nvPr/>
        </p:nvSpPr>
        <p:spPr>
          <a:xfrm>
            <a:off x="7516368" y="137160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PRODUCTS</a:t>
            </a:r>
            <a:endParaRPr lang="en-US" sz="1200" dirty="0"/>
          </a:p>
        </p:txBody>
      </p:sp>
      <p:sp>
        <p:nvSpPr>
          <p:cNvPr id="30" name="Text 28"/>
          <p:cNvSpPr txBox="1"/>
          <p:nvPr/>
        </p:nvSpPr>
        <p:spPr>
          <a:xfrm>
            <a:off x="7607808" y="1755648"/>
            <a:ext cx="1234440" cy="246888"/>
          </a:xfrm>
          <a:prstGeom prst="rect">
            <a:avLst/>
          </a:prstGeom>
          <a:noFill/>
          <a:ln/>
        </p:spPr>
        <p:txBody>
          <a:bodyPr wrap="square" lIns="0" tIns="0" rIns="0" bIns="0" rtlCol="0" anchor="ctr"/>
          <a:lstStyle/>
          <a:p>
            <a:pPr indent="0" marL="0">
              <a:buNone/>
            </a:pPr>
            <a:r>
              <a:rPr lang="en-US" sz="1100" dirty="0">
                <a:solidFill>
                  <a:schemeClr val="tx1"/>
                </a:solidFill>
              </a:rPr>
              <a:t>product_id</a:t>
            </a:r>
            <a:endParaRPr lang="en-US" sz="1100" dirty="0"/>
          </a:p>
        </p:txBody>
      </p:sp>
      <p:sp>
        <p:nvSpPr>
          <p:cNvPr id="31" name="Text 29"/>
          <p:cNvSpPr txBox="1"/>
          <p:nvPr/>
        </p:nvSpPr>
        <p:spPr>
          <a:xfrm>
            <a:off x="8842248" y="175564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32" name="Text 30"/>
          <p:cNvSpPr txBox="1"/>
          <p:nvPr/>
        </p:nvSpPr>
        <p:spPr>
          <a:xfrm>
            <a:off x="7607808" y="2002536"/>
            <a:ext cx="1234440" cy="246888"/>
          </a:xfrm>
          <a:prstGeom prst="rect">
            <a:avLst/>
          </a:prstGeom>
          <a:noFill/>
          <a:ln/>
        </p:spPr>
        <p:txBody>
          <a:bodyPr wrap="square" lIns="0" tIns="0" rIns="0" bIns="0" rtlCol="0" anchor="ctr"/>
          <a:lstStyle/>
          <a:p>
            <a:pPr indent="0" marL="0">
              <a:buNone/>
            </a:pPr>
            <a:r>
              <a:rPr lang="en-US" sz="1100" dirty="0">
                <a:solidFill>
                  <a:schemeClr val="tx1"/>
                </a:solidFill>
              </a:rPr>
              <a:t>category_id</a:t>
            </a:r>
            <a:endParaRPr lang="en-US" sz="1100" dirty="0"/>
          </a:p>
        </p:txBody>
      </p:sp>
      <p:sp>
        <p:nvSpPr>
          <p:cNvPr id="33" name="Text 31"/>
          <p:cNvSpPr txBox="1"/>
          <p:nvPr/>
        </p:nvSpPr>
        <p:spPr>
          <a:xfrm>
            <a:off x="8842248" y="2002536"/>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34" name="Text 32"/>
          <p:cNvSpPr txBox="1"/>
          <p:nvPr/>
        </p:nvSpPr>
        <p:spPr>
          <a:xfrm>
            <a:off x="7607808" y="2249424"/>
            <a:ext cx="1234440" cy="246888"/>
          </a:xfrm>
          <a:prstGeom prst="rect">
            <a:avLst/>
          </a:prstGeom>
          <a:noFill/>
          <a:ln/>
        </p:spPr>
        <p:txBody>
          <a:bodyPr wrap="square" lIns="0" tIns="0" rIns="0" bIns="0" rtlCol="0" anchor="ctr"/>
          <a:lstStyle/>
          <a:p>
            <a:pPr indent="0" marL="0">
              <a:buNone/>
            </a:pPr>
            <a:r>
              <a:rPr lang="en-US" sz="1100" dirty="0">
                <a:solidFill>
                  <a:schemeClr val="tx1"/>
                </a:solidFill>
              </a:rPr>
              <a:t>stock_qty</a:t>
            </a:r>
            <a:endParaRPr lang="en-US" sz="1100" dirty="0"/>
          </a:p>
        </p:txBody>
      </p:sp>
      <p:sp>
        <p:nvSpPr>
          <p:cNvPr id="35" name="CATEGORIES entity"/>
          <p:cNvSpPr/>
          <p:nvPr/>
        </p:nvSpPr>
        <p:spPr>
          <a:xfrm>
            <a:off x="9838944" y="1371600"/>
            <a:ext cx="1783080" cy="1143000"/>
          </a:xfrm>
          <a:prstGeom prst="rect">
            <a:avLst/>
          </a:prstGeom>
          <a:solidFill>
            <a:schemeClr val="bg1"/>
          </a:solidFill>
          <a:ln w="15875">
            <a:solidFill>
              <a:schemeClr val="accent1"/>
            </a:solidFill>
            <a:prstDash val="solid"/>
          </a:ln>
        </p:spPr>
      </p:sp>
      <p:sp>
        <p:nvSpPr>
          <p:cNvPr id="36" name="CATEGORIES header"/>
          <p:cNvSpPr/>
          <p:nvPr/>
        </p:nvSpPr>
        <p:spPr>
          <a:xfrm>
            <a:off x="9838944" y="1371600"/>
            <a:ext cx="1783080" cy="329184"/>
          </a:xfrm>
          <a:prstGeom prst="rect">
            <a:avLst/>
          </a:prstGeom>
          <a:solidFill>
            <a:schemeClr val="accent1"/>
          </a:solidFill>
          <a:ln w="15875">
            <a:solidFill>
              <a:schemeClr val="accent1"/>
            </a:solidFill>
            <a:prstDash val="solid"/>
          </a:ln>
        </p:spPr>
      </p:sp>
      <p:sp>
        <p:nvSpPr>
          <p:cNvPr id="37" name="Text 35"/>
          <p:cNvSpPr txBox="1"/>
          <p:nvPr/>
        </p:nvSpPr>
        <p:spPr>
          <a:xfrm>
            <a:off x="9838944" y="137160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CATEGORIES</a:t>
            </a:r>
            <a:endParaRPr lang="en-US" sz="1200" dirty="0"/>
          </a:p>
        </p:txBody>
      </p:sp>
      <p:sp>
        <p:nvSpPr>
          <p:cNvPr id="38" name="Text 36"/>
          <p:cNvSpPr txBox="1"/>
          <p:nvPr/>
        </p:nvSpPr>
        <p:spPr>
          <a:xfrm>
            <a:off x="9930384" y="1755648"/>
            <a:ext cx="1234440" cy="246888"/>
          </a:xfrm>
          <a:prstGeom prst="rect">
            <a:avLst/>
          </a:prstGeom>
          <a:noFill/>
          <a:ln/>
        </p:spPr>
        <p:txBody>
          <a:bodyPr wrap="square" lIns="0" tIns="0" rIns="0" bIns="0" rtlCol="0" anchor="ctr"/>
          <a:lstStyle/>
          <a:p>
            <a:pPr indent="0" marL="0">
              <a:buNone/>
            </a:pPr>
            <a:r>
              <a:rPr lang="en-US" sz="1100" dirty="0">
                <a:solidFill>
                  <a:schemeClr val="tx1"/>
                </a:solidFill>
              </a:rPr>
              <a:t>category_id</a:t>
            </a:r>
            <a:endParaRPr lang="en-US" sz="1100" dirty="0"/>
          </a:p>
        </p:txBody>
      </p:sp>
      <p:sp>
        <p:nvSpPr>
          <p:cNvPr id="39" name="Text 37"/>
          <p:cNvSpPr txBox="1"/>
          <p:nvPr/>
        </p:nvSpPr>
        <p:spPr>
          <a:xfrm>
            <a:off x="11164824" y="175564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40" name="Text 38"/>
          <p:cNvSpPr txBox="1"/>
          <p:nvPr/>
        </p:nvSpPr>
        <p:spPr>
          <a:xfrm>
            <a:off x="9930384" y="2002536"/>
            <a:ext cx="1234440" cy="246888"/>
          </a:xfrm>
          <a:prstGeom prst="rect">
            <a:avLst/>
          </a:prstGeom>
          <a:noFill/>
          <a:ln/>
        </p:spPr>
        <p:txBody>
          <a:bodyPr wrap="square" lIns="0" tIns="0" rIns="0" bIns="0" rtlCol="0" anchor="ctr"/>
          <a:lstStyle/>
          <a:p>
            <a:pPr indent="0" marL="0">
              <a:buNone/>
            </a:pPr>
            <a:r>
              <a:rPr lang="en-US" sz="1100" dirty="0">
                <a:solidFill>
                  <a:schemeClr val="tx1"/>
                </a:solidFill>
              </a:rPr>
              <a:t>category_name</a:t>
            </a:r>
            <a:endParaRPr lang="en-US" sz="1100" dirty="0"/>
          </a:p>
        </p:txBody>
      </p:sp>
      <p:sp>
        <p:nvSpPr>
          <p:cNvPr id="41" name="Text 39"/>
          <p:cNvSpPr txBox="1"/>
          <p:nvPr/>
        </p:nvSpPr>
        <p:spPr>
          <a:xfrm>
            <a:off x="9930384" y="2249424"/>
            <a:ext cx="1234440" cy="246888"/>
          </a:xfrm>
          <a:prstGeom prst="rect">
            <a:avLst/>
          </a:prstGeom>
          <a:noFill/>
          <a:ln/>
        </p:spPr>
        <p:txBody>
          <a:bodyPr wrap="square" lIns="0" tIns="0" rIns="0" bIns="0" rtlCol="0" anchor="ctr"/>
          <a:lstStyle/>
          <a:p>
            <a:pPr indent="0" marL="0">
              <a:buNone/>
            </a:pPr>
            <a:r>
              <a:rPr lang="en-US" sz="1100" dirty="0">
                <a:solidFill>
                  <a:schemeClr val="tx1"/>
                </a:solidFill>
              </a:rPr>
              <a:t>description</a:t>
            </a:r>
            <a:endParaRPr lang="en-US" sz="1100" dirty="0"/>
          </a:p>
        </p:txBody>
      </p:sp>
      <p:sp>
        <p:nvSpPr>
          <p:cNvPr id="42" name="SUPPLIERS entity"/>
          <p:cNvSpPr/>
          <p:nvPr/>
        </p:nvSpPr>
        <p:spPr>
          <a:xfrm>
            <a:off x="548640" y="3246120"/>
            <a:ext cx="1783080" cy="1143000"/>
          </a:xfrm>
          <a:prstGeom prst="rect">
            <a:avLst/>
          </a:prstGeom>
          <a:solidFill>
            <a:schemeClr val="bg1"/>
          </a:solidFill>
          <a:ln w="15875">
            <a:solidFill>
              <a:schemeClr val="accent1"/>
            </a:solidFill>
            <a:prstDash val="solid"/>
          </a:ln>
        </p:spPr>
      </p:sp>
      <p:sp>
        <p:nvSpPr>
          <p:cNvPr id="43" name="SUPPLIERS header"/>
          <p:cNvSpPr/>
          <p:nvPr/>
        </p:nvSpPr>
        <p:spPr>
          <a:xfrm>
            <a:off x="548640" y="3246120"/>
            <a:ext cx="1783080" cy="329184"/>
          </a:xfrm>
          <a:prstGeom prst="rect">
            <a:avLst/>
          </a:prstGeom>
          <a:solidFill>
            <a:schemeClr val="accent1"/>
          </a:solidFill>
          <a:ln w="15875">
            <a:solidFill>
              <a:schemeClr val="accent1"/>
            </a:solidFill>
            <a:prstDash val="solid"/>
          </a:ln>
        </p:spPr>
      </p:sp>
      <p:sp>
        <p:nvSpPr>
          <p:cNvPr id="44" name="Text 42"/>
          <p:cNvSpPr txBox="1"/>
          <p:nvPr/>
        </p:nvSpPr>
        <p:spPr>
          <a:xfrm>
            <a:off x="548640" y="324612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SUPPLIERS</a:t>
            </a:r>
            <a:endParaRPr lang="en-US" sz="1200" dirty="0"/>
          </a:p>
        </p:txBody>
      </p:sp>
      <p:sp>
        <p:nvSpPr>
          <p:cNvPr id="45" name="Text 43"/>
          <p:cNvSpPr txBox="1"/>
          <p:nvPr/>
        </p:nvSpPr>
        <p:spPr>
          <a:xfrm>
            <a:off x="640080" y="3630168"/>
            <a:ext cx="1234440" cy="246888"/>
          </a:xfrm>
          <a:prstGeom prst="rect">
            <a:avLst/>
          </a:prstGeom>
          <a:noFill/>
          <a:ln/>
        </p:spPr>
        <p:txBody>
          <a:bodyPr wrap="square" lIns="0" tIns="0" rIns="0" bIns="0" rtlCol="0" anchor="ctr"/>
          <a:lstStyle/>
          <a:p>
            <a:pPr indent="0" marL="0">
              <a:buNone/>
            </a:pPr>
            <a:r>
              <a:rPr lang="en-US" sz="1100" dirty="0">
                <a:solidFill>
                  <a:schemeClr val="tx1"/>
                </a:solidFill>
              </a:rPr>
              <a:t>supplier_id</a:t>
            </a:r>
            <a:endParaRPr lang="en-US" sz="1100" dirty="0"/>
          </a:p>
        </p:txBody>
      </p:sp>
      <p:sp>
        <p:nvSpPr>
          <p:cNvPr id="46" name="Text 44"/>
          <p:cNvSpPr txBox="1"/>
          <p:nvPr/>
        </p:nvSpPr>
        <p:spPr>
          <a:xfrm>
            <a:off x="1874520" y="363016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47" name="Text 45"/>
          <p:cNvSpPr txBox="1"/>
          <p:nvPr/>
        </p:nvSpPr>
        <p:spPr>
          <a:xfrm>
            <a:off x="640080" y="3877056"/>
            <a:ext cx="1234440" cy="246888"/>
          </a:xfrm>
          <a:prstGeom prst="rect">
            <a:avLst/>
          </a:prstGeom>
          <a:noFill/>
          <a:ln/>
        </p:spPr>
        <p:txBody>
          <a:bodyPr wrap="square" lIns="0" tIns="0" rIns="0" bIns="0" rtlCol="0" anchor="ctr"/>
          <a:lstStyle/>
          <a:p>
            <a:pPr indent="0" marL="0">
              <a:buNone/>
            </a:pPr>
            <a:r>
              <a:rPr lang="en-US" sz="1100" dirty="0">
                <a:solidFill>
                  <a:schemeClr val="tx1"/>
                </a:solidFill>
              </a:rPr>
              <a:t>supplier_name</a:t>
            </a:r>
            <a:endParaRPr lang="en-US" sz="1100" dirty="0"/>
          </a:p>
        </p:txBody>
      </p:sp>
      <p:sp>
        <p:nvSpPr>
          <p:cNvPr id="48" name="Text 46"/>
          <p:cNvSpPr txBox="1"/>
          <p:nvPr/>
        </p:nvSpPr>
        <p:spPr>
          <a:xfrm>
            <a:off x="640080" y="4123944"/>
            <a:ext cx="1234440" cy="246888"/>
          </a:xfrm>
          <a:prstGeom prst="rect">
            <a:avLst/>
          </a:prstGeom>
          <a:noFill/>
          <a:ln/>
        </p:spPr>
        <p:txBody>
          <a:bodyPr wrap="square" lIns="0" tIns="0" rIns="0" bIns="0" rtlCol="0" anchor="ctr"/>
          <a:lstStyle/>
          <a:p>
            <a:pPr indent="0" marL="0">
              <a:buNone/>
            </a:pPr>
            <a:r>
              <a:rPr lang="en-US" sz="1100" dirty="0">
                <a:solidFill>
                  <a:schemeClr val="tx1"/>
                </a:solidFill>
              </a:rPr>
              <a:t>contact</a:t>
            </a:r>
            <a:endParaRPr lang="en-US" sz="1100" dirty="0"/>
          </a:p>
        </p:txBody>
      </p:sp>
      <p:sp>
        <p:nvSpPr>
          <p:cNvPr id="49" name="PURCHASES entity"/>
          <p:cNvSpPr/>
          <p:nvPr/>
        </p:nvSpPr>
        <p:spPr>
          <a:xfrm>
            <a:off x="2871216" y="3246120"/>
            <a:ext cx="1783080" cy="1143000"/>
          </a:xfrm>
          <a:prstGeom prst="rect">
            <a:avLst/>
          </a:prstGeom>
          <a:solidFill>
            <a:schemeClr val="bg1"/>
          </a:solidFill>
          <a:ln w="15875">
            <a:solidFill>
              <a:schemeClr val="accent1"/>
            </a:solidFill>
            <a:prstDash val="solid"/>
          </a:ln>
        </p:spPr>
      </p:sp>
      <p:sp>
        <p:nvSpPr>
          <p:cNvPr id="50" name="PURCHASES header"/>
          <p:cNvSpPr/>
          <p:nvPr/>
        </p:nvSpPr>
        <p:spPr>
          <a:xfrm>
            <a:off x="2871216" y="3246120"/>
            <a:ext cx="1783080" cy="329184"/>
          </a:xfrm>
          <a:prstGeom prst="rect">
            <a:avLst/>
          </a:prstGeom>
          <a:solidFill>
            <a:schemeClr val="accent1"/>
          </a:solidFill>
          <a:ln w="15875">
            <a:solidFill>
              <a:schemeClr val="accent1"/>
            </a:solidFill>
            <a:prstDash val="solid"/>
          </a:ln>
        </p:spPr>
      </p:sp>
      <p:sp>
        <p:nvSpPr>
          <p:cNvPr id="51" name="Text 49"/>
          <p:cNvSpPr txBox="1"/>
          <p:nvPr/>
        </p:nvSpPr>
        <p:spPr>
          <a:xfrm>
            <a:off x="2871216" y="324612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PURCHASES</a:t>
            </a:r>
            <a:endParaRPr lang="en-US" sz="1200" dirty="0"/>
          </a:p>
        </p:txBody>
      </p:sp>
      <p:sp>
        <p:nvSpPr>
          <p:cNvPr id="52" name="Text 50"/>
          <p:cNvSpPr txBox="1"/>
          <p:nvPr/>
        </p:nvSpPr>
        <p:spPr>
          <a:xfrm>
            <a:off x="2962656" y="3630168"/>
            <a:ext cx="1234440" cy="246888"/>
          </a:xfrm>
          <a:prstGeom prst="rect">
            <a:avLst/>
          </a:prstGeom>
          <a:noFill/>
          <a:ln/>
        </p:spPr>
        <p:txBody>
          <a:bodyPr wrap="square" lIns="0" tIns="0" rIns="0" bIns="0" rtlCol="0" anchor="ctr"/>
          <a:lstStyle/>
          <a:p>
            <a:pPr indent="0" marL="0">
              <a:buNone/>
            </a:pPr>
            <a:r>
              <a:rPr lang="en-US" sz="1100" dirty="0">
                <a:solidFill>
                  <a:schemeClr val="tx1"/>
                </a:solidFill>
              </a:rPr>
              <a:t>purchase_id</a:t>
            </a:r>
            <a:endParaRPr lang="en-US" sz="1100" dirty="0"/>
          </a:p>
        </p:txBody>
      </p:sp>
      <p:sp>
        <p:nvSpPr>
          <p:cNvPr id="53" name="Text 51"/>
          <p:cNvSpPr txBox="1"/>
          <p:nvPr/>
        </p:nvSpPr>
        <p:spPr>
          <a:xfrm>
            <a:off x="4197096" y="363016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54" name="Text 52"/>
          <p:cNvSpPr txBox="1"/>
          <p:nvPr/>
        </p:nvSpPr>
        <p:spPr>
          <a:xfrm>
            <a:off x="2962656" y="3877056"/>
            <a:ext cx="1234440" cy="246888"/>
          </a:xfrm>
          <a:prstGeom prst="rect">
            <a:avLst/>
          </a:prstGeom>
          <a:noFill/>
          <a:ln/>
        </p:spPr>
        <p:txBody>
          <a:bodyPr wrap="square" lIns="0" tIns="0" rIns="0" bIns="0" rtlCol="0" anchor="ctr"/>
          <a:lstStyle/>
          <a:p>
            <a:pPr indent="0" marL="0">
              <a:buNone/>
            </a:pPr>
            <a:r>
              <a:rPr lang="en-US" sz="1100" dirty="0">
                <a:solidFill>
                  <a:schemeClr val="tx1"/>
                </a:solidFill>
              </a:rPr>
              <a:t>supplier_id</a:t>
            </a:r>
            <a:endParaRPr lang="en-US" sz="1100" dirty="0"/>
          </a:p>
        </p:txBody>
      </p:sp>
      <p:sp>
        <p:nvSpPr>
          <p:cNvPr id="55" name="Text 53"/>
          <p:cNvSpPr txBox="1"/>
          <p:nvPr/>
        </p:nvSpPr>
        <p:spPr>
          <a:xfrm>
            <a:off x="4197096" y="3877056"/>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56" name="Text 54"/>
          <p:cNvSpPr txBox="1"/>
          <p:nvPr/>
        </p:nvSpPr>
        <p:spPr>
          <a:xfrm>
            <a:off x="2962656" y="4123944"/>
            <a:ext cx="1234440" cy="246888"/>
          </a:xfrm>
          <a:prstGeom prst="rect">
            <a:avLst/>
          </a:prstGeom>
          <a:noFill/>
          <a:ln/>
        </p:spPr>
        <p:txBody>
          <a:bodyPr wrap="square" lIns="0" tIns="0" rIns="0" bIns="0" rtlCol="0" anchor="ctr"/>
          <a:lstStyle/>
          <a:p>
            <a:pPr indent="0" marL="0">
              <a:buNone/>
            </a:pPr>
            <a:r>
              <a:rPr lang="en-US" sz="1100" dirty="0">
                <a:solidFill>
                  <a:schemeClr val="tx1"/>
                </a:solidFill>
              </a:rPr>
              <a:t>purchase_date</a:t>
            </a:r>
            <a:endParaRPr lang="en-US" sz="1100" dirty="0"/>
          </a:p>
        </p:txBody>
      </p:sp>
      <p:sp>
        <p:nvSpPr>
          <p:cNvPr id="57" name="PURCHASE_ITEMS entity"/>
          <p:cNvSpPr/>
          <p:nvPr/>
        </p:nvSpPr>
        <p:spPr>
          <a:xfrm>
            <a:off x="5193792" y="3246120"/>
            <a:ext cx="1783080" cy="1143000"/>
          </a:xfrm>
          <a:prstGeom prst="rect">
            <a:avLst/>
          </a:prstGeom>
          <a:solidFill>
            <a:schemeClr val="bg1"/>
          </a:solidFill>
          <a:ln w="15875">
            <a:solidFill>
              <a:schemeClr val="accent1"/>
            </a:solidFill>
            <a:prstDash val="solid"/>
          </a:ln>
        </p:spPr>
      </p:sp>
      <p:sp>
        <p:nvSpPr>
          <p:cNvPr id="58" name="PURCHASE_ITEMS header"/>
          <p:cNvSpPr/>
          <p:nvPr/>
        </p:nvSpPr>
        <p:spPr>
          <a:xfrm>
            <a:off x="5193792" y="3246120"/>
            <a:ext cx="1783080" cy="329184"/>
          </a:xfrm>
          <a:prstGeom prst="rect">
            <a:avLst/>
          </a:prstGeom>
          <a:solidFill>
            <a:schemeClr val="accent1"/>
          </a:solidFill>
          <a:ln w="15875">
            <a:solidFill>
              <a:schemeClr val="accent1"/>
            </a:solidFill>
            <a:prstDash val="solid"/>
          </a:ln>
        </p:spPr>
      </p:sp>
      <p:sp>
        <p:nvSpPr>
          <p:cNvPr id="59" name="Text 57"/>
          <p:cNvSpPr txBox="1"/>
          <p:nvPr/>
        </p:nvSpPr>
        <p:spPr>
          <a:xfrm>
            <a:off x="5193792" y="324612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PURCHASE_ITEMS</a:t>
            </a:r>
            <a:endParaRPr lang="en-US" sz="1200" dirty="0"/>
          </a:p>
        </p:txBody>
      </p:sp>
      <p:sp>
        <p:nvSpPr>
          <p:cNvPr id="60" name="Text 58"/>
          <p:cNvSpPr txBox="1"/>
          <p:nvPr/>
        </p:nvSpPr>
        <p:spPr>
          <a:xfrm>
            <a:off x="5285232" y="3630168"/>
            <a:ext cx="1234440" cy="246888"/>
          </a:xfrm>
          <a:prstGeom prst="rect">
            <a:avLst/>
          </a:prstGeom>
          <a:noFill/>
          <a:ln/>
        </p:spPr>
        <p:txBody>
          <a:bodyPr wrap="square" lIns="0" tIns="0" rIns="0" bIns="0" rtlCol="0" anchor="ctr"/>
          <a:lstStyle/>
          <a:p>
            <a:pPr indent="0" marL="0">
              <a:buNone/>
            </a:pPr>
            <a:r>
              <a:rPr lang="en-US" sz="1100" dirty="0">
                <a:solidFill>
                  <a:schemeClr val="tx1"/>
                </a:solidFill>
              </a:rPr>
              <a:t>purchase_item_id</a:t>
            </a:r>
            <a:endParaRPr lang="en-US" sz="1100" dirty="0"/>
          </a:p>
        </p:txBody>
      </p:sp>
      <p:sp>
        <p:nvSpPr>
          <p:cNvPr id="61" name="Text 59"/>
          <p:cNvSpPr txBox="1"/>
          <p:nvPr/>
        </p:nvSpPr>
        <p:spPr>
          <a:xfrm>
            <a:off x="6519672" y="363016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62" name="Text 60"/>
          <p:cNvSpPr txBox="1"/>
          <p:nvPr/>
        </p:nvSpPr>
        <p:spPr>
          <a:xfrm>
            <a:off x="5285232" y="3877056"/>
            <a:ext cx="1234440" cy="246888"/>
          </a:xfrm>
          <a:prstGeom prst="rect">
            <a:avLst/>
          </a:prstGeom>
          <a:noFill/>
          <a:ln/>
        </p:spPr>
        <p:txBody>
          <a:bodyPr wrap="square" lIns="0" tIns="0" rIns="0" bIns="0" rtlCol="0" anchor="ctr"/>
          <a:lstStyle/>
          <a:p>
            <a:pPr indent="0" marL="0">
              <a:buNone/>
            </a:pPr>
            <a:r>
              <a:rPr lang="en-US" sz="1100" dirty="0">
                <a:solidFill>
                  <a:schemeClr val="tx1"/>
                </a:solidFill>
              </a:rPr>
              <a:t>purchase_id</a:t>
            </a:r>
            <a:endParaRPr lang="en-US" sz="1100" dirty="0"/>
          </a:p>
        </p:txBody>
      </p:sp>
      <p:sp>
        <p:nvSpPr>
          <p:cNvPr id="63" name="Text 61"/>
          <p:cNvSpPr txBox="1"/>
          <p:nvPr/>
        </p:nvSpPr>
        <p:spPr>
          <a:xfrm>
            <a:off x="6519672" y="3877056"/>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64" name="Text 62"/>
          <p:cNvSpPr txBox="1"/>
          <p:nvPr/>
        </p:nvSpPr>
        <p:spPr>
          <a:xfrm>
            <a:off x="5285232" y="4123944"/>
            <a:ext cx="1234440" cy="246888"/>
          </a:xfrm>
          <a:prstGeom prst="rect">
            <a:avLst/>
          </a:prstGeom>
          <a:noFill/>
          <a:ln/>
        </p:spPr>
        <p:txBody>
          <a:bodyPr wrap="square" lIns="0" tIns="0" rIns="0" bIns="0" rtlCol="0" anchor="ctr"/>
          <a:lstStyle/>
          <a:p>
            <a:pPr indent="0" marL="0">
              <a:buNone/>
            </a:pPr>
            <a:r>
              <a:rPr lang="en-US" sz="1100" dirty="0">
                <a:solidFill>
                  <a:schemeClr val="tx1"/>
                </a:solidFill>
              </a:rPr>
              <a:t>product_id</a:t>
            </a:r>
            <a:endParaRPr lang="en-US" sz="1100" dirty="0"/>
          </a:p>
        </p:txBody>
      </p:sp>
      <p:sp>
        <p:nvSpPr>
          <p:cNvPr id="65" name="Text 63"/>
          <p:cNvSpPr txBox="1"/>
          <p:nvPr/>
        </p:nvSpPr>
        <p:spPr>
          <a:xfrm>
            <a:off x="6519672" y="4123944"/>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66" name="STOCK_MOVEMENTS entity"/>
          <p:cNvSpPr/>
          <p:nvPr/>
        </p:nvSpPr>
        <p:spPr>
          <a:xfrm>
            <a:off x="7516368" y="3246120"/>
            <a:ext cx="1783080" cy="1143000"/>
          </a:xfrm>
          <a:prstGeom prst="rect">
            <a:avLst/>
          </a:prstGeom>
          <a:solidFill>
            <a:schemeClr val="bg1"/>
          </a:solidFill>
          <a:ln w="15875">
            <a:solidFill>
              <a:schemeClr val="accent1"/>
            </a:solidFill>
            <a:prstDash val="solid"/>
          </a:ln>
        </p:spPr>
      </p:sp>
      <p:sp>
        <p:nvSpPr>
          <p:cNvPr id="67" name="STOCK_MOVEMENTS header"/>
          <p:cNvSpPr/>
          <p:nvPr/>
        </p:nvSpPr>
        <p:spPr>
          <a:xfrm>
            <a:off x="7516368" y="3246120"/>
            <a:ext cx="1783080" cy="329184"/>
          </a:xfrm>
          <a:prstGeom prst="rect">
            <a:avLst/>
          </a:prstGeom>
          <a:solidFill>
            <a:schemeClr val="accent1"/>
          </a:solidFill>
          <a:ln w="15875">
            <a:solidFill>
              <a:schemeClr val="accent1"/>
            </a:solidFill>
            <a:prstDash val="solid"/>
          </a:ln>
        </p:spPr>
      </p:sp>
      <p:sp>
        <p:nvSpPr>
          <p:cNvPr id="68" name="Text 66"/>
          <p:cNvSpPr txBox="1"/>
          <p:nvPr/>
        </p:nvSpPr>
        <p:spPr>
          <a:xfrm>
            <a:off x="7516368" y="3246120"/>
            <a:ext cx="1783080" cy="329184"/>
          </a:xfrm>
          <a:prstGeom prst="rect">
            <a:avLst/>
          </a:prstGeom>
          <a:noFill/>
          <a:ln/>
        </p:spPr>
        <p:txBody>
          <a:bodyPr wrap="square" lIns="0" tIns="0" rIns="0" bIns="0" rtlCol="0" anchor="ctr"/>
          <a:lstStyle/>
          <a:p>
            <a:pPr algn="ctr" indent="0" marL="0">
              <a:buNone/>
            </a:pPr>
            <a:r>
              <a:rPr lang="en-US" sz="1200" b="1" dirty="0">
                <a:solidFill>
                  <a:schemeClr val="bg1"/>
                </a:solidFill>
              </a:rPr>
              <a:t>STOCK_MOVEMENTS</a:t>
            </a:r>
            <a:endParaRPr lang="en-US" sz="1200" dirty="0"/>
          </a:p>
        </p:txBody>
      </p:sp>
      <p:sp>
        <p:nvSpPr>
          <p:cNvPr id="69" name="Text 67"/>
          <p:cNvSpPr txBox="1"/>
          <p:nvPr/>
        </p:nvSpPr>
        <p:spPr>
          <a:xfrm>
            <a:off x="7607808" y="3630168"/>
            <a:ext cx="1234440" cy="246888"/>
          </a:xfrm>
          <a:prstGeom prst="rect">
            <a:avLst/>
          </a:prstGeom>
          <a:noFill/>
          <a:ln/>
        </p:spPr>
        <p:txBody>
          <a:bodyPr wrap="square" lIns="0" tIns="0" rIns="0" bIns="0" rtlCol="0" anchor="ctr"/>
          <a:lstStyle/>
          <a:p>
            <a:pPr indent="0" marL="0">
              <a:buNone/>
            </a:pPr>
            <a:r>
              <a:rPr lang="en-US" sz="1100" dirty="0">
                <a:solidFill>
                  <a:schemeClr val="tx1"/>
                </a:solidFill>
              </a:rPr>
              <a:t>movement_id</a:t>
            </a:r>
            <a:endParaRPr lang="en-US" sz="1100" dirty="0"/>
          </a:p>
        </p:txBody>
      </p:sp>
      <p:sp>
        <p:nvSpPr>
          <p:cNvPr id="70" name="Text 68"/>
          <p:cNvSpPr txBox="1"/>
          <p:nvPr/>
        </p:nvSpPr>
        <p:spPr>
          <a:xfrm>
            <a:off x="8842248" y="3630168"/>
            <a:ext cx="365760" cy="246888"/>
          </a:xfrm>
          <a:prstGeom prst="rect">
            <a:avLst/>
          </a:prstGeom>
          <a:noFill/>
          <a:ln/>
        </p:spPr>
        <p:txBody>
          <a:bodyPr wrap="square" lIns="0" tIns="0" rIns="0" bIns="0" rtlCol="0" anchor="ctr"/>
          <a:lstStyle/>
          <a:p>
            <a:pPr algn="r" indent="0" marL="0">
              <a:buNone/>
            </a:pPr>
            <a:r>
              <a:rPr lang="en-US" sz="1000" b="1" dirty="0">
                <a:solidFill>
                  <a:schemeClr val="accent4"/>
                </a:solidFill>
              </a:rPr>
              <a:t>PK</a:t>
            </a:r>
            <a:endParaRPr lang="en-US" sz="1000" dirty="0"/>
          </a:p>
        </p:txBody>
      </p:sp>
      <p:sp>
        <p:nvSpPr>
          <p:cNvPr id="71" name="Text 69"/>
          <p:cNvSpPr txBox="1"/>
          <p:nvPr/>
        </p:nvSpPr>
        <p:spPr>
          <a:xfrm>
            <a:off x="7607808" y="3877056"/>
            <a:ext cx="1234440" cy="246888"/>
          </a:xfrm>
          <a:prstGeom prst="rect">
            <a:avLst/>
          </a:prstGeom>
          <a:noFill/>
          <a:ln/>
        </p:spPr>
        <p:txBody>
          <a:bodyPr wrap="square" lIns="0" tIns="0" rIns="0" bIns="0" rtlCol="0" anchor="ctr"/>
          <a:lstStyle/>
          <a:p>
            <a:pPr indent="0" marL="0">
              <a:buNone/>
            </a:pPr>
            <a:r>
              <a:rPr lang="en-US" sz="1100" dirty="0">
                <a:solidFill>
                  <a:schemeClr val="tx1"/>
                </a:solidFill>
              </a:rPr>
              <a:t>product_id</a:t>
            </a:r>
            <a:endParaRPr lang="en-US" sz="1100" dirty="0"/>
          </a:p>
        </p:txBody>
      </p:sp>
      <p:sp>
        <p:nvSpPr>
          <p:cNvPr id="72" name="Text 70"/>
          <p:cNvSpPr txBox="1"/>
          <p:nvPr/>
        </p:nvSpPr>
        <p:spPr>
          <a:xfrm>
            <a:off x="8842248" y="3877056"/>
            <a:ext cx="365760" cy="246888"/>
          </a:xfrm>
          <a:prstGeom prst="rect">
            <a:avLst/>
          </a:prstGeom>
          <a:noFill/>
          <a:ln/>
        </p:spPr>
        <p:txBody>
          <a:bodyPr wrap="square" lIns="0" tIns="0" rIns="0" bIns="0" rtlCol="0" anchor="ctr"/>
          <a:lstStyle/>
          <a:p>
            <a:pPr algn="r" indent="0" marL="0">
              <a:buNone/>
            </a:pPr>
            <a:r>
              <a:rPr lang="en-US" sz="1000" b="1" dirty="0">
                <a:solidFill>
                  <a:schemeClr val="accent5"/>
                </a:solidFill>
              </a:rPr>
              <a:t>FK</a:t>
            </a:r>
            <a:endParaRPr lang="en-US" sz="1000" dirty="0"/>
          </a:p>
        </p:txBody>
      </p:sp>
      <p:sp>
        <p:nvSpPr>
          <p:cNvPr id="73" name="Text 71"/>
          <p:cNvSpPr txBox="1"/>
          <p:nvPr/>
        </p:nvSpPr>
        <p:spPr>
          <a:xfrm>
            <a:off x="7607808" y="4123944"/>
            <a:ext cx="1234440" cy="246888"/>
          </a:xfrm>
          <a:prstGeom prst="rect">
            <a:avLst/>
          </a:prstGeom>
          <a:noFill/>
          <a:ln/>
        </p:spPr>
        <p:txBody>
          <a:bodyPr wrap="square" lIns="0" tIns="0" rIns="0" bIns="0" rtlCol="0" anchor="ctr"/>
          <a:lstStyle/>
          <a:p>
            <a:pPr indent="0" marL="0">
              <a:buNone/>
            </a:pPr>
            <a:r>
              <a:rPr lang="en-US" sz="1100" dirty="0">
                <a:solidFill>
                  <a:schemeClr val="tx1"/>
                </a:solidFill>
              </a:rPr>
              <a:t>change_qty</a:t>
            </a:r>
            <a:endParaRPr lang="en-US" sz="1100" dirty="0"/>
          </a:p>
        </p:txBody>
      </p:sp>
      <p:sp>
        <p:nvSpPr>
          <p:cNvPr id="74" name="Relationship line"/>
          <p:cNvSpPr/>
          <p:nvPr/>
        </p:nvSpPr>
        <p:spPr>
          <a:xfrm>
            <a:off x="2331720" y="1938528"/>
            <a:ext cx="539496" cy="0"/>
          </a:xfrm>
          <a:prstGeom prst="line">
            <a:avLst/>
          </a:prstGeom>
          <a:noFill/>
          <a:ln w="19050">
            <a:solidFill>
              <a:schemeClr val="tx1"/>
            </a:solidFill>
            <a:prstDash val="solid"/>
          </a:ln>
        </p:spPr>
      </p:sp>
      <p:sp>
        <p:nvSpPr>
          <p:cNvPr id="75" name="Text 73"/>
          <p:cNvSpPr txBox="1"/>
          <p:nvPr/>
        </p:nvSpPr>
        <p:spPr>
          <a:xfrm>
            <a:off x="2368296"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76" name="Text 74"/>
          <p:cNvSpPr txBox="1"/>
          <p:nvPr/>
        </p:nvSpPr>
        <p:spPr>
          <a:xfrm>
            <a:off x="2651760"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N</a:t>
            </a:r>
            <a:endParaRPr lang="en-US" sz="1200" dirty="0"/>
          </a:p>
        </p:txBody>
      </p:sp>
      <p:sp>
        <p:nvSpPr>
          <p:cNvPr id="77" name="Relationship line"/>
          <p:cNvSpPr/>
          <p:nvPr/>
        </p:nvSpPr>
        <p:spPr>
          <a:xfrm>
            <a:off x="4654296" y="1938528"/>
            <a:ext cx="539496" cy="0"/>
          </a:xfrm>
          <a:prstGeom prst="line">
            <a:avLst/>
          </a:prstGeom>
          <a:noFill/>
          <a:ln w="19050">
            <a:solidFill>
              <a:schemeClr val="tx1"/>
            </a:solidFill>
            <a:prstDash val="solid"/>
          </a:ln>
        </p:spPr>
      </p:sp>
      <p:sp>
        <p:nvSpPr>
          <p:cNvPr id="78" name="Text 76"/>
          <p:cNvSpPr txBox="1"/>
          <p:nvPr/>
        </p:nvSpPr>
        <p:spPr>
          <a:xfrm>
            <a:off x="4690872"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79" name="Text 77"/>
          <p:cNvSpPr txBox="1"/>
          <p:nvPr/>
        </p:nvSpPr>
        <p:spPr>
          <a:xfrm>
            <a:off x="4974336"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N</a:t>
            </a:r>
            <a:endParaRPr lang="en-US" sz="1200" dirty="0"/>
          </a:p>
        </p:txBody>
      </p:sp>
      <p:sp>
        <p:nvSpPr>
          <p:cNvPr id="80" name="Relationship line"/>
          <p:cNvSpPr/>
          <p:nvPr/>
        </p:nvSpPr>
        <p:spPr>
          <a:xfrm>
            <a:off x="6976872" y="1938528"/>
            <a:ext cx="539496" cy="0"/>
          </a:xfrm>
          <a:prstGeom prst="line">
            <a:avLst/>
          </a:prstGeom>
          <a:noFill/>
          <a:ln w="19050">
            <a:solidFill>
              <a:schemeClr val="tx1"/>
            </a:solidFill>
            <a:prstDash val="solid"/>
          </a:ln>
        </p:spPr>
      </p:sp>
      <p:sp>
        <p:nvSpPr>
          <p:cNvPr id="81" name="Text 79"/>
          <p:cNvSpPr txBox="1"/>
          <p:nvPr/>
        </p:nvSpPr>
        <p:spPr>
          <a:xfrm>
            <a:off x="7013448"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N</a:t>
            </a:r>
            <a:endParaRPr lang="en-US" sz="1200" dirty="0"/>
          </a:p>
        </p:txBody>
      </p:sp>
      <p:sp>
        <p:nvSpPr>
          <p:cNvPr id="82" name="Text 80"/>
          <p:cNvSpPr txBox="1"/>
          <p:nvPr/>
        </p:nvSpPr>
        <p:spPr>
          <a:xfrm>
            <a:off x="7296912"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83" name="Relationship line"/>
          <p:cNvSpPr/>
          <p:nvPr/>
        </p:nvSpPr>
        <p:spPr>
          <a:xfrm>
            <a:off x="9299448" y="1938528"/>
            <a:ext cx="539496" cy="0"/>
          </a:xfrm>
          <a:prstGeom prst="line">
            <a:avLst/>
          </a:prstGeom>
          <a:noFill/>
          <a:ln w="19050">
            <a:solidFill>
              <a:schemeClr val="tx1"/>
            </a:solidFill>
            <a:prstDash val="solid"/>
          </a:ln>
        </p:spPr>
      </p:sp>
      <p:sp>
        <p:nvSpPr>
          <p:cNvPr id="84" name="Text 82"/>
          <p:cNvSpPr txBox="1"/>
          <p:nvPr/>
        </p:nvSpPr>
        <p:spPr>
          <a:xfrm>
            <a:off x="9336024"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N</a:t>
            </a:r>
            <a:endParaRPr lang="en-US" sz="1200" dirty="0"/>
          </a:p>
        </p:txBody>
      </p:sp>
      <p:sp>
        <p:nvSpPr>
          <p:cNvPr id="85" name="Text 83"/>
          <p:cNvSpPr txBox="1"/>
          <p:nvPr/>
        </p:nvSpPr>
        <p:spPr>
          <a:xfrm>
            <a:off x="9619488" y="168249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86" name="Relationship line"/>
          <p:cNvSpPr/>
          <p:nvPr/>
        </p:nvSpPr>
        <p:spPr>
          <a:xfrm>
            <a:off x="2331720" y="3813048"/>
            <a:ext cx="539496" cy="0"/>
          </a:xfrm>
          <a:prstGeom prst="line">
            <a:avLst/>
          </a:prstGeom>
          <a:noFill/>
          <a:ln w="19050">
            <a:solidFill>
              <a:schemeClr val="tx1"/>
            </a:solidFill>
            <a:prstDash val="solid"/>
          </a:ln>
        </p:spPr>
      </p:sp>
      <p:sp>
        <p:nvSpPr>
          <p:cNvPr id="87" name="Text 85"/>
          <p:cNvSpPr txBox="1"/>
          <p:nvPr/>
        </p:nvSpPr>
        <p:spPr>
          <a:xfrm>
            <a:off x="2368296" y="355701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88" name="Text 86"/>
          <p:cNvSpPr txBox="1"/>
          <p:nvPr/>
        </p:nvSpPr>
        <p:spPr>
          <a:xfrm>
            <a:off x="2651760" y="355701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N</a:t>
            </a:r>
            <a:endParaRPr lang="en-US" sz="1200" dirty="0"/>
          </a:p>
        </p:txBody>
      </p:sp>
      <p:sp>
        <p:nvSpPr>
          <p:cNvPr id="89" name="Relationship line"/>
          <p:cNvSpPr/>
          <p:nvPr/>
        </p:nvSpPr>
        <p:spPr>
          <a:xfrm>
            <a:off x="4654296" y="3813048"/>
            <a:ext cx="539496" cy="0"/>
          </a:xfrm>
          <a:prstGeom prst="line">
            <a:avLst/>
          </a:prstGeom>
          <a:noFill/>
          <a:ln w="19050">
            <a:solidFill>
              <a:schemeClr val="tx1"/>
            </a:solidFill>
            <a:prstDash val="solid"/>
          </a:ln>
        </p:spPr>
      </p:sp>
      <p:sp>
        <p:nvSpPr>
          <p:cNvPr id="90" name="Text 88"/>
          <p:cNvSpPr txBox="1"/>
          <p:nvPr/>
        </p:nvSpPr>
        <p:spPr>
          <a:xfrm>
            <a:off x="4690872" y="355701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1</a:t>
            </a:r>
            <a:endParaRPr lang="en-US" sz="1200" dirty="0"/>
          </a:p>
        </p:txBody>
      </p:sp>
      <p:sp>
        <p:nvSpPr>
          <p:cNvPr id="91" name="Text 89"/>
          <p:cNvSpPr txBox="1"/>
          <p:nvPr/>
        </p:nvSpPr>
        <p:spPr>
          <a:xfrm>
            <a:off x="4974336" y="3557016"/>
            <a:ext cx="182880" cy="228600"/>
          </a:xfrm>
          <a:prstGeom prst="rect">
            <a:avLst/>
          </a:prstGeom>
          <a:noFill/>
          <a:ln/>
        </p:spPr>
        <p:txBody>
          <a:bodyPr wrap="square" lIns="0" tIns="0" rIns="0" bIns="0" rtlCol="0" anchor="t"/>
          <a:lstStyle/>
          <a:p>
            <a:pPr algn="ctr" indent="0" marL="0">
              <a:buNone/>
            </a:pPr>
            <a:r>
              <a:rPr lang="en-US" sz="1200" b="1" dirty="0">
                <a:solidFill>
                  <a:schemeClr val="accent4"/>
                </a:solidFill>
              </a:rPr>
              <a:t>N</a:t>
            </a:r>
            <a:endParaRPr lang="en-US" sz="1200" dirty="0"/>
          </a:p>
        </p:txBody>
      </p:sp>
      <p:sp>
        <p:nvSpPr>
          <p:cNvPr id="92" name="Relationship line"/>
          <p:cNvSpPr/>
          <p:nvPr/>
        </p:nvSpPr>
        <p:spPr>
          <a:xfrm>
            <a:off x="8407908" y="2514600"/>
            <a:ext cx="0" cy="731520"/>
          </a:xfrm>
          <a:prstGeom prst="line">
            <a:avLst/>
          </a:prstGeom>
          <a:noFill/>
          <a:ln w="19050">
            <a:solidFill>
              <a:schemeClr val="tx1"/>
            </a:solidFill>
            <a:prstDash val="solid"/>
          </a:ln>
        </p:spPr>
      </p:sp>
      <p:sp>
        <p:nvSpPr>
          <p:cNvPr id="93" name="Text 91"/>
          <p:cNvSpPr txBox="1"/>
          <p:nvPr/>
        </p:nvSpPr>
        <p:spPr>
          <a:xfrm>
            <a:off x="8481060" y="2542032"/>
            <a:ext cx="182880" cy="228600"/>
          </a:xfrm>
          <a:prstGeom prst="rect">
            <a:avLst/>
          </a:prstGeom>
          <a:noFill/>
          <a:ln/>
        </p:spPr>
        <p:txBody>
          <a:bodyPr wrap="square" lIns="0" tIns="0" rIns="0" bIns="0" rtlCol="0" anchor="t"/>
          <a:lstStyle/>
          <a:p>
            <a:pPr indent="0" marL="0">
              <a:buNone/>
            </a:pPr>
            <a:r>
              <a:rPr lang="en-US" sz="1200" b="1" dirty="0">
                <a:solidFill>
                  <a:schemeClr val="accent4"/>
                </a:solidFill>
              </a:rPr>
              <a:t>1</a:t>
            </a:r>
            <a:endParaRPr lang="en-US" sz="1200" dirty="0"/>
          </a:p>
        </p:txBody>
      </p:sp>
      <p:sp>
        <p:nvSpPr>
          <p:cNvPr id="94" name="Text 92"/>
          <p:cNvSpPr txBox="1"/>
          <p:nvPr/>
        </p:nvSpPr>
        <p:spPr>
          <a:xfrm>
            <a:off x="8481060" y="2971800"/>
            <a:ext cx="182880" cy="228600"/>
          </a:xfrm>
          <a:prstGeom prst="rect">
            <a:avLst/>
          </a:prstGeom>
          <a:noFill/>
          <a:ln/>
        </p:spPr>
        <p:txBody>
          <a:bodyPr wrap="square" lIns="0" tIns="0" rIns="0" bIns="0" rtlCol="0" anchor="t"/>
          <a:lstStyle/>
          <a:p>
            <a:pPr indent="0" marL="0">
              <a:buNone/>
            </a:pPr>
            <a:r>
              <a:rPr lang="en-US" sz="1200" b="1" dirty="0">
                <a:solidFill>
                  <a:schemeClr val="accent4"/>
                </a:solidFill>
              </a:rPr>
              <a:t>N</a:t>
            </a:r>
            <a:endParaRPr lang="en-US" sz="1200" dirty="0"/>
          </a:p>
        </p:txBody>
      </p:sp>
      <p:sp>
        <p:nvSpPr>
          <p:cNvPr id="95" name="Legend"/>
          <p:cNvSpPr/>
          <p:nvPr/>
        </p:nvSpPr>
        <p:spPr>
          <a:xfrm>
            <a:off x="9838944" y="3246120"/>
            <a:ext cx="1783080" cy="1143000"/>
          </a:xfrm>
          <a:prstGeom prst="roundRect">
            <a:avLst>
              <a:gd name="adj" fmla="val 9600"/>
            </a:avLst>
          </a:prstGeom>
          <a:solidFill>
            <a:schemeClr val="bg2"/>
          </a:solidFill>
          <a:ln w="6350">
            <a:solidFill>
              <a:schemeClr val="bg2"/>
            </a:solidFill>
            <a:prstDash val="solid"/>
          </a:ln>
        </p:spPr>
      </p:sp>
      <p:sp>
        <p:nvSpPr>
          <p:cNvPr id="96" name="Text 94"/>
          <p:cNvSpPr txBox="1"/>
          <p:nvPr/>
        </p:nvSpPr>
        <p:spPr>
          <a:xfrm>
            <a:off x="9976104" y="3383280"/>
            <a:ext cx="1554480" cy="868680"/>
          </a:xfrm>
          <a:prstGeom prst="rect">
            <a:avLst/>
          </a:prstGeom>
          <a:noFill/>
          <a:ln/>
        </p:spPr>
        <p:txBody>
          <a:bodyPr wrap="square" lIns="0" tIns="0" rIns="0" bIns="0" rtlCol="0" anchor="ctr"/>
          <a:lstStyle/>
          <a:p>
            <a:pPr indent="0" marL="0">
              <a:buNone/>
            </a:pPr>
            <a:r>
              <a:rPr lang="en-US" sz="1200" dirty="0">
                <a:solidFill>
                  <a:schemeClr val="tx1"/>
                </a:solidFill>
              </a:rPr>
              <a:t>PK  primary key</a:t>
            </a:r>
            <a:endParaRPr lang="en-US" sz="1200" dirty="0"/>
          </a:p>
          <a:p>
            <a:pPr indent="0" marL="0">
              <a:buNone/>
            </a:pPr>
            <a:r>
              <a:rPr lang="en-US" sz="1200" dirty="0">
                <a:solidFill>
                  <a:schemeClr val="tx1"/>
                </a:solidFill>
              </a:rPr>
              <a:t>FK  foreign key</a:t>
            </a:r>
            <a:endParaRPr lang="en-US" sz="1200" dirty="0"/>
          </a:p>
          <a:p>
            <a:pPr indent="0" marL="0">
              <a:buNone/>
            </a:pPr>
            <a:r>
              <a:rPr lang="en-US" sz="1200" dirty="0">
                <a:solidFill>
                  <a:schemeClr val="tx1"/>
                </a:solidFill>
              </a:rPr>
              <a:t>1 : N  one-to-many</a:t>
            </a:r>
            <a:endParaRPr lang="en-US" sz="1200" dirty="0"/>
          </a:p>
        </p:txBody>
      </p:sp>
      <p:graphicFrame>
        <p:nvGraphicFramePr>
          <p:cNvPr id="8" name="Invoice example"/>
          <p:cNvGraphicFramePr>
            <a:graphicFrameLocks noGrp="1"/>
          </p:cNvGraphicFramePr>
          <p:nvPr>
            <p:extLst>
              <p:ext uri="{D42A27DB-BD31-4B8C-83A1-F6EECF244321}">
                <p14:modId xmlns:p14="http://schemas.microsoft.com/office/powerpoint/2010/main" val="1579011935"/>
              </p:ext>
            </p:extLst>
          </p:nvPr>
        </p:nvGraphicFramePr>
        <p:xfrm>
          <a:off x="548640" y="4892040"/>
          <a:ext cx="6949440" cy="914400"/>
        </p:xfrm>
        <a:graphic>
          <a:graphicData uri="http://schemas.openxmlformats.org/drawingml/2006/table">
            <a:tbl>
              <a:tblPr/>
              <a:tblGrid>
                <a:gridCol w="1828800"/>
                <a:gridCol w="5120640"/>
              </a:tblGrid>
              <a:tr h="338328">
                <a:tc>
                  <a:txBody>
                    <a:bodyPr/>
                    <a:lstStyle/>
                    <a:p>
                      <a:pPr indent="0" marL="0">
                        <a:buNone/>
                      </a:pPr>
                      <a:r>
                        <a:rPr lang="en-US" sz="1400" b="1" dirty="0">
                          <a:solidFill>
                            <a:schemeClr val="bg1"/>
                          </a:solidFill>
                        </a:rPr>
                        <a:t>Table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Example information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338328">
                <a:tc>
                  <a:txBody>
                    <a:bodyPr/>
                    <a:lstStyle/>
                    <a:p>
                      <a:pPr indent="0" marL="0">
                        <a:buNone/>
                      </a:pPr>
                      <a:r>
                        <a:rPr lang="en-US" sz="1400" b="1" dirty="0">
                          <a:solidFill>
                            <a:schemeClr val="accent1"/>
                          </a:solidFill>
                        </a:rPr>
                        <a:t>sales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rgbClr val="000000"/>
                          </a:solidFill>
                        </a:rPr>
                        <a:t>Invoice #1001, Cashier #3, Total ₹80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38328">
                <a:tc>
                  <a:txBody>
                    <a:bodyPr/>
                    <a:lstStyle/>
                    <a:p>
                      <a:pPr indent="0" marL="0">
                        <a:buNone/>
                      </a:pPr>
                      <a:r>
                        <a:rPr lang="en-US" sz="1400" b="1" dirty="0">
                          <a:solidFill>
                            <a:schemeClr val="accent1"/>
                          </a:solidFill>
                        </a:rPr>
                        <a:t>sale_items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rgbClr val="000000"/>
                          </a:solidFill>
                        </a:rPr>
                        <a:t>Biscuits, quantity 2, price ₹20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38328">
                <a:tc>
                  <a:txBody>
                    <a:bodyPr/>
                    <a:lstStyle/>
                    <a:p>
                      <a:pPr indent="0" marL="0">
                        <a:buNone/>
                      </a:pPr>
                      <a:r>
                        <a:rPr lang="en-US" sz="1400" b="1" dirty="0">
                          <a:solidFill>
                            <a:schemeClr val="accent1"/>
                          </a:solidFill>
                        </a:rPr>
                        <a:t>sale_items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rgbClr val="000000"/>
                          </a:solidFill>
                        </a:rPr>
                        <a:t>Juice, quantity 1, price ₹40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98" name="Why detail tables"/>
          <p:cNvSpPr/>
          <p:nvPr/>
        </p:nvSpPr>
        <p:spPr>
          <a:xfrm>
            <a:off x="7863840" y="4892040"/>
            <a:ext cx="3749040" cy="1353312"/>
          </a:xfrm>
          <a:prstGeom prst="roundRect">
            <a:avLst>
              <a:gd name="adj" fmla="val 8108"/>
            </a:avLst>
          </a:prstGeom>
          <a:solidFill>
            <a:schemeClr val="tx2"/>
          </a:solidFill>
          <a:ln w="6350">
            <a:solidFill>
              <a:schemeClr val="tx2"/>
            </a:solidFill>
            <a:prstDash val="solid"/>
          </a:ln>
        </p:spPr>
      </p:sp>
      <p:sp>
        <p:nvSpPr>
          <p:cNvPr id="99" name="Text 96"/>
          <p:cNvSpPr txBox="1"/>
          <p:nvPr/>
        </p:nvSpPr>
        <p:spPr>
          <a:xfrm>
            <a:off x="8092440" y="4892040"/>
            <a:ext cx="3291840" cy="1353312"/>
          </a:xfrm>
          <a:prstGeom prst="rect">
            <a:avLst/>
          </a:prstGeom>
          <a:noFill/>
          <a:ln/>
        </p:spPr>
        <p:txBody>
          <a:bodyPr wrap="square" lIns="0" tIns="0" rIns="0" bIns="0" rtlCol="0" anchor="ctr"/>
          <a:lstStyle/>
          <a:p>
            <a:pPr indent="0" marL="0">
              <a:buNone/>
            </a:pPr>
            <a:r>
              <a:rPr lang="en-US" sz="1400" b="1" dirty="0">
                <a:solidFill>
                  <a:schemeClr val="accent2"/>
                </a:solidFill>
              </a:rPr>
              <a:t>Why detail tables? </a:t>
            </a:r>
            <a:pPr indent="0" marL="0">
              <a:buNone/>
            </a:pPr>
            <a:r>
              <a:rPr lang="en-US" sz="1400" dirty="0">
                <a:solidFill>
                  <a:schemeClr val="bg1"/>
                </a:solidFill>
              </a:rPr>
              <a:t>One invoice can hold any number of items, with no separate invoice table per product.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ER Diagram Explained</a:t>
            </a:r>
            <a:endParaRPr lang="en-US" sz="3600" dirty="0"/>
          </a:p>
        </p:txBody>
      </p:sp>
      <p:sp>
        <p:nvSpPr>
          <p:cNvPr id="3" name="Card"/>
          <p:cNvSpPr/>
          <p:nvPr/>
        </p:nvSpPr>
        <p:spPr>
          <a:xfrm>
            <a:off x="548640" y="1371600"/>
            <a:ext cx="3566160" cy="1737360"/>
          </a:xfrm>
          <a:prstGeom prst="roundRect">
            <a:avLst>
              <a:gd name="adj" fmla="val 6316"/>
            </a:avLst>
          </a:prstGeom>
          <a:solidFill>
            <a:schemeClr val="bg2"/>
          </a:solidFill>
          <a:ln w="6350">
            <a:solidFill>
              <a:schemeClr val="bg2"/>
            </a:solidFill>
            <a:prstDash val="solid"/>
          </a:ln>
        </p:spPr>
      </p:sp>
      <p:sp>
        <p:nvSpPr>
          <p:cNvPr id="4" name="Number badge"/>
          <p:cNvSpPr/>
          <p:nvPr/>
        </p:nvSpPr>
        <p:spPr>
          <a:xfrm>
            <a:off x="777240" y="1600200"/>
            <a:ext cx="457200" cy="457200"/>
          </a:xfrm>
          <a:prstGeom prst="ellipse">
            <a:avLst/>
          </a:prstGeom>
          <a:solidFill>
            <a:schemeClr val="accent1"/>
          </a:solidFill>
          <a:ln w="6350">
            <a:solidFill>
              <a:schemeClr val="accent1"/>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6002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Users → Sales</a:t>
            </a:r>
            <a:endParaRPr lang="en-US" sz="1800" dirty="0"/>
          </a:p>
        </p:txBody>
      </p:sp>
      <p:sp>
        <p:nvSpPr>
          <p:cNvPr id="7" name="Text 5"/>
          <p:cNvSpPr txBox="1"/>
          <p:nvPr/>
        </p:nvSpPr>
        <p:spPr>
          <a:xfrm>
            <a:off x="77724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Records which cashier processed each sale, so the Admin can review sales by employee.</a:t>
            </a:r>
            <a:endParaRPr lang="en-US" sz="1400" dirty="0"/>
          </a:p>
        </p:txBody>
      </p:sp>
      <p:sp>
        <p:nvSpPr>
          <p:cNvPr id="8" name="Card"/>
          <p:cNvSpPr/>
          <p:nvPr/>
        </p:nvSpPr>
        <p:spPr>
          <a:xfrm>
            <a:off x="4297680" y="1371600"/>
            <a:ext cx="3566160" cy="1737360"/>
          </a:xfrm>
          <a:prstGeom prst="roundRect">
            <a:avLst>
              <a:gd name="adj" fmla="val 6316"/>
            </a:avLst>
          </a:prstGeom>
          <a:solidFill>
            <a:schemeClr val="bg2"/>
          </a:solidFill>
          <a:ln w="6350">
            <a:solidFill>
              <a:schemeClr val="bg2"/>
            </a:solidFill>
            <a:prstDash val="solid"/>
          </a:ln>
        </p:spPr>
      </p:sp>
      <p:sp>
        <p:nvSpPr>
          <p:cNvPr id="9" name="Number badge"/>
          <p:cNvSpPr/>
          <p:nvPr/>
        </p:nvSpPr>
        <p:spPr>
          <a:xfrm>
            <a:off x="4526280" y="1600200"/>
            <a:ext cx="457200" cy="457200"/>
          </a:xfrm>
          <a:prstGeom prst="ellipse">
            <a:avLst/>
          </a:prstGeom>
          <a:solidFill>
            <a:schemeClr val="accent5"/>
          </a:solidFill>
          <a:ln w="6350">
            <a:solidFill>
              <a:schemeClr val="accent5"/>
            </a:solidFill>
            <a:prstDash val="solid"/>
          </a:ln>
        </p:spPr>
      </p:sp>
      <p:sp>
        <p:nvSpPr>
          <p:cNvPr id="10" name="Text 8"/>
          <p:cNvSpPr txBox="1"/>
          <p:nvPr/>
        </p:nvSpPr>
        <p:spPr>
          <a:xfrm>
            <a:off x="452628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166360" y="16002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Sales → Sale items</a:t>
            </a:r>
            <a:endParaRPr lang="en-US" sz="1800" dirty="0"/>
          </a:p>
        </p:txBody>
      </p:sp>
      <p:sp>
        <p:nvSpPr>
          <p:cNvPr id="12" name="Text 10"/>
          <p:cNvSpPr txBox="1"/>
          <p:nvPr/>
        </p:nvSpPr>
        <p:spPr>
          <a:xfrm>
            <a:off x="452628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Invoice and products are stored separately, enabling totals and detailed receipts.</a:t>
            </a:r>
            <a:endParaRPr lang="en-US" sz="1400" dirty="0"/>
          </a:p>
        </p:txBody>
      </p:sp>
      <p:sp>
        <p:nvSpPr>
          <p:cNvPr id="13" name="Card"/>
          <p:cNvSpPr/>
          <p:nvPr/>
        </p:nvSpPr>
        <p:spPr>
          <a:xfrm>
            <a:off x="8046720" y="1371600"/>
            <a:ext cx="3566160" cy="1737360"/>
          </a:xfrm>
          <a:prstGeom prst="roundRect">
            <a:avLst>
              <a:gd name="adj" fmla="val 6316"/>
            </a:avLst>
          </a:prstGeom>
          <a:solidFill>
            <a:schemeClr val="bg2"/>
          </a:solidFill>
          <a:ln w="6350">
            <a:solidFill>
              <a:schemeClr val="bg2"/>
            </a:solidFill>
            <a:prstDash val="solid"/>
          </a:ln>
        </p:spPr>
      </p:sp>
      <p:sp>
        <p:nvSpPr>
          <p:cNvPr id="14" name="Number badge"/>
          <p:cNvSpPr/>
          <p:nvPr/>
        </p:nvSpPr>
        <p:spPr>
          <a:xfrm>
            <a:off x="8275320" y="1600200"/>
            <a:ext cx="457200" cy="457200"/>
          </a:xfrm>
          <a:prstGeom prst="ellipse">
            <a:avLst/>
          </a:prstGeom>
          <a:solidFill>
            <a:schemeClr val="accent3"/>
          </a:solidFill>
          <a:ln w="6350">
            <a:solidFill>
              <a:schemeClr val="accent3"/>
            </a:solidFill>
            <a:prstDash val="solid"/>
          </a:ln>
        </p:spPr>
      </p:sp>
      <p:sp>
        <p:nvSpPr>
          <p:cNvPr id="15" name="Text 13"/>
          <p:cNvSpPr txBox="1"/>
          <p:nvPr/>
        </p:nvSpPr>
        <p:spPr>
          <a:xfrm>
            <a:off x="82753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915400" y="16002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Products → Sale items</a:t>
            </a:r>
            <a:endParaRPr lang="en-US" sz="1800" dirty="0"/>
          </a:p>
        </p:txBody>
      </p:sp>
      <p:sp>
        <p:nvSpPr>
          <p:cNvPr id="17" name="Text 15"/>
          <p:cNvSpPr txBox="1"/>
          <p:nvPr/>
        </p:nvSpPr>
        <p:spPr>
          <a:xfrm>
            <a:off x="827532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A product sold hundreds of times is referenced, not duplicated, in each sale item.</a:t>
            </a:r>
            <a:endParaRPr lang="en-US" sz="1400" dirty="0"/>
          </a:p>
        </p:txBody>
      </p:sp>
      <p:sp>
        <p:nvSpPr>
          <p:cNvPr id="18" name="Card"/>
          <p:cNvSpPr/>
          <p:nvPr/>
        </p:nvSpPr>
        <p:spPr>
          <a:xfrm>
            <a:off x="548640" y="3246120"/>
            <a:ext cx="3566160" cy="1737360"/>
          </a:xfrm>
          <a:prstGeom prst="roundRect">
            <a:avLst>
              <a:gd name="adj" fmla="val 6316"/>
            </a:avLst>
          </a:prstGeom>
          <a:solidFill>
            <a:schemeClr val="bg2"/>
          </a:solidFill>
          <a:ln w="6350">
            <a:solidFill>
              <a:schemeClr val="bg2"/>
            </a:solidFill>
            <a:prstDash val="solid"/>
          </a:ln>
        </p:spPr>
      </p:sp>
      <p:sp>
        <p:nvSpPr>
          <p:cNvPr id="19" name="Number badge"/>
          <p:cNvSpPr/>
          <p:nvPr/>
        </p:nvSpPr>
        <p:spPr>
          <a:xfrm>
            <a:off x="777240" y="3474720"/>
            <a:ext cx="457200" cy="457200"/>
          </a:xfrm>
          <a:prstGeom prst="ellipse">
            <a:avLst/>
          </a:prstGeom>
          <a:solidFill>
            <a:schemeClr val="accent1"/>
          </a:solidFill>
          <a:ln w="6350">
            <a:solidFill>
              <a:schemeClr val="accent1"/>
            </a:solidFill>
            <a:prstDash val="solid"/>
          </a:ln>
        </p:spPr>
      </p:sp>
      <p:sp>
        <p:nvSpPr>
          <p:cNvPr id="20" name="Text 18"/>
          <p:cNvSpPr txBox="1"/>
          <p:nvPr/>
        </p:nvSpPr>
        <p:spPr>
          <a:xfrm>
            <a:off x="777240" y="3474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417320" y="347472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Categories → Products</a:t>
            </a:r>
            <a:endParaRPr lang="en-US" sz="1800" dirty="0"/>
          </a:p>
        </p:txBody>
      </p:sp>
      <p:sp>
        <p:nvSpPr>
          <p:cNvPr id="22" name="Text 20"/>
          <p:cNvSpPr txBox="1"/>
          <p:nvPr/>
        </p:nvSpPr>
        <p:spPr>
          <a:xfrm>
            <a:off x="777240" y="4069080"/>
            <a:ext cx="3108960" cy="822960"/>
          </a:xfrm>
          <a:prstGeom prst="rect">
            <a:avLst/>
          </a:prstGeom>
          <a:noFill/>
          <a:ln/>
        </p:spPr>
        <p:txBody>
          <a:bodyPr wrap="square" lIns="0" tIns="0" rIns="0" bIns="0" rtlCol="0" anchor="t"/>
          <a:lstStyle/>
          <a:p>
            <a:pPr indent="0" marL="0">
              <a:buNone/>
            </a:pPr>
            <a:r>
              <a:rPr lang="en-US" sz="1400" dirty="0">
                <a:solidFill>
                  <a:schemeClr val="tx1"/>
                </a:solidFill>
              </a:rPr>
              <a:t>Organizes, searches and reports by category, e.g. beverages vs groceries.</a:t>
            </a:r>
            <a:endParaRPr lang="en-US" sz="1400" dirty="0"/>
          </a:p>
        </p:txBody>
      </p:sp>
      <p:sp>
        <p:nvSpPr>
          <p:cNvPr id="23" name="Card"/>
          <p:cNvSpPr/>
          <p:nvPr/>
        </p:nvSpPr>
        <p:spPr>
          <a:xfrm>
            <a:off x="4297680" y="3246120"/>
            <a:ext cx="3566160" cy="1737360"/>
          </a:xfrm>
          <a:prstGeom prst="roundRect">
            <a:avLst>
              <a:gd name="adj" fmla="val 6316"/>
            </a:avLst>
          </a:prstGeom>
          <a:solidFill>
            <a:schemeClr val="bg2"/>
          </a:solidFill>
          <a:ln w="6350">
            <a:solidFill>
              <a:schemeClr val="bg2"/>
            </a:solidFill>
            <a:prstDash val="solid"/>
          </a:ln>
        </p:spPr>
      </p:sp>
      <p:sp>
        <p:nvSpPr>
          <p:cNvPr id="24" name="Number badge"/>
          <p:cNvSpPr/>
          <p:nvPr/>
        </p:nvSpPr>
        <p:spPr>
          <a:xfrm>
            <a:off x="4526280" y="3474720"/>
            <a:ext cx="457200" cy="457200"/>
          </a:xfrm>
          <a:prstGeom prst="ellipse">
            <a:avLst/>
          </a:prstGeom>
          <a:solidFill>
            <a:schemeClr val="accent5"/>
          </a:solidFill>
          <a:ln w="6350">
            <a:solidFill>
              <a:schemeClr val="accent5"/>
            </a:solidFill>
            <a:prstDash val="solid"/>
          </a:ln>
        </p:spPr>
      </p:sp>
      <p:sp>
        <p:nvSpPr>
          <p:cNvPr id="25" name="Text 23"/>
          <p:cNvSpPr txBox="1"/>
          <p:nvPr/>
        </p:nvSpPr>
        <p:spPr>
          <a:xfrm>
            <a:off x="4526280" y="3474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166360" y="347472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Suppliers → Purchases</a:t>
            </a:r>
            <a:endParaRPr lang="en-US" sz="1800" dirty="0"/>
          </a:p>
        </p:txBody>
      </p:sp>
      <p:sp>
        <p:nvSpPr>
          <p:cNvPr id="27" name="Text 25"/>
          <p:cNvSpPr txBox="1"/>
          <p:nvPr/>
        </p:nvSpPr>
        <p:spPr>
          <a:xfrm>
            <a:off x="4526280" y="4069080"/>
            <a:ext cx="3108960" cy="822960"/>
          </a:xfrm>
          <a:prstGeom prst="rect">
            <a:avLst/>
          </a:prstGeom>
          <a:noFill/>
          <a:ln/>
        </p:spPr>
        <p:txBody>
          <a:bodyPr wrap="square" lIns="0" tIns="0" rIns="0" bIns="0" rtlCol="0" anchor="t"/>
          <a:lstStyle/>
          <a:p>
            <a:pPr indent="0" marL="0">
              <a:buNone/>
            </a:pPr>
            <a:r>
              <a:rPr lang="en-US" sz="1400" dirty="0">
                <a:solidFill>
                  <a:schemeClr val="tx1"/>
                </a:solidFill>
              </a:rPr>
              <a:t>Shows which supplier provided the goods, supporting purchase history and restocking.</a:t>
            </a:r>
            <a:endParaRPr lang="en-US" sz="1400" dirty="0"/>
          </a:p>
        </p:txBody>
      </p:sp>
      <p:sp>
        <p:nvSpPr>
          <p:cNvPr id="28" name="Card"/>
          <p:cNvSpPr/>
          <p:nvPr/>
        </p:nvSpPr>
        <p:spPr>
          <a:xfrm>
            <a:off x="8046720" y="3246120"/>
            <a:ext cx="3566160" cy="1737360"/>
          </a:xfrm>
          <a:prstGeom prst="roundRect">
            <a:avLst>
              <a:gd name="adj" fmla="val 6316"/>
            </a:avLst>
          </a:prstGeom>
          <a:solidFill>
            <a:schemeClr val="bg2"/>
          </a:solidFill>
          <a:ln w="6350">
            <a:solidFill>
              <a:schemeClr val="bg2"/>
            </a:solidFill>
            <a:prstDash val="solid"/>
          </a:ln>
        </p:spPr>
      </p:sp>
      <p:sp>
        <p:nvSpPr>
          <p:cNvPr id="29" name="Number badge"/>
          <p:cNvSpPr/>
          <p:nvPr/>
        </p:nvSpPr>
        <p:spPr>
          <a:xfrm>
            <a:off x="8275320" y="3474720"/>
            <a:ext cx="457200" cy="457200"/>
          </a:xfrm>
          <a:prstGeom prst="ellipse">
            <a:avLst/>
          </a:prstGeom>
          <a:solidFill>
            <a:schemeClr val="accent3"/>
          </a:solidFill>
          <a:ln w="6350">
            <a:solidFill>
              <a:schemeClr val="accent3"/>
            </a:solidFill>
            <a:prstDash val="solid"/>
          </a:ln>
        </p:spPr>
      </p:sp>
      <p:sp>
        <p:nvSpPr>
          <p:cNvPr id="30" name="Text 28"/>
          <p:cNvSpPr txBox="1"/>
          <p:nvPr/>
        </p:nvSpPr>
        <p:spPr>
          <a:xfrm>
            <a:off x="8275320" y="3474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915400" y="347472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Products → Stock movements</a:t>
            </a:r>
            <a:endParaRPr lang="en-US" sz="1800" dirty="0"/>
          </a:p>
        </p:txBody>
      </p:sp>
      <p:sp>
        <p:nvSpPr>
          <p:cNvPr id="32" name="Text 30"/>
          <p:cNvSpPr txBox="1"/>
          <p:nvPr/>
        </p:nvSpPr>
        <p:spPr>
          <a:xfrm>
            <a:off x="8275320" y="4069080"/>
            <a:ext cx="3108960" cy="822960"/>
          </a:xfrm>
          <a:prstGeom prst="rect">
            <a:avLst/>
          </a:prstGeom>
          <a:noFill/>
          <a:ln/>
        </p:spPr>
        <p:txBody>
          <a:bodyPr wrap="square" lIns="0" tIns="0" rIns="0" bIns="0" rtlCol="0" anchor="t"/>
          <a:lstStyle/>
          <a:p>
            <a:pPr indent="0" marL="0">
              <a:buNone/>
            </a:pPr>
            <a:r>
              <a:rPr lang="en-US" sz="1400" dirty="0">
                <a:solidFill>
                  <a:schemeClr val="tx1"/>
                </a:solidFill>
              </a:rPr>
              <a:t>Every stock change is logged, e.g. +10 units after a purchase is received.</a:t>
            </a:r>
            <a:endParaRPr lang="en-US" sz="1400" dirty="0"/>
          </a:p>
        </p:txBody>
      </p:sp>
      <p:sp>
        <p:nvSpPr>
          <p:cNvPr id="33" name="Traceability banner"/>
          <p:cNvSpPr/>
          <p:nvPr/>
        </p:nvSpPr>
        <p:spPr>
          <a:xfrm>
            <a:off x="548640" y="5257800"/>
            <a:ext cx="11064240" cy="1005840"/>
          </a:xfrm>
          <a:prstGeom prst="roundRect">
            <a:avLst>
              <a:gd name="adj" fmla="val 10909"/>
            </a:avLst>
          </a:prstGeom>
          <a:solidFill>
            <a:schemeClr val="tx2"/>
          </a:solidFill>
          <a:ln w="6350">
            <a:solidFill>
              <a:schemeClr val="tx2"/>
            </a:solidFill>
            <a:prstDash val="solid"/>
          </a:ln>
        </p:spPr>
      </p:sp>
      <p:sp>
        <p:nvSpPr>
          <p:cNvPr id="34" name="Text 32"/>
          <p:cNvSpPr txBox="1"/>
          <p:nvPr/>
        </p:nvSpPr>
        <p:spPr>
          <a:xfrm>
            <a:off x="868680" y="5257800"/>
            <a:ext cx="10424160" cy="1005840"/>
          </a:xfrm>
          <a:prstGeom prst="rect">
            <a:avLst/>
          </a:prstGeom>
          <a:noFill/>
          <a:ln/>
        </p:spPr>
        <p:txBody>
          <a:bodyPr wrap="square" lIns="0" tIns="0" rIns="0" bIns="0" rtlCol="0" anchor="ctr"/>
          <a:lstStyle/>
          <a:p>
            <a:pPr indent="0" marL="0">
              <a:buNone/>
            </a:pPr>
            <a:r>
              <a:rPr lang="en-US" sz="1600" b="1" dirty="0">
                <a:solidFill>
                  <a:schemeClr val="accent2"/>
                </a:solidFill>
              </a:rPr>
              <a:t>Why is this design better? </a:t>
            </a:r>
            <a:pPr indent="0" marL="0">
              <a:buNone/>
            </a:pPr>
            <a:r>
              <a:rPr lang="en-US" sz="1600" dirty="0">
                <a:solidFill>
                  <a:schemeClr val="bg1"/>
                </a:solidFill>
              </a:rPr>
              <a:t>Traceability. Movement history explains why stock changed, and joining products with sale_items shows the best-selling items.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Core Workflow: How a Sale Works</a:t>
            </a:r>
            <a:endParaRPr lang="en-US" sz="3600" dirty="0"/>
          </a:p>
        </p:txBody>
      </p:sp>
      <p:sp>
        <p:nvSpPr>
          <p:cNvPr id="3" name="Card"/>
          <p:cNvSpPr/>
          <p:nvPr/>
        </p:nvSpPr>
        <p:spPr>
          <a:xfrm>
            <a:off x="548640" y="1371600"/>
            <a:ext cx="3566160" cy="1737360"/>
          </a:xfrm>
          <a:prstGeom prst="roundRect">
            <a:avLst>
              <a:gd name="adj" fmla="val 6316"/>
            </a:avLst>
          </a:prstGeom>
          <a:solidFill>
            <a:schemeClr val="bg2"/>
          </a:solidFill>
          <a:ln w="6350">
            <a:solidFill>
              <a:schemeClr val="bg2"/>
            </a:solidFill>
            <a:prstDash val="solid"/>
          </a:ln>
        </p:spPr>
      </p:sp>
      <p:sp>
        <p:nvSpPr>
          <p:cNvPr id="4" name="Number badge"/>
          <p:cNvSpPr/>
          <p:nvPr/>
        </p:nvSpPr>
        <p:spPr>
          <a:xfrm>
            <a:off x="777240" y="1600200"/>
            <a:ext cx="457200" cy="457200"/>
          </a:xfrm>
          <a:prstGeom prst="ellipse">
            <a:avLst/>
          </a:prstGeom>
          <a:solidFill>
            <a:schemeClr val="accent1"/>
          </a:solidFill>
          <a:ln w="6350">
            <a:solidFill>
              <a:schemeClr val="accent1"/>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6002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Cashier selects products</a:t>
            </a:r>
            <a:endParaRPr lang="en-US" sz="1800" dirty="0"/>
          </a:p>
        </p:txBody>
      </p:sp>
      <p:sp>
        <p:nvSpPr>
          <p:cNvPr id="7" name="Text 5"/>
          <p:cNvSpPr txBox="1"/>
          <p:nvPr/>
        </p:nvSpPr>
        <p:spPr>
          <a:xfrm>
            <a:off x="77724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Products are added to the cart.</a:t>
            </a:r>
            <a:endParaRPr lang="en-US" sz="1400" dirty="0"/>
          </a:p>
        </p:txBody>
      </p:sp>
      <p:sp>
        <p:nvSpPr>
          <p:cNvPr id="8" name="Card"/>
          <p:cNvSpPr/>
          <p:nvPr/>
        </p:nvSpPr>
        <p:spPr>
          <a:xfrm>
            <a:off x="4297680" y="1371600"/>
            <a:ext cx="3566160" cy="1737360"/>
          </a:xfrm>
          <a:prstGeom prst="roundRect">
            <a:avLst>
              <a:gd name="adj" fmla="val 6316"/>
            </a:avLst>
          </a:prstGeom>
          <a:solidFill>
            <a:schemeClr val="bg2"/>
          </a:solidFill>
          <a:ln w="6350">
            <a:solidFill>
              <a:schemeClr val="bg2"/>
            </a:solidFill>
            <a:prstDash val="solid"/>
          </a:ln>
        </p:spPr>
      </p:sp>
      <p:sp>
        <p:nvSpPr>
          <p:cNvPr id="9" name="Number badge"/>
          <p:cNvSpPr/>
          <p:nvPr/>
        </p:nvSpPr>
        <p:spPr>
          <a:xfrm>
            <a:off x="4526280" y="1600200"/>
            <a:ext cx="457200" cy="457200"/>
          </a:xfrm>
          <a:prstGeom prst="ellipse">
            <a:avLst/>
          </a:prstGeom>
          <a:solidFill>
            <a:schemeClr val="accent1"/>
          </a:solidFill>
          <a:ln w="6350">
            <a:solidFill>
              <a:schemeClr val="accent1"/>
            </a:solidFill>
            <a:prstDash val="solid"/>
          </a:ln>
        </p:spPr>
      </p:sp>
      <p:sp>
        <p:nvSpPr>
          <p:cNvPr id="10" name="Text 8"/>
          <p:cNvSpPr txBox="1"/>
          <p:nvPr/>
        </p:nvSpPr>
        <p:spPr>
          <a:xfrm>
            <a:off x="452628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166360" y="16002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Server validates the request</a:t>
            </a:r>
            <a:endParaRPr lang="en-US" sz="1800" dirty="0"/>
          </a:p>
        </p:txBody>
      </p:sp>
      <p:sp>
        <p:nvSpPr>
          <p:cNvPr id="12" name="Text 10"/>
          <p:cNvSpPr txBox="1"/>
          <p:nvPr/>
        </p:nvSpPr>
        <p:spPr>
          <a:xfrm>
            <a:off x="452628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Checks current prices, quantities and stock availability.</a:t>
            </a:r>
            <a:endParaRPr lang="en-US" sz="1400" dirty="0"/>
          </a:p>
        </p:txBody>
      </p:sp>
      <p:sp>
        <p:nvSpPr>
          <p:cNvPr id="13" name="Card"/>
          <p:cNvSpPr/>
          <p:nvPr/>
        </p:nvSpPr>
        <p:spPr>
          <a:xfrm>
            <a:off x="8046720" y="1371600"/>
            <a:ext cx="3566160" cy="1737360"/>
          </a:xfrm>
          <a:prstGeom prst="roundRect">
            <a:avLst>
              <a:gd name="adj" fmla="val 6316"/>
            </a:avLst>
          </a:prstGeom>
          <a:solidFill>
            <a:schemeClr val="bg2"/>
          </a:solidFill>
          <a:ln w="6350">
            <a:solidFill>
              <a:schemeClr val="bg2"/>
            </a:solidFill>
            <a:prstDash val="solid"/>
          </a:ln>
        </p:spPr>
      </p:sp>
      <p:sp>
        <p:nvSpPr>
          <p:cNvPr id="14" name="Number badge"/>
          <p:cNvSpPr/>
          <p:nvPr/>
        </p:nvSpPr>
        <p:spPr>
          <a:xfrm>
            <a:off x="8275320" y="1600200"/>
            <a:ext cx="457200" cy="457200"/>
          </a:xfrm>
          <a:prstGeom prst="ellipse">
            <a:avLst/>
          </a:prstGeom>
          <a:solidFill>
            <a:schemeClr val="accent1"/>
          </a:solidFill>
          <a:ln w="6350">
            <a:solidFill>
              <a:schemeClr val="accent1"/>
            </a:solidFill>
            <a:prstDash val="solid"/>
          </a:ln>
        </p:spPr>
      </p:sp>
      <p:sp>
        <p:nvSpPr>
          <p:cNvPr id="15" name="Text 13"/>
          <p:cNvSpPr txBox="1"/>
          <p:nvPr/>
        </p:nvSpPr>
        <p:spPr>
          <a:xfrm>
            <a:off x="82753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915400" y="160020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Start a database transaction</a:t>
            </a:r>
            <a:endParaRPr lang="en-US" sz="1800" dirty="0"/>
          </a:p>
        </p:txBody>
      </p:sp>
      <p:sp>
        <p:nvSpPr>
          <p:cNvPr id="17" name="Text 15"/>
          <p:cNvSpPr txBox="1"/>
          <p:nvPr/>
        </p:nvSpPr>
        <p:spPr>
          <a:xfrm>
            <a:off x="8275320" y="2194560"/>
            <a:ext cx="3108960" cy="822960"/>
          </a:xfrm>
          <a:prstGeom prst="rect">
            <a:avLst/>
          </a:prstGeom>
          <a:noFill/>
          <a:ln/>
        </p:spPr>
        <p:txBody>
          <a:bodyPr wrap="square" lIns="0" tIns="0" rIns="0" bIns="0" rtlCol="0" anchor="t"/>
          <a:lstStyle/>
          <a:p>
            <a:pPr indent="0" marL="0">
              <a:buNone/>
            </a:pPr>
            <a:r>
              <a:rPr lang="en-US" sz="1400" dirty="0">
                <a:solidFill>
                  <a:schemeClr val="tx1"/>
                </a:solidFill>
              </a:rPr>
              <a:t>Related changes are handled together as one unit.</a:t>
            </a:r>
            <a:endParaRPr lang="en-US" sz="1400" dirty="0"/>
          </a:p>
        </p:txBody>
      </p:sp>
      <p:sp>
        <p:nvSpPr>
          <p:cNvPr id="18" name="Card"/>
          <p:cNvSpPr/>
          <p:nvPr/>
        </p:nvSpPr>
        <p:spPr>
          <a:xfrm>
            <a:off x="548640" y="3246120"/>
            <a:ext cx="3566160" cy="1737360"/>
          </a:xfrm>
          <a:prstGeom prst="roundRect">
            <a:avLst>
              <a:gd name="adj" fmla="val 6316"/>
            </a:avLst>
          </a:prstGeom>
          <a:solidFill>
            <a:schemeClr val="bg2"/>
          </a:solidFill>
          <a:ln w="6350">
            <a:solidFill>
              <a:schemeClr val="bg2"/>
            </a:solidFill>
            <a:prstDash val="solid"/>
          </a:ln>
        </p:spPr>
      </p:sp>
      <p:sp>
        <p:nvSpPr>
          <p:cNvPr id="19" name="Number badge"/>
          <p:cNvSpPr/>
          <p:nvPr/>
        </p:nvSpPr>
        <p:spPr>
          <a:xfrm>
            <a:off x="777240" y="3474720"/>
            <a:ext cx="457200" cy="457200"/>
          </a:xfrm>
          <a:prstGeom prst="ellipse">
            <a:avLst/>
          </a:prstGeom>
          <a:solidFill>
            <a:schemeClr val="accent1"/>
          </a:solidFill>
          <a:ln w="6350">
            <a:solidFill>
              <a:schemeClr val="accent1"/>
            </a:solidFill>
            <a:prstDash val="solid"/>
          </a:ln>
        </p:spPr>
      </p:sp>
      <p:sp>
        <p:nvSpPr>
          <p:cNvPr id="20" name="Text 18"/>
          <p:cNvSpPr txBox="1"/>
          <p:nvPr/>
        </p:nvSpPr>
        <p:spPr>
          <a:xfrm>
            <a:off x="777240" y="3474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417320" y="347472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Save the sale</a:t>
            </a:r>
            <a:endParaRPr lang="en-US" sz="1800" dirty="0"/>
          </a:p>
        </p:txBody>
      </p:sp>
      <p:sp>
        <p:nvSpPr>
          <p:cNvPr id="22" name="Text 20"/>
          <p:cNvSpPr txBox="1"/>
          <p:nvPr/>
        </p:nvSpPr>
        <p:spPr>
          <a:xfrm>
            <a:off x="777240" y="4069080"/>
            <a:ext cx="3108960" cy="822960"/>
          </a:xfrm>
          <a:prstGeom prst="rect">
            <a:avLst/>
          </a:prstGeom>
          <a:noFill/>
          <a:ln/>
        </p:spPr>
        <p:txBody>
          <a:bodyPr wrap="square" lIns="0" tIns="0" rIns="0" bIns="0" rtlCol="0" anchor="t"/>
          <a:lstStyle/>
          <a:p>
            <a:pPr indent="0" marL="0">
              <a:buNone/>
            </a:pPr>
            <a:r>
              <a:rPr lang="en-US" sz="1400" dirty="0">
                <a:solidFill>
                  <a:schemeClr val="tx1"/>
                </a:solidFill>
              </a:rPr>
              <a:t>Insert into sales, then each product into sale_items.</a:t>
            </a:r>
            <a:endParaRPr lang="en-US" sz="1400" dirty="0"/>
          </a:p>
        </p:txBody>
      </p:sp>
      <p:sp>
        <p:nvSpPr>
          <p:cNvPr id="23" name="Card"/>
          <p:cNvSpPr/>
          <p:nvPr/>
        </p:nvSpPr>
        <p:spPr>
          <a:xfrm>
            <a:off x="4297680" y="3246120"/>
            <a:ext cx="3566160" cy="1737360"/>
          </a:xfrm>
          <a:prstGeom prst="roundRect">
            <a:avLst>
              <a:gd name="adj" fmla="val 6316"/>
            </a:avLst>
          </a:prstGeom>
          <a:solidFill>
            <a:schemeClr val="bg2"/>
          </a:solidFill>
          <a:ln w="6350">
            <a:solidFill>
              <a:schemeClr val="bg2"/>
            </a:solidFill>
            <a:prstDash val="solid"/>
          </a:ln>
        </p:spPr>
      </p:sp>
      <p:sp>
        <p:nvSpPr>
          <p:cNvPr id="24" name="Number badge"/>
          <p:cNvSpPr/>
          <p:nvPr/>
        </p:nvSpPr>
        <p:spPr>
          <a:xfrm>
            <a:off x="4526280" y="3474720"/>
            <a:ext cx="457200" cy="457200"/>
          </a:xfrm>
          <a:prstGeom prst="ellipse">
            <a:avLst/>
          </a:prstGeom>
          <a:solidFill>
            <a:schemeClr val="accent1"/>
          </a:solidFill>
          <a:ln w="6350">
            <a:solidFill>
              <a:schemeClr val="accent1"/>
            </a:solidFill>
            <a:prstDash val="solid"/>
          </a:ln>
        </p:spPr>
      </p:sp>
      <p:sp>
        <p:nvSpPr>
          <p:cNvPr id="25" name="Text 23"/>
          <p:cNvSpPr txBox="1"/>
          <p:nvPr/>
        </p:nvSpPr>
        <p:spPr>
          <a:xfrm>
            <a:off x="4526280" y="3474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5166360" y="347472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Update inventory</a:t>
            </a:r>
            <a:endParaRPr lang="en-US" sz="1800" dirty="0"/>
          </a:p>
        </p:txBody>
      </p:sp>
      <p:sp>
        <p:nvSpPr>
          <p:cNvPr id="27" name="Text 25"/>
          <p:cNvSpPr txBox="1"/>
          <p:nvPr/>
        </p:nvSpPr>
        <p:spPr>
          <a:xfrm>
            <a:off x="4526280" y="4069080"/>
            <a:ext cx="3108960" cy="822960"/>
          </a:xfrm>
          <a:prstGeom prst="rect">
            <a:avLst/>
          </a:prstGeom>
          <a:noFill/>
          <a:ln/>
        </p:spPr>
        <p:txBody>
          <a:bodyPr wrap="square" lIns="0" tIns="0" rIns="0" bIns="0" rtlCol="0" anchor="t"/>
          <a:lstStyle/>
          <a:p>
            <a:pPr indent="0" marL="0">
              <a:buNone/>
            </a:pPr>
            <a:r>
              <a:rPr lang="en-US" sz="1400" dirty="0">
                <a:solidFill>
                  <a:schemeClr val="tx1"/>
                </a:solidFill>
              </a:rPr>
              <a:t>Deduct stock and record the change in stock_movements.</a:t>
            </a:r>
            <a:endParaRPr lang="en-US" sz="1400" dirty="0"/>
          </a:p>
        </p:txBody>
      </p:sp>
      <p:sp>
        <p:nvSpPr>
          <p:cNvPr id="28" name="Card"/>
          <p:cNvSpPr/>
          <p:nvPr/>
        </p:nvSpPr>
        <p:spPr>
          <a:xfrm>
            <a:off x="8046720" y="3246120"/>
            <a:ext cx="3566160" cy="1737360"/>
          </a:xfrm>
          <a:prstGeom prst="roundRect">
            <a:avLst>
              <a:gd name="adj" fmla="val 6316"/>
            </a:avLst>
          </a:prstGeom>
          <a:solidFill>
            <a:schemeClr val="tx2"/>
          </a:solidFill>
          <a:ln w="6350">
            <a:solidFill>
              <a:schemeClr val="tx2"/>
            </a:solidFill>
            <a:prstDash val="solid"/>
          </a:ln>
        </p:spPr>
      </p:sp>
      <p:sp>
        <p:nvSpPr>
          <p:cNvPr id="29" name="Number badge"/>
          <p:cNvSpPr/>
          <p:nvPr/>
        </p:nvSpPr>
        <p:spPr>
          <a:xfrm>
            <a:off x="8275320" y="3474720"/>
            <a:ext cx="457200" cy="457200"/>
          </a:xfrm>
          <a:prstGeom prst="ellipse">
            <a:avLst/>
          </a:prstGeom>
          <a:solidFill>
            <a:schemeClr val="accent2"/>
          </a:solidFill>
          <a:ln w="6350">
            <a:solidFill>
              <a:schemeClr val="accent2"/>
            </a:solidFill>
            <a:prstDash val="solid"/>
          </a:ln>
        </p:spPr>
      </p:sp>
      <p:sp>
        <p:nvSpPr>
          <p:cNvPr id="30" name="Text 28"/>
          <p:cNvSpPr txBox="1"/>
          <p:nvPr/>
        </p:nvSpPr>
        <p:spPr>
          <a:xfrm>
            <a:off x="8275320" y="3474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275320" y="34747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2" name="Text 30"/>
          <p:cNvSpPr txBox="1"/>
          <p:nvPr/>
        </p:nvSpPr>
        <p:spPr>
          <a:xfrm>
            <a:off x="8915400" y="3474720"/>
            <a:ext cx="2560320" cy="457200"/>
          </a:xfrm>
          <a:prstGeom prst="rect">
            <a:avLst/>
          </a:prstGeom>
          <a:noFill/>
          <a:ln/>
        </p:spPr>
        <p:txBody>
          <a:bodyPr wrap="square" lIns="0" tIns="0" rIns="0" bIns="0" rtlCol="0" anchor="ctr"/>
          <a:lstStyle/>
          <a:p>
            <a:pPr indent="0" marL="0">
              <a:buNone/>
            </a:pPr>
            <a:r>
              <a:rPr lang="en-US" sz="1800" b="1" dirty="0">
                <a:solidFill>
                  <a:schemeClr val="bg1"/>
                </a:solidFill>
              </a:rPr>
              <a:t>Commit or roll back</a:t>
            </a:r>
            <a:endParaRPr lang="en-US" sz="1800" dirty="0"/>
          </a:p>
        </p:txBody>
      </p:sp>
      <p:sp>
        <p:nvSpPr>
          <p:cNvPr id="33" name="Text 31"/>
          <p:cNvSpPr txBox="1"/>
          <p:nvPr/>
        </p:nvSpPr>
        <p:spPr>
          <a:xfrm>
            <a:off x="8275320" y="4069080"/>
            <a:ext cx="3108960" cy="822960"/>
          </a:xfrm>
          <a:prstGeom prst="rect">
            <a:avLst/>
          </a:prstGeom>
          <a:noFill/>
          <a:ln/>
        </p:spPr>
        <p:txBody>
          <a:bodyPr wrap="square" lIns="0" tIns="0" rIns="0" bIns="0" rtlCol="0" anchor="t"/>
          <a:lstStyle/>
          <a:p>
            <a:pPr indent="0" marL="0">
              <a:buNone/>
            </a:pPr>
            <a:r>
              <a:rPr lang="en-US" sz="1400" dirty="0">
                <a:solidFill>
                  <a:schemeClr val="bg1"/>
                </a:solidFill>
              </a:rPr>
              <a:t>Success: changes saved and invoice returned. Failure: everything is rolled back.</a:t>
            </a:r>
            <a:endParaRPr lang="en-US" sz="1400" dirty="0"/>
          </a:p>
        </p:txBody>
      </p:sp>
      <p:sp>
        <p:nvSpPr>
          <p:cNvPr id="34" name="Outcome banner"/>
          <p:cNvSpPr/>
          <p:nvPr/>
        </p:nvSpPr>
        <p:spPr>
          <a:xfrm>
            <a:off x="548640" y="5349240"/>
            <a:ext cx="11064240" cy="868680"/>
          </a:xfrm>
          <a:prstGeom prst="roundRect">
            <a:avLst>
              <a:gd name="adj" fmla="val 12632"/>
            </a:avLst>
          </a:prstGeom>
          <a:solidFill>
            <a:schemeClr val="accent1"/>
          </a:solidFill>
          <a:ln w="6350">
            <a:solidFill>
              <a:schemeClr val="accent1"/>
            </a:solidFill>
            <a:prstDash val="solid"/>
          </a:ln>
        </p:spPr>
      </p:sp>
      <p:sp>
        <p:nvSpPr>
          <p:cNvPr id="35" name="Text 33"/>
          <p:cNvSpPr txBox="1"/>
          <p:nvPr/>
        </p:nvSpPr>
        <p:spPr>
          <a:xfrm>
            <a:off x="868680" y="5349240"/>
            <a:ext cx="10424160" cy="868680"/>
          </a:xfrm>
          <a:prstGeom prst="rect">
            <a:avLst/>
          </a:prstGeom>
          <a:noFill/>
          <a:ln/>
        </p:spPr>
        <p:txBody>
          <a:bodyPr wrap="square" lIns="0" tIns="0" rIns="0" bIns="0" rtlCol="0" anchor="ctr"/>
          <a:lstStyle/>
          <a:p>
            <a:pPr indent="0" marL="0">
              <a:buNone/>
            </a:pPr>
            <a:r>
              <a:rPr lang="en-US" sz="1600" b="1" dirty="0">
                <a:solidFill>
                  <a:schemeClr val="bg1"/>
                </a:solidFill>
              </a:rPr>
              <a:t>All-or-nothing: a failed step never leaves half a sale in the database. Example: 50 − 5 sold = 45 in stock, with the change logged.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SQL Concepts Behind the Workflow</a:t>
            </a:r>
            <a:endParaRPr lang="en-US" sz="3600" dirty="0"/>
          </a:p>
        </p:txBody>
      </p:sp>
      <p:sp>
        <p:nvSpPr>
          <p:cNvPr id="3" name="Transaction code"/>
          <p:cNvSpPr/>
          <p:nvPr/>
        </p:nvSpPr>
        <p:spPr>
          <a:xfrm>
            <a:off x="548640" y="1371600"/>
            <a:ext cx="6583680" cy="3977640"/>
          </a:xfrm>
          <a:prstGeom prst="roundRect">
            <a:avLst>
              <a:gd name="adj" fmla="val 2759"/>
            </a:avLst>
          </a:prstGeom>
          <a:solidFill>
            <a:schemeClr val="tx1"/>
          </a:solidFill>
          <a:ln w="6350">
            <a:solidFill>
              <a:schemeClr val="tx1"/>
            </a:solidFill>
            <a:prstDash val="solid"/>
          </a:ln>
        </p:spPr>
      </p:sp>
      <p:sp>
        <p:nvSpPr>
          <p:cNvPr id="4" name="Text 2"/>
          <p:cNvSpPr txBox="1"/>
          <p:nvPr/>
        </p:nvSpPr>
        <p:spPr>
          <a:xfrm>
            <a:off x="822960" y="1508760"/>
            <a:ext cx="6035040" cy="274320"/>
          </a:xfrm>
          <a:prstGeom prst="rect">
            <a:avLst/>
          </a:prstGeom>
          <a:noFill/>
          <a:ln/>
        </p:spPr>
        <p:txBody>
          <a:bodyPr wrap="square" lIns="0" tIns="0" rIns="0" bIns="0" rtlCol="0" anchor="t"/>
          <a:lstStyle/>
          <a:p>
            <a:pPr indent="0" marL="0">
              <a:buNone/>
            </a:pPr>
            <a:r>
              <a:rPr lang="en-US" sz="1400" b="1" dirty="0">
                <a:solidFill>
                  <a:schemeClr val="accent2"/>
                </a:solidFill>
              </a:rPr>
              <a:t>Recording a sale as one transaction (illustrative)</a:t>
            </a:r>
            <a:endParaRPr lang="en-US" sz="1400" dirty="0"/>
          </a:p>
        </p:txBody>
      </p:sp>
      <p:sp>
        <p:nvSpPr>
          <p:cNvPr id="5" name="Text 3"/>
          <p:cNvSpPr txBox="1"/>
          <p:nvPr/>
        </p:nvSpPr>
        <p:spPr>
          <a:xfrm>
            <a:off x="822960" y="1874520"/>
            <a:ext cx="6035040" cy="338328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START TRANSACTION</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INSERT INTO</a:t>
            </a:r>
            <a:pPr indent="0" marL="0">
              <a:buNone/>
            </a:pPr>
            <a:r>
              <a:rPr lang="en-US" sz="1100" dirty="0">
                <a:solidFill>
                  <a:schemeClr val="bg1"/>
                </a:solidFill>
                <a:latin typeface="Courier New" pitchFamily="34" charset="0"/>
                <a:ea typeface="Courier New" pitchFamily="34" charset="-122"/>
                <a:cs typeface="Courier New" pitchFamily="34" charset="-120"/>
              </a:rPr>
              <a:t> sales (cashier_id, total_amount)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VALUES</a:t>
            </a:r>
            <a:pPr indent="0" marL="0">
              <a:buNone/>
            </a:pPr>
            <a:r>
              <a:rPr lang="en-US" sz="1100" dirty="0">
                <a:solidFill>
                  <a:schemeClr val="bg1"/>
                </a:solidFill>
                <a:latin typeface="Courier New" pitchFamily="34" charset="0"/>
                <a:ea typeface="Courier New" pitchFamily="34" charset="-122"/>
                <a:cs typeface="Courier New" pitchFamily="34" charset="-120"/>
              </a:rPr>
              <a:t> (3, 80);</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SET</a:t>
            </a:r>
            <a:pPr indent="0" marL="0">
              <a:buNone/>
            </a:pPr>
            <a:r>
              <a:rPr lang="en-US" sz="1100" dirty="0">
                <a:solidFill>
                  <a:schemeClr val="bg1"/>
                </a:solidFill>
                <a:latin typeface="Courier New" pitchFamily="34" charset="0"/>
                <a:ea typeface="Courier New" pitchFamily="34" charset="-122"/>
                <a:cs typeface="Courier New" pitchFamily="34" charset="-120"/>
              </a:rPr>
              <a:t> @sid = LAST_INSERT_ID();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INSERT INTO</a:t>
            </a:r>
            <a:pPr indent="0" marL="0">
              <a:buNone/>
            </a:pPr>
            <a:r>
              <a:rPr lang="en-US" sz="1100" dirty="0">
                <a:solidFill>
                  <a:schemeClr val="bg1"/>
                </a:solidFill>
                <a:latin typeface="Courier New" pitchFamily="34" charset="0"/>
                <a:ea typeface="Courier New" pitchFamily="34" charset="-122"/>
                <a:cs typeface="Courier New" pitchFamily="34" charset="-120"/>
              </a:rPr>
              <a:t> sale_items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(sale_id, product_id, quantity, unit_price)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VALUES</a:t>
            </a:r>
            <a:pPr indent="0" marL="0">
              <a:buNone/>
            </a:pPr>
            <a:r>
              <a:rPr lang="en-US" sz="1100" dirty="0">
                <a:solidFill>
                  <a:schemeClr val="bg1"/>
                </a:solidFill>
                <a:latin typeface="Courier New" pitchFamily="34" charset="0"/>
                <a:ea typeface="Courier New" pitchFamily="34" charset="-122"/>
                <a:cs typeface="Courier New" pitchFamily="34" charset="-120"/>
              </a:rPr>
              <a:t> (@sid, 1, 2, 20);</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UPDATE</a:t>
            </a:r>
            <a:pPr indent="0" marL="0">
              <a:buNone/>
            </a:pPr>
            <a:r>
              <a:rPr lang="en-US" sz="1100" dirty="0">
                <a:solidFill>
                  <a:schemeClr val="bg1"/>
                </a:solidFill>
                <a:latin typeface="Courier New" pitchFamily="34" charset="0"/>
                <a:ea typeface="Courier New" pitchFamily="34" charset="-122"/>
                <a:cs typeface="Courier New" pitchFamily="34" charset="-120"/>
              </a:rPr>
              <a:t> products </a:t>
            </a:r>
            <a:pPr indent="0" marL="0">
              <a:buNone/>
            </a:pPr>
            <a:r>
              <a:rPr lang="en-US" sz="1100" dirty="0">
                <a:solidFill>
                  <a:schemeClr val="accent2"/>
                </a:solidFill>
                <a:latin typeface="Courier New" pitchFamily="34" charset="0"/>
                <a:ea typeface="Courier New" pitchFamily="34" charset="-122"/>
                <a:cs typeface="Courier New" pitchFamily="34" charset="-120"/>
              </a:rPr>
              <a:t>SET</a:t>
            </a:r>
            <a:pPr indent="0" marL="0">
              <a:buNone/>
            </a:pPr>
            <a:r>
              <a:rPr lang="en-US" sz="1100" dirty="0">
                <a:solidFill>
                  <a:schemeClr val="bg1"/>
                </a:solidFill>
                <a:latin typeface="Courier New" pitchFamily="34" charset="0"/>
                <a:ea typeface="Courier New" pitchFamily="34" charset="-122"/>
                <a:cs typeface="Courier New" pitchFamily="34" charset="-120"/>
              </a:rPr>
              <a:t> stock_qty = stock_qty - 2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WHERE</a:t>
            </a:r>
            <a:pPr indent="0" marL="0">
              <a:buNone/>
            </a:pPr>
            <a:r>
              <a:rPr lang="en-US" sz="1100" dirty="0">
                <a:solidFill>
                  <a:schemeClr val="bg1"/>
                </a:solidFill>
                <a:latin typeface="Courier New" pitchFamily="34" charset="0"/>
                <a:ea typeface="Courier New" pitchFamily="34" charset="-122"/>
                <a:cs typeface="Courier New" pitchFamily="34" charset="-120"/>
              </a:rPr>
              <a:t> product_id = 1 </a:t>
            </a:r>
            <a:pPr indent="0" marL="0">
              <a:buNone/>
            </a:pPr>
            <a:r>
              <a:rPr lang="en-US" sz="1100" dirty="0">
                <a:solidFill>
                  <a:schemeClr val="accent2"/>
                </a:solidFill>
                <a:latin typeface="Courier New" pitchFamily="34" charset="0"/>
                <a:ea typeface="Courier New" pitchFamily="34" charset="-122"/>
                <a:cs typeface="Courier New" pitchFamily="34" charset="-120"/>
              </a:rPr>
              <a:t>AND</a:t>
            </a:r>
            <a:pPr indent="0" marL="0">
              <a:buNone/>
            </a:pPr>
            <a:r>
              <a:rPr lang="en-US" sz="1100" dirty="0">
                <a:solidFill>
                  <a:schemeClr val="bg1"/>
                </a:solidFill>
                <a:latin typeface="Courier New" pitchFamily="34" charset="0"/>
                <a:ea typeface="Courier New" pitchFamily="34" charset="-122"/>
                <a:cs typeface="Courier New" pitchFamily="34" charset="-120"/>
              </a:rPr>
              <a:t> stock_qty &gt;= 2;</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INSERT INTO</a:t>
            </a:r>
            <a:pPr indent="0" marL="0">
              <a:buNone/>
            </a:pPr>
            <a:r>
              <a:rPr lang="en-US" sz="1100" dirty="0">
                <a:solidFill>
                  <a:schemeClr val="bg1"/>
                </a:solidFill>
                <a:latin typeface="Courier New" pitchFamily="34" charset="0"/>
                <a:ea typeface="Courier New" pitchFamily="34" charset="-122"/>
                <a:cs typeface="Courier New" pitchFamily="34" charset="-120"/>
              </a:rPr>
              <a:t> stock_movements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(product_id, change_qty, reason)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VALUES</a:t>
            </a:r>
            <a:pPr indent="0" marL="0">
              <a:buNone/>
            </a:pPr>
            <a:r>
              <a:rPr lang="en-US" sz="1100" dirty="0">
                <a:solidFill>
                  <a:schemeClr val="bg1"/>
                </a:solidFill>
                <a:latin typeface="Courier New" pitchFamily="34" charset="0"/>
                <a:ea typeface="Courier New" pitchFamily="34" charset="-122"/>
                <a:cs typeface="Courier New" pitchFamily="34" charset="-120"/>
              </a:rPr>
              <a:t> (1, -2, 'SALE');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COMMIT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 or ROLLBACK on any failure</a:t>
            </a:r>
            <a:endParaRPr lang="en-US" sz="1100" dirty="0"/>
          </a:p>
        </p:txBody>
      </p:sp>
      <p:sp>
        <p:nvSpPr>
          <p:cNvPr id="6" name="Best sellers query"/>
          <p:cNvSpPr/>
          <p:nvPr/>
        </p:nvSpPr>
        <p:spPr>
          <a:xfrm>
            <a:off x="7406640" y="1371600"/>
            <a:ext cx="4206240" cy="1920240"/>
          </a:xfrm>
          <a:prstGeom prst="roundRect">
            <a:avLst>
              <a:gd name="adj" fmla="val 5714"/>
            </a:avLst>
          </a:prstGeom>
          <a:solidFill>
            <a:schemeClr val="tx1"/>
          </a:solidFill>
          <a:ln w="6350">
            <a:solidFill>
              <a:schemeClr val="tx1"/>
            </a:solidFill>
            <a:prstDash val="solid"/>
          </a:ln>
        </p:spPr>
      </p:sp>
      <p:sp>
        <p:nvSpPr>
          <p:cNvPr id="7" name="Text 5"/>
          <p:cNvSpPr txBox="1"/>
          <p:nvPr/>
        </p:nvSpPr>
        <p:spPr>
          <a:xfrm>
            <a:off x="7635240" y="1481328"/>
            <a:ext cx="3749040" cy="274320"/>
          </a:xfrm>
          <a:prstGeom prst="rect">
            <a:avLst/>
          </a:prstGeom>
          <a:noFill/>
          <a:ln/>
        </p:spPr>
        <p:txBody>
          <a:bodyPr wrap="square" lIns="0" tIns="0" rIns="0" bIns="0" rtlCol="0" anchor="t"/>
          <a:lstStyle/>
          <a:p>
            <a:pPr indent="0" marL="0">
              <a:buNone/>
            </a:pPr>
            <a:r>
              <a:rPr lang="en-US" sz="1400" b="1" dirty="0">
                <a:solidFill>
                  <a:schemeClr val="accent2"/>
                </a:solidFill>
              </a:rPr>
              <a:t>Best-selling products (JOIN + GROUP BY)</a:t>
            </a:r>
            <a:endParaRPr lang="en-US" sz="1400" dirty="0"/>
          </a:p>
        </p:txBody>
      </p:sp>
      <p:sp>
        <p:nvSpPr>
          <p:cNvPr id="8" name="Text 6"/>
          <p:cNvSpPr txBox="1"/>
          <p:nvPr/>
        </p:nvSpPr>
        <p:spPr>
          <a:xfrm>
            <a:off x="7635240" y="1810512"/>
            <a:ext cx="3840480" cy="14173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p.product_name,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(si.quantity) </a:t>
            </a:r>
            <a:pPr indent="0" marL="0">
              <a:buNone/>
            </a:pPr>
            <a:r>
              <a:rPr lang="en-US" sz="1100" dirty="0">
                <a:solidFill>
                  <a:schemeClr val="accent2"/>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sold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sale_items si</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JOIN</a:t>
            </a:r>
            <a:pPr indent="0" marL="0">
              <a:buNone/>
            </a:pPr>
            <a:r>
              <a:rPr lang="en-US" sz="1100" dirty="0">
                <a:solidFill>
                  <a:schemeClr val="bg1"/>
                </a:solidFill>
                <a:latin typeface="Courier New" pitchFamily="34" charset="0"/>
                <a:ea typeface="Courier New" pitchFamily="34" charset="-122"/>
                <a:cs typeface="Courier New" pitchFamily="34" charset="-120"/>
              </a:rPr>
              <a:t> products 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p.product_id = si.product_id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GROUP BY</a:t>
            </a:r>
            <a:pPr indent="0" marL="0">
              <a:buNone/>
            </a:pPr>
            <a:r>
              <a:rPr lang="en-US" sz="1100" dirty="0">
                <a:solidFill>
                  <a:schemeClr val="bg1"/>
                </a:solidFill>
                <a:latin typeface="Courier New" pitchFamily="34" charset="0"/>
                <a:ea typeface="Courier New" pitchFamily="34" charset="-122"/>
                <a:cs typeface="Courier New" pitchFamily="34" charset="-120"/>
              </a:rPr>
              <a:t> p.product_id, p.product_name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ORDER BY</a:t>
            </a:r>
            <a:pPr indent="0" marL="0">
              <a:buNone/>
            </a:pPr>
            <a:r>
              <a:rPr lang="en-US" sz="1100" dirty="0">
                <a:solidFill>
                  <a:schemeClr val="bg1"/>
                </a:solidFill>
                <a:latin typeface="Courier New" pitchFamily="34" charset="0"/>
                <a:ea typeface="Courier New" pitchFamily="34" charset="-122"/>
                <a:cs typeface="Courier New" pitchFamily="34" charset="-120"/>
              </a:rPr>
              <a:t> sold </a:t>
            </a:r>
            <a:pPr indent="0" marL="0">
              <a:buNone/>
            </a:pPr>
            <a:r>
              <a:rPr lang="en-US" sz="1100" dirty="0">
                <a:solidFill>
                  <a:schemeClr val="accent2"/>
                </a:solidFill>
                <a:latin typeface="Courier New" pitchFamily="34" charset="0"/>
                <a:ea typeface="Courier New" pitchFamily="34" charset="-122"/>
                <a:cs typeface="Courier New" pitchFamily="34" charset="-120"/>
              </a:rPr>
              <a:t>DESC</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LIMIT</a:t>
            </a:r>
            <a:pPr indent="0" marL="0">
              <a:buNone/>
            </a:pPr>
            <a:r>
              <a:rPr lang="en-US" sz="1100" dirty="0">
                <a:solidFill>
                  <a:schemeClr val="bg1"/>
                </a:solidFill>
                <a:latin typeface="Courier New" pitchFamily="34" charset="0"/>
                <a:ea typeface="Courier New" pitchFamily="34" charset="-122"/>
                <a:cs typeface="Courier New" pitchFamily="34" charset="-120"/>
              </a:rPr>
              <a:t> 5;</a:t>
            </a:r>
            <a:endParaRPr lang="en-US" sz="1100" dirty="0"/>
          </a:p>
        </p:txBody>
      </p:sp>
      <p:sp>
        <p:nvSpPr>
          <p:cNvPr id="9" name="Low stock query"/>
          <p:cNvSpPr/>
          <p:nvPr/>
        </p:nvSpPr>
        <p:spPr>
          <a:xfrm>
            <a:off x="7406640" y="3429000"/>
            <a:ext cx="4206240" cy="1920240"/>
          </a:xfrm>
          <a:prstGeom prst="roundRect">
            <a:avLst>
              <a:gd name="adj" fmla="val 5714"/>
            </a:avLst>
          </a:prstGeom>
          <a:solidFill>
            <a:schemeClr val="tx1"/>
          </a:solidFill>
          <a:ln w="6350">
            <a:solidFill>
              <a:schemeClr val="tx1"/>
            </a:solidFill>
            <a:prstDash val="solid"/>
          </a:ln>
        </p:spPr>
      </p:sp>
      <p:sp>
        <p:nvSpPr>
          <p:cNvPr id="10" name="Text 8"/>
          <p:cNvSpPr txBox="1"/>
          <p:nvPr/>
        </p:nvSpPr>
        <p:spPr>
          <a:xfrm>
            <a:off x="7635240" y="3538728"/>
            <a:ext cx="3749040" cy="274320"/>
          </a:xfrm>
          <a:prstGeom prst="rect">
            <a:avLst/>
          </a:prstGeom>
          <a:noFill/>
          <a:ln/>
        </p:spPr>
        <p:txBody>
          <a:bodyPr wrap="square" lIns="0" tIns="0" rIns="0" bIns="0" rtlCol="0" anchor="t"/>
          <a:lstStyle/>
          <a:p>
            <a:pPr indent="0" marL="0">
              <a:buNone/>
            </a:pPr>
            <a:r>
              <a:rPr lang="en-US" sz="1400" b="1" dirty="0">
                <a:solidFill>
                  <a:schemeClr val="accent2"/>
                </a:solidFill>
              </a:rPr>
              <a:t>Low-stock alert (WHERE filter)</a:t>
            </a:r>
            <a:endParaRPr lang="en-US" sz="1400" dirty="0"/>
          </a:p>
        </p:txBody>
      </p:sp>
      <p:sp>
        <p:nvSpPr>
          <p:cNvPr id="11" name="Text 9"/>
          <p:cNvSpPr txBox="1"/>
          <p:nvPr/>
        </p:nvSpPr>
        <p:spPr>
          <a:xfrm>
            <a:off x="7635240" y="3867912"/>
            <a:ext cx="3840480" cy="91440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product_name, stock_qty,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reorder_level</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products</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WHERE</a:t>
            </a:r>
            <a:pPr indent="0" marL="0">
              <a:buNone/>
            </a:pPr>
            <a:r>
              <a:rPr lang="en-US" sz="1100" dirty="0">
                <a:solidFill>
                  <a:schemeClr val="bg1"/>
                </a:solidFill>
                <a:latin typeface="Courier New" pitchFamily="34" charset="0"/>
                <a:ea typeface="Courier New" pitchFamily="34" charset="-122"/>
                <a:cs typeface="Courier New" pitchFamily="34" charset="-120"/>
              </a:rPr>
              <a:t> stock_qty &lt;= reorder_level;</a:t>
            </a:r>
            <a:endParaRPr lang="en-US" sz="1100" dirty="0"/>
          </a:p>
        </p:txBody>
      </p:sp>
      <p:sp>
        <p:nvSpPr>
          <p:cNvPr id="12" name="Chip"/>
          <p:cNvSpPr/>
          <p:nvPr/>
        </p:nvSpPr>
        <p:spPr>
          <a:xfrm>
            <a:off x="548640" y="5577840"/>
            <a:ext cx="2606040" cy="594360"/>
          </a:xfrm>
          <a:prstGeom prst="roundRect">
            <a:avLst>
              <a:gd name="adj" fmla="val 18462"/>
            </a:avLst>
          </a:prstGeom>
          <a:solidFill>
            <a:schemeClr val="accent1"/>
          </a:solidFill>
          <a:ln w="6350">
            <a:solidFill>
              <a:schemeClr val="accent1"/>
            </a:solidFill>
            <a:prstDash val="solid"/>
          </a:ln>
        </p:spPr>
      </p:sp>
      <p:sp>
        <p:nvSpPr>
          <p:cNvPr id="13" name="Text 11"/>
          <p:cNvSpPr txBox="1"/>
          <p:nvPr/>
        </p:nvSpPr>
        <p:spPr>
          <a:xfrm>
            <a:off x="640080" y="5577840"/>
            <a:ext cx="2423160" cy="594360"/>
          </a:xfrm>
          <a:prstGeom prst="rect">
            <a:avLst/>
          </a:prstGeom>
          <a:noFill/>
          <a:ln/>
        </p:spPr>
        <p:txBody>
          <a:bodyPr wrap="square" lIns="0" tIns="0" rIns="0" bIns="0" rtlCol="0" anchor="ctr"/>
          <a:lstStyle/>
          <a:p>
            <a:pPr algn="ctr" indent="0" marL="0">
              <a:buNone/>
            </a:pPr>
            <a:r>
              <a:rPr lang="en-US" sz="1400" b="1" dirty="0">
                <a:solidFill>
                  <a:schemeClr val="bg1"/>
                </a:solidFill>
              </a:rPr>
              <a:t>Transaction: commit / rollback</a:t>
            </a:r>
            <a:endParaRPr lang="en-US" sz="1400" dirty="0"/>
          </a:p>
        </p:txBody>
      </p:sp>
      <p:sp>
        <p:nvSpPr>
          <p:cNvPr id="14" name="Chip"/>
          <p:cNvSpPr/>
          <p:nvPr/>
        </p:nvSpPr>
        <p:spPr>
          <a:xfrm>
            <a:off x="3360420" y="5577840"/>
            <a:ext cx="2606040" cy="594360"/>
          </a:xfrm>
          <a:prstGeom prst="roundRect">
            <a:avLst>
              <a:gd name="adj" fmla="val 18462"/>
            </a:avLst>
          </a:prstGeom>
          <a:solidFill>
            <a:schemeClr val="accent5"/>
          </a:solidFill>
          <a:ln w="6350">
            <a:solidFill>
              <a:schemeClr val="accent5"/>
            </a:solidFill>
            <a:prstDash val="solid"/>
          </a:ln>
        </p:spPr>
      </p:sp>
      <p:sp>
        <p:nvSpPr>
          <p:cNvPr id="15" name="Text 13"/>
          <p:cNvSpPr txBox="1"/>
          <p:nvPr/>
        </p:nvSpPr>
        <p:spPr>
          <a:xfrm>
            <a:off x="3451860" y="5577840"/>
            <a:ext cx="2423160" cy="594360"/>
          </a:xfrm>
          <a:prstGeom prst="rect">
            <a:avLst/>
          </a:prstGeom>
          <a:noFill/>
          <a:ln/>
        </p:spPr>
        <p:txBody>
          <a:bodyPr wrap="square" lIns="0" tIns="0" rIns="0" bIns="0" rtlCol="0" anchor="ctr"/>
          <a:lstStyle/>
          <a:p>
            <a:pPr algn="ctr" indent="0" marL="0">
              <a:buNone/>
            </a:pPr>
            <a:r>
              <a:rPr lang="en-US" sz="1400" b="1" dirty="0">
                <a:solidFill>
                  <a:schemeClr val="bg1"/>
                </a:solidFill>
              </a:rPr>
              <a:t>JOIN across tables</a:t>
            </a:r>
            <a:endParaRPr lang="en-US" sz="1400" dirty="0"/>
          </a:p>
        </p:txBody>
      </p:sp>
      <p:sp>
        <p:nvSpPr>
          <p:cNvPr id="16" name="Chip"/>
          <p:cNvSpPr/>
          <p:nvPr/>
        </p:nvSpPr>
        <p:spPr>
          <a:xfrm>
            <a:off x="6172200" y="5577840"/>
            <a:ext cx="2606040" cy="594360"/>
          </a:xfrm>
          <a:prstGeom prst="roundRect">
            <a:avLst>
              <a:gd name="adj" fmla="val 18462"/>
            </a:avLst>
          </a:prstGeom>
          <a:solidFill>
            <a:schemeClr val="accent3"/>
          </a:solidFill>
          <a:ln w="6350">
            <a:solidFill>
              <a:schemeClr val="accent3"/>
            </a:solidFill>
            <a:prstDash val="solid"/>
          </a:ln>
        </p:spPr>
      </p:sp>
      <p:sp>
        <p:nvSpPr>
          <p:cNvPr id="17" name="Text 15"/>
          <p:cNvSpPr txBox="1"/>
          <p:nvPr/>
        </p:nvSpPr>
        <p:spPr>
          <a:xfrm>
            <a:off x="6263640" y="5577840"/>
            <a:ext cx="2423160" cy="594360"/>
          </a:xfrm>
          <a:prstGeom prst="rect">
            <a:avLst/>
          </a:prstGeom>
          <a:noFill/>
          <a:ln/>
        </p:spPr>
        <p:txBody>
          <a:bodyPr wrap="square" lIns="0" tIns="0" rIns="0" bIns="0" rtlCol="0" anchor="ctr"/>
          <a:lstStyle/>
          <a:p>
            <a:pPr algn="ctr" indent="0" marL="0">
              <a:buNone/>
            </a:pPr>
            <a:r>
              <a:rPr lang="en-US" sz="1400" b="1" dirty="0">
                <a:solidFill>
                  <a:schemeClr val="bg1"/>
                </a:solidFill>
              </a:rPr>
              <a:t>GROUP BY + SUM</a:t>
            </a:r>
            <a:endParaRPr lang="en-US" sz="1400" dirty="0"/>
          </a:p>
        </p:txBody>
      </p:sp>
      <p:sp>
        <p:nvSpPr>
          <p:cNvPr id="18" name="Chip"/>
          <p:cNvSpPr/>
          <p:nvPr/>
        </p:nvSpPr>
        <p:spPr>
          <a:xfrm>
            <a:off x="8983980" y="5577840"/>
            <a:ext cx="2606040" cy="594360"/>
          </a:xfrm>
          <a:prstGeom prst="roundRect">
            <a:avLst>
              <a:gd name="adj" fmla="val 18462"/>
            </a:avLst>
          </a:prstGeom>
          <a:solidFill>
            <a:schemeClr val="tx2"/>
          </a:solidFill>
          <a:ln w="6350">
            <a:solidFill>
              <a:schemeClr val="tx2"/>
            </a:solidFill>
            <a:prstDash val="solid"/>
          </a:ln>
        </p:spPr>
      </p:sp>
      <p:sp>
        <p:nvSpPr>
          <p:cNvPr id="19" name="Text 17"/>
          <p:cNvSpPr txBox="1"/>
          <p:nvPr/>
        </p:nvSpPr>
        <p:spPr>
          <a:xfrm>
            <a:off x="9075420" y="5577840"/>
            <a:ext cx="2423160" cy="594360"/>
          </a:xfrm>
          <a:prstGeom prst="rect">
            <a:avLst/>
          </a:prstGeom>
          <a:noFill/>
          <a:ln/>
        </p:spPr>
        <p:txBody>
          <a:bodyPr wrap="square" lIns="0" tIns="0" rIns="0" bIns="0" rtlCol="0" anchor="ctr"/>
          <a:lstStyle/>
          <a:p>
            <a:pPr algn="ctr" indent="0" marL="0">
              <a:buNone/>
            </a:pPr>
            <a:r>
              <a:rPr lang="en-US" sz="1400" b="1" dirty="0">
                <a:solidFill>
                  <a:schemeClr val="bg1"/>
                </a:solidFill>
              </a:rPr>
              <a:t>Foreign-key constraints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731520" y="1737360"/>
            <a:ext cx="6949440" cy="210312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1"/>
          <p:cNvSpPr/>
          <p:nvPr>
            <p:ph idx="102" type="body" hasCustomPrompt="1"/>
          </p:nvPr>
        </p:nvSpPr>
        <p:spPr>
          <a:xfrm>
            <a:off x="731520" y="4114800"/>
            <a:ext cx="6949440" cy="1188720"/>
          </a:xfrm>
          <a:prstGeom prst="rect">
            <a:avLst/>
          </a:prstGeom>
          <a:noFill/>
          <a:ln/>
        </p:spPr>
        <p:txBody>
          <a:bodyPr wrap="square" lIns="0" tIns="0" rIns="0" bIns="0" rtlCol="0" anchor="t"/>
          <a:lstStyle/>
          <a:p>
            <a:pPr indent="0" marL="0">
              <a:buNone/>
            </a:pPr>
            <a:r>
              <a:rPr lang="en-US" sz="2000" b="1" dirty="0">
                <a:solidFill>
                  <a:schemeClr val="accent2"/>
                </a:solidFill>
              </a:rPr>
              <a:t>Questions?</a:t>
            </a:r>
            <a:endParaRPr lang="en-US" sz="2000" dirty="0"/>
          </a:p>
        </p:txBody>
      </p:sp>
      <p:sp>
        <p:nvSpPr>
          <p:cNvPr id="4" name="Icon circle"/>
          <p:cNvSpPr/>
          <p:nvPr/>
        </p:nvSpPr>
        <p:spPr>
          <a:xfrm>
            <a:off x="8229600" y="1554480"/>
            <a:ext cx="914400" cy="91440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8467344" y="1792224"/>
            <a:ext cx="438912" cy="438912"/>
          </a:xfrm>
          <a:prstGeom prst="rect">
            <a:avLst/>
          </a:prstGeom>
        </p:spPr>
      </p:pic>
      <p:sp>
        <p:nvSpPr>
          <p:cNvPr id="6" name="Text 3"/>
          <p:cNvSpPr txBox="1"/>
          <p:nvPr/>
        </p:nvSpPr>
        <p:spPr>
          <a:xfrm>
            <a:off x="9372600" y="1554480"/>
            <a:ext cx="2286000" cy="914400"/>
          </a:xfrm>
          <a:prstGeom prst="rect">
            <a:avLst/>
          </a:prstGeom>
          <a:noFill/>
          <a:ln/>
        </p:spPr>
        <p:txBody>
          <a:bodyPr wrap="square" lIns="0" tIns="0" rIns="0" bIns="0" rtlCol="0" anchor="ctr"/>
          <a:lstStyle/>
          <a:p>
            <a:pPr indent="0" marL="0">
              <a:buNone/>
            </a:pPr>
            <a:r>
              <a:rPr lang="en-US" sz="1800" b="1" dirty="0">
                <a:solidFill>
                  <a:schemeClr val="bg1"/>
                </a:solidFill>
              </a:rPr>
              <a:t>Centralized records</a:t>
            </a:r>
            <a:endParaRPr lang="en-US" sz="1800" dirty="0"/>
          </a:p>
        </p:txBody>
      </p:sp>
      <p:sp>
        <p:nvSpPr>
          <p:cNvPr id="7" name="Icon circle"/>
          <p:cNvSpPr/>
          <p:nvPr/>
        </p:nvSpPr>
        <p:spPr>
          <a:xfrm>
            <a:off x="8229600" y="2880360"/>
            <a:ext cx="914400" cy="914400"/>
          </a:xfrm>
          <a:prstGeom prst="ellipse">
            <a:avLst/>
          </a:prstGeom>
          <a:solidFill>
            <a:schemeClr val="accent2"/>
          </a:solidFill>
          <a:ln w="6350">
            <a:solidFill>
              <a:schemeClr val="accent2"/>
            </a:solidFill>
            <a:prstDash val="solid"/>
          </a:ln>
        </p:spPr>
      </p:sp>
      <p:pic>
        <p:nvPicPr>
          <p:cNvPr id="8" name="Icon" descr="icon">    </p:cNvPr>
          <p:cNvPicPr>
            <a:picLocks noChangeAspect="1"/>
          </p:cNvPicPr>
          <p:nvPr/>
        </p:nvPicPr>
        <p:blipFill>
          <a:blip r:embed="rId2"/>
          <a:stretch>
            <a:fillRect/>
          </a:stretch>
        </p:blipFill>
        <p:spPr>
          <a:xfrm>
            <a:off x="8467344" y="3118104"/>
            <a:ext cx="438912" cy="438912"/>
          </a:xfrm>
          <a:prstGeom prst="rect">
            <a:avLst/>
          </a:prstGeom>
        </p:spPr>
      </p:pic>
      <p:sp>
        <p:nvSpPr>
          <p:cNvPr id="9" name="Text 5"/>
          <p:cNvSpPr txBox="1"/>
          <p:nvPr/>
        </p:nvSpPr>
        <p:spPr>
          <a:xfrm>
            <a:off x="9372600" y="2880360"/>
            <a:ext cx="2286000" cy="914400"/>
          </a:xfrm>
          <a:prstGeom prst="rect">
            <a:avLst/>
          </a:prstGeom>
          <a:noFill/>
          <a:ln/>
        </p:spPr>
        <p:txBody>
          <a:bodyPr wrap="square" lIns="0" tIns="0" rIns="0" bIns="0" rtlCol="0" anchor="ctr"/>
          <a:lstStyle/>
          <a:p>
            <a:pPr indent="0" marL="0">
              <a:buNone/>
            </a:pPr>
            <a:r>
              <a:rPr lang="en-US" sz="1800" b="1" dirty="0">
                <a:solidFill>
                  <a:schemeClr val="bg1"/>
                </a:solidFill>
              </a:rPr>
              <a:t>Automated billing and stock</a:t>
            </a:r>
            <a:endParaRPr lang="en-US" sz="1800" dirty="0"/>
          </a:p>
        </p:txBody>
      </p:sp>
      <p:sp>
        <p:nvSpPr>
          <p:cNvPr id="10" name="Icon circle"/>
          <p:cNvSpPr/>
          <p:nvPr/>
        </p:nvSpPr>
        <p:spPr>
          <a:xfrm>
            <a:off x="8229600" y="4206240"/>
            <a:ext cx="914400" cy="914400"/>
          </a:xfrm>
          <a:prstGeom prst="ellipse">
            <a:avLst/>
          </a:prstGeom>
          <a:solidFill>
            <a:schemeClr val="accent3"/>
          </a:solidFill>
          <a:ln w="6350">
            <a:solidFill>
              <a:schemeClr val="accent3"/>
            </a:solidFill>
            <a:prstDash val="solid"/>
          </a:ln>
        </p:spPr>
      </p:sp>
      <p:pic>
        <p:nvPicPr>
          <p:cNvPr id="11" name="Icon" descr="icon">    </p:cNvPr>
          <p:cNvPicPr>
            <a:picLocks noChangeAspect="1"/>
          </p:cNvPicPr>
          <p:nvPr/>
        </p:nvPicPr>
        <p:blipFill>
          <a:blip r:embed="rId3"/>
          <a:stretch>
            <a:fillRect/>
          </a:stretch>
        </p:blipFill>
        <p:spPr>
          <a:xfrm>
            <a:off x="8467344" y="4443984"/>
            <a:ext cx="438912" cy="438912"/>
          </a:xfrm>
          <a:prstGeom prst="rect">
            <a:avLst/>
          </a:prstGeom>
        </p:spPr>
      </p:pic>
      <p:sp>
        <p:nvSpPr>
          <p:cNvPr id="12" name="Text 7"/>
          <p:cNvSpPr txBox="1"/>
          <p:nvPr/>
        </p:nvSpPr>
        <p:spPr>
          <a:xfrm>
            <a:off x="9372600" y="4206240"/>
            <a:ext cx="2286000" cy="914400"/>
          </a:xfrm>
          <a:prstGeom prst="rect">
            <a:avLst/>
          </a:prstGeom>
          <a:noFill/>
          <a:ln/>
        </p:spPr>
        <p:txBody>
          <a:bodyPr wrap="square" lIns="0" tIns="0" rIns="0" bIns="0" rtlCol="0" anchor="ctr"/>
          <a:lstStyle/>
          <a:p>
            <a:pPr indent="0" marL="0">
              <a:buNone/>
            </a:pPr>
            <a:r>
              <a:rPr lang="en-US" sz="1800" b="1" dirty="0">
                <a:solidFill>
                  <a:schemeClr val="bg1"/>
                </a:solidFill>
              </a:rPr>
              <a:t>Role-based security</a:t>
            </a:r>
            <a:endParaRPr lang="en-US" sz="1800" dirty="0"/>
          </a:p>
        </p:txBody>
      </p:sp>
    </p:spTree>
  </p:cSld>
  <p:clrMapOvr>
    <a:masterClrMapping/>
  </p:clrMapOvr>
</p:sld>
</file>

<file path=ppt/theme/theme1.xml><?xml version="1.0" encoding="utf-8"?>
<a:theme xmlns:a="http://schemas.openxmlformats.org/drawingml/2006/main" name="Retail Inventory">
  <a:themeElements>
    <a:clrScheme name="Retail Inventory">
      <a:dk1>
        <a:srgbClr val="1B2B2E"/>
      </a:dk1>
      <a:lt1>
        <a:srgbClr val="FFFFFF"/>
      </a:lt1>
      <a:dk2>
        <a:srgbClr val="0F3D3E"/>
      </a:dk2>
      <a:lt2>
        <a:srgbClr val="EAF2F1"/>
      </a:lt2>
      <a:accent1>
        <a:srgbClr val="1C7C7D"/>
      </a:accent1>
      <a:accent2>
        <a:srgbClr val="F2A541"/>
      </a:accent2>
      <a:accent3>
        <a:srgbClr val="2E9E83"/>
      </a:accent3>
      <a:accent4>
        <a:srgbClr val="E4572E"/>
      </a:accent4>
      <a:accent5>
        <a:srgbClr val="5B7C99"/>
      </a:accent5>
      <a:accent6>
        <a:srgbClr val="8AA29E"/>
      </a:accent6>
      <a:hlink>
        <a:srgbClr val="1C7C7D"/>
      </a:hlink>
      <a:folHlink>
        <a:srgbClr val="5B7C99"/>
      </a:folHlink>
    </a:clrScheme>
    <a:fontScheme name="Retail Inven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 PBL REVIEW 2</dc:title>
  <dc:subject>Retail Inventory and Sales Management System</dc:subject>
  <dc:creator>PptxGenJS</dc:creator>
  <cp:lastModifiedBy>PptxGenJS</cp:lastModifiedBy>
  <cp:revision>1</cp:revision>
  <dcterms:created xsi:type="dcterms:W3CDTF">2026-10-13T20:13:54Z</dcterms:created>
  <dcterms:modified xsi:type="dcterms:W3CDTF">2026-10-13T20:13:54Z</dcterms:modified>
</cp:coreProperties>
</file>