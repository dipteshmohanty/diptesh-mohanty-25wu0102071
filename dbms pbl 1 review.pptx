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640080"/>
            <a:ext cx="2743200" cy="2743200"/>
          </a:xfrm>
          <a:prstGeom prst="ellipse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017520"/>
            <a:ext cx="1828800" cy="1828800"/>
          </a:xfrm>
          <a:prstGeom prst="ellipse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4389120"/>
            <a:ext cx="1280160" cy="1280160"/>
          </a:xfrm>
          <a:prstGeom prst="ellipse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49808"/>
            <a:ext cx="1828800" cy="310896"/>
          </a:xfrm>
          <a:prstGeom prst="round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2668"/>
            <a:ext cx="17373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BTECH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498079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Retail Inventory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and Sales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7665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DCE6F1"/>
                </a:solidFill>
                <a:latin typeface="Aptos"/>
              </a:rPr>
              <a:t>A MySQL-powered web application for managing products, stock, billing, purchases, and sales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4572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DCE6F1"/>
                </a:solidFill>
                <a:latin typeface="Aptos"/>
              </a:rPr>
              <a:t>Presented by: __________________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DCE6F1"/>
                </a:solidFill>
                <a:latin typeface="Aptos"/>
              </a:rPr>
              <a:t>Department / Section: 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4114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ACBED3"/>
                </a:solidFill>
                <a:latin typeface="Aptos"/>
              </a:rPr>
              <a:t>PROJECT PRESENTATION  •  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Why small and medium retail stores need a centralized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C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Manual stock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B3441"/>
                </a:solidFill>
                <a:latin typeface="Aptos"/>
              </a:rPr>
              <a:t>Paper registers and spreadsheets can become inconsistent as products and transactions increase.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Billing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3852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B3441"/>
                </a:solidFill>
                <a:latin typeface="Aptos"/>
              </a:rPr>
              <a:t>Manual calculations and repeated data entry can cause incorrect totals and delays at checkout.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41732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Limited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B3441"/>
                </a:solidFill>
                <a:latin typeface="Aptos"/>
              </a:rPr>
              <a:t>Owners may struggle to identify fast-selling items, low stock, and daily sales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162744"/>
                </a:solidFill>
                <a:latin typeface="Aptos"/>
              </a:rPr>
              <a:t>Project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42416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B3441"/>
                </a:solidFill>
                <a:latin typeface="Aptos"/>
              </a:rPr>
              <a:t>Develop a secure, database-driven application that stores retail data in MySQL and connects inventory, purchases, sales, and reporting in one place.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166360"/>
            <a:ext cx="2057400" cy="3108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89220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Record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5193792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166360"/>
            <a:ext cx="2057400" cy="31089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79" y="5189220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Track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5193792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66360"/>
            <a:ext cx="2057400" cy="3108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189220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Process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5193792"/>
            <a:ext cx="38404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5166360"/>
            <a:ext cx="2057400" cy="310896"/>
          </a:xfrm>
          <a:prstGeom prst="roundRect">
            <a:avLst/>
          </a:prstGeom>
          <a:solidFill>
            <a:srgbClr val="D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5189220"/>
            <a:ext cx="196596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Generate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Objectives and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A single system for day-to-day retail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Inventory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Maintain product details, current quantity, reorder levels, and stock movement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50876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Point of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3852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Search products, prepare a cart, calculate totals, record payment method, and print receipts.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508760"/>
          </a:xfrm>
          <a:prstGeom prst="rect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Purchasing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Record suppliers, purchase orders, received quantities, and stock additions.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48386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85876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Separate permissions for Admin, Cashier, and Inventory Manager.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337560"/>
            <a:ext cx="73152" cy="150876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48386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85876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Review daily/monthly sales, top products, low-stock items, and inventory valuation.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37560"/>
            <a:ext cx="352044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337560"/>
            <a:ext cx="73152" cy="1508760"/>
          </a:xfrm>
          <a:prstGeom prst="rect">
            <a:avLst/>
          </a:prstGeom>
          <a:solidFill>
            <a:srgbClr val="39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48386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Data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858768"/>
            <a:ext cx="317296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Use SQL constraints, foreign keys, and transactions to protect consistency.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62744"/>
                </a:solidFill>
                <a:latin typeface="Aptos"/>
              </a:rPr>
              <a:t>Expected outcome: fewer manual errors, clearer stock visibility, and faster access to reliable business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User 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Three roles with different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352044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52044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62744"/>
                </a:solidFill>
                <a:latin typeface="Aptos"/>
              </a:rPr>
              <a:t>Admin / Store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3172968" cy="2898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Manage user accounts and roles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Manage products, categories, and suppliers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View all sales and inventory reports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Manage purchase records and system settings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Review audit and stock movement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52044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352044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62744"/>
                </a:solidFill>
                <a:latin typeface="Aptos"/>
              </a:rPr>
              <a:t>Cashier / Sales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38528"/>
            <a:ext cx="3172968" cy="2898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Search products and check availability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Add items to cart and process sales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Record cash, card, or UPI payments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Generate and print receipts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View permitted transaction history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Cannot edit stock directly or manage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352044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3520440"/>
          </a:xfrm>
          <a:prstGeom prst="rect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6362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62744"/>
                </a:solidFill>
                <a:latin typeface="Aptos"/>
              </a:rPr>
              <a:t>Inventory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38528"/>
            <a:ext cx="3172968" cy="2898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Maintain product and stock records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Record received purchases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Monitor low/out-of-stock products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Record damage and stock adjustments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• Review stock movement history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Cannot edit completed 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34B4B"/>
                </a:solidFill>
                <a:latin typeface="Aptos"/>
              </a:rPr>
              <a:t>Important: enforce permissions on the backend, not only by hiding buttons in the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System Architecture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How the interface, application logic, and database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292608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08760"/>
            <a:ext cx="73152" cy="201168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655063"/>
            <a:ext cx="257860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1.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029967"/>
            <a:ext cx="2578608" cy="1389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React + Vite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Role-specific dashboards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Forms, tables, charts, 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508760"/>
            <a:ext cx="292608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508760"/>
            <a:ext cx="73152" cy="201168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655063"/>
            <a:ext cx="257860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2.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29967"/>
            <a:ext cx="2578608" cy="1389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Node.js + Express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REST API, validation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Authentication and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08760"/>
            <a:ext cx="292608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508760"/>
            <a:ext cx="73152" cy="2011680"/>
          </a:xfrm>
          <a:prstGeom prst="rect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655063"/>
            <a:ext cx="257860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62744"/>
                </a:solidFill>
                <a:latin typeface="Aptos"/>
              </a:rPr>
              <a:t>3.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029967"/>
            <a:ext cx="2578608" cy="1389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MySQL 8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Relational tables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Constraints and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331720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331720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62744"/>
                </a:solidFill>
                <a:latin typeface="Aptos"/>
              </a:rPr>
              <a:t>Typical sale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2148840" cy="310896"/>
          </a:xfrm>
          <a:prstGeom prst="roundRect">
            <a:avLst/>
          </a:prstGeom>
          <a:solidFill>
            <a:srgbClr val="E2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0580"/>
            <a:ext cx="205740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Cashier adds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4645152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17720"/>
            <a:ext cx="2331720" cy="310896"/>
          </a:xfrm>
          <a:prstGeom prst="roundRect">
            <a:avLst/>
          </a:prstGeom>
          <a:solidFill>
            <a:srgbClr val="DC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39" y="4640580"/>
            <a:ext cx="2240279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Server checks price/stock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4645152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4617720"/>
            <a:ext cx="2651760" cy="310896"/>
          </a:xfrm>
          <a:prstGeom prst="roundRect">
            <a:avLst/>
          </a:prstGeom>
          <a:solidFill>
            <a:srgbClr val="E2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59" y="4640580"/>
            <a:ext cx="256032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MySQL saves sale + stock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4645152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1968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4617720"/>
            <a:ext cx="2011680" cy="310896"/>
          </a:xfrm>
          <a:prstGeom prst="roundRect">
            <a:avLst/>
          </a:prstGeom>
          <a:solidFill>
            <a:srgbClr val="DC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640580"/>
            <a:ext cx="192024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Receipt is returned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32120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Database transactions ensure a sale and its stock deduction succeed together or are rolled back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MySQL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Core tables and their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2423160" cy="393192"/>
          </a:xfrm>
          <a:prstGeom prst="rect">
            <a:avLst/>
          </a:prstGeom>
          <a:solidFill>
            <a:srgbClr val="16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08176"/>
            <a:ext cx="2240279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8823960" cy="393192"/>
          </a:xfrm>
          <a:prstGeom prst="rect">
            <a:avLst/>
          </a:prstGeom>
          <a:solidFill>
            <a:srgbClr val="1627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408176"/>
            <a:ext cx="86410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WHAT IT STORES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24231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10512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764792"/>
            <a:ext cx="88239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810512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Login accounts, password hashes, and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94560"/>
            <a:ext cx="24231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40279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194560"/>
            <a:ext cx="8823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240279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Product category names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24328"/>
            <a:ext cx="24231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670048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suppliers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624328"/>
            <a:ext cx="88239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2670048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Supplier contact and business details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54096"/>
            <a:ext cx="24231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099815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products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054096"/>
            <a:ext cx="8823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3099815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SKU, price, category, current stock, reorder 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483863"/>
            <a:ext cx="24231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529583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sales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483863"/>
            <a:ext cx="88239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3529583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Invoice header, cashier, date, payment, totals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13631"/>
            <a:ext cx="24231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959351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sale_items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913631"/>
            <a:ext cx="8823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3959351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Products and quantities included in each sale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343400"/>
            <a:ext cx="24231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389120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purchases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343400"/>
            <a:ext cx="88239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4389120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Purchase header, supplier, creator,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773168"/>
            <a:ext cx="24231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818888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purchase_items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773168"/>
            <a:ext cx="8823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0128" y="4818888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Products and quantities within a purchase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202936"/>
            <a:ext cx="24231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5248655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stock_movements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5202936"/>
            <a:ext cx="8823960" cy="429768"/>
          </a:xfrm>
          <a:prstGeom prst="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0128" y="5248655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Audit trail of stock increases/decreases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632703"/>
            <a:ext cx="24231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" y="5678423"/>
            <a:ext cx="2240279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62744"/>
                </a:solidFill>
                <a:latin typeface="Aptos"/>
              </a:rPr>
              <a:t>audit_logs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632703"/>
            <a:ext cx="88239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0128" y="5678423"/>
            <a:ext cx="86410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Important user and system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Primary keys identify rows; foreign keys connect related records and preserve referential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Entity–Relationship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Main tables, primary keys (PK), foreign keys (FK),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011680"/>
            <a:ext cx="594360" cy="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20640" y="2057400"/>
            <a:ext cx="594360" cy="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2057400"/>
            <a:ext cx="594360" cy="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00032" y="2926080"/>
            <a:ext cx="0" cy="822959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4315968"/>
            <a:ext cx="594360" cy="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4343400"/>
            <a:ext cx="594360" cy="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269480" y="2651760"/>
            <a:ext cx="1097280" cy="1097279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00032" y="2926080"/>
            <a:ext cx="0" cy="2560320"/>
          </a:xfrm>
          <a:prstGeom prst="line">
            <a:avLst/>
          </a:prstGeom>
          <a:ln w="20320">
            <a:solidFill>
              <a:srgbClr val="219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1417320"/>
            <a:ext cx="2057400" cy="1234440"/>
          </a:xfrm>
          <a:prstGeom prst="roundRect">
            <a:avLst/>
          </a:prstGeom>
          <a:solidFill>
            <a:srgbClr val="F1F6FB"/>
          </a:solidFill>
          <a:ln>
            <a:solidFill>
              <a:srgbClr val="31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472184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1755648"/>
            <a:ext cx="1837943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user_id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full_name, email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1417320"/>
            <a:ext cx="205740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31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392" y="1472184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1755648"/>
            <a:ext cx="1837943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sale_id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cashier_id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invoice_number,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417320"/>
            <a:ext cx="205740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1472184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SALE_ITEMS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1755648"/>
            <a:ext cx="1837943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sale_item_id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sale_id, product_id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quantity, unit_price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1417320"/>
            <a:ext cx="205740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316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1472184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1755648"/>
            <a:ext cx="1837943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product_id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category_id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SKU, price,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49039"/>
            <a:ext cx="20574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3803903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87368"/>
            <a:ext cx="1837943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category_id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category_name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3749039"/>
            <a:ext cx="205740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3803903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PURCHASES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2968" y="4087368"/>
            <a:ext cx="1837943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purchase_id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supplier_id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created_by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3749039"/>
            <a:ext cx="205740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3803903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PURCHASE_ITEMS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4728" y="4087368"/>
            <a:ext cx="1837943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purchase_item_id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FK purchase_id, product_id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quantity, unit_cost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749039"/>
            <a:ext cx="2057400" cy="114300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803903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SUPPLIERS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4087368"/>
            <a:ext cx="1837943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supplier_id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supplier_name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5486400"/>
            <a:ext cx="2057400" cy="731520"/>
          </a:xfrm>
          <a:prstGeom prst="roundRect">
            <a:avLst/>
          </a:prstGeom>
          <a:solidFill>
            <a:srgbClr val="F1F6FB"/>
          </a:solidFill>
          <a:ln>
            <a:solidFill>
              <a:srgbClr val="21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5541264"/>
            <a:ext cx="1911095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744"/>
                </a:solidFill>
                <a:latin typeface="Aptos"/>
              </a:rPr>
              <a:t>STOCK_MOVEMENTS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5824728"/>
            <a:ext cx="1837943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B3441"/>
                </a:solidFill>
                <a:latin typeface="Aptos"/>
              </a:rPr>
              <a:t>PK movement_id • FK product_id/user_id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532120"/>
            <a:ext cx="73152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How to read it: PK = Primary Key; FK = Foreign Key.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87484"/>
                </a:solidFill>
                <a:latin typeface="Aptos"/>
              </a:rPr>
              <a:t>One sale has many sale items; each sale item references one product.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172200"/>
            <a:ext cx="749807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Purchases follow the same header/detail pattern: purchases → purchase_items →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ER Diagram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What the relationships mean in the actual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41732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1790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Users →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One cashier can process many sales. `sales.cashier_id` references `users.user_id`.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141732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1790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Sales → Sale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One sale can contain many line items. Each line item stores quantity and the sale-time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E0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Products → Sale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A product can appear in many sales. The line item records which product was sold and how many.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73152" cy="1417320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0098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Categories →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67588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One category can classify many products. `products.category_id` links each product to its category.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8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31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30098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Suppliers → Purchases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67588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One supplier can be associated with many purchase records. A purchase stores supplier and creator.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54680"/>
            <a:ext cx="3520440" cy="1417320"/>
          </a:xfrm>
          <a:prstGeom prst="roundRect">
            <a:avLst/>
          </a:prstGeom>
          <a:solidFill>
            <a:srgbClr val="F1F6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398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300984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62744"/>
                </a:solidFill>
                <a:latin typeface="Aptos"/>
              </a:rPr>
              <a:t>Products → Stock Movements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75888"/>
            <a:ext cx="3172968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3441"/>
                </a:solidFill>
                <a:latin typeface="Aptos"/>
              </a:rPr>
              <a:t>Each movement records a product's quantity change, who recorded it, and its reason/reference.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62744"/>
                </a:solidFill>
                <a:latin typeface="Aptos"/>
              </a:rPr>
              <a:t>Why use sale_items and purchase_items?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156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B3441"/>
                </a:solidFill>
                <a:latin typeface="Aptos"/>
              </a:rPr>
              <a:t>A sale may contain multiple products, and the same product may appear in many sales. The detail tables resolve this many-to-many relationship and preserve the price or cost used for each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1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62744"/>
                </a:solidFill>
                <a:latin typeface="Aptos"/>
              </a:rPr>
              <a:t>Core Workflows and SQL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484"/>
                </a:solidFill>
                <a:latin typeface="Aptos"/>
              </a:rPr>
              <a:t>How database rules keep retail records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687484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2120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62744"/>
                </a:solidFill>
                <a:latin typeface="Aptos"/>
              </a:rPr>
              <a:t>Sale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389120" cy="3108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3372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Cashier selects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847088"/>
            <a:ext cx="274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968F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40864"/>
            <a:ext cx="4389120" cy="310896"/>
          </a:xfrm>
          <a:prstGeom prst="roundRect">
            <a:avLst/>
          </a:prstGeom>
          <a:solidFill>
            <a:srgbClr val="DC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63724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Server validates stock and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2377440"/>
            <a:ext cx="274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968F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71215"/>
            <a:ext cx="4389120" cy="3108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94075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Begin MySQL 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907791"/>
            <a:ext cx="274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968F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01568"/>
            <a:ext cx="4389120" cy="310896"/>
          </a:xfrm>
          <a:prstGeom prst="roundRect">
            <a:avLst/>
          </a:prstGeom>
          <a:solidFill>
            <a:srgbClr val="DC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24427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Save sale + sale 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438144"/>
            <a:ext cx="274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968F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4389120" cy="3108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4780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Deduct stock + log movements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968496"/>
            <a:ext cx="2743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968F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62272"/>
            <a:ext cx="4389120" cy="310896"/>
          </a:xfrm>
          <a:prstGeom prst="roundRect">
            <a:avLst/>
          </a:prstGeom>
          <a:solidFill>
            <a:srgbClr val="DC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5132"/>
            <a:ext cx="429768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62744"/>
                </a:solidFill>
                <a:latin typeface="Aptos"/>
              </a:rPr>
              <a:t>Commit; return invoice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353312"/>
            <a:ext cx="5029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62744"/>
                </a:solidFill>
                <a:latin typeface="Aptos"/>
              </a:rPr>
              <a:t>Important SQL concepts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810512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Primary / Foreign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810512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Identify rows and connect related tables.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46888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468880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Combine sales, users, products, and items for reports.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127248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GROUP BY + SUM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127248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Calculate revenue and product sales totals.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785616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785616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Reject duplicate SKUs and invalid quantities.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443983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443983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Commit all sale changes together or roll them back.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102352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165AD"/>
                </a:solidFill>
                <a:latin typeface="Aptos"/>
              </a:rPr>
              <a:t>Indexes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102352"/>
            <a:ext cx="3200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B3441"/>
                </a:solidFill>
                <a:latin typeface="Aptos"/>
              </a:rPr>
              <a:t>Improve searches and joins on commonly used columns.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34B4B"/>
                </a:solidFill>
                <a:latin typeface="Aptos"/>
              </a:rPr>
              <a:t>The server must re-check stock at checkout; frontend validation alone cannot prevent overselling.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Expected Outcomes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9669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D3E2F1"/>
                </a:solidFill>
                <a:latin typeface="Aptos"/>
              </a:rPr>
              <a:t>A reliable foundation for daily retail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4983480" cy="1024128"/>
          </a:xfrm>
          <a:prstGeom prst="roundRect">
            <a:avLst/>
          </a:prstGeom>
          <a:solidFill>
            <a:srgbClr val="223756"/>
          </a:solidFill>
          <a:ln>
            <a:solidFill>
              <a:srgbClr val="476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76856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6CDACC"/>
                </a:solidFill>
                <a:latin typeface="Aptos"/>
              </a:rPr>
              <a:t>Accurate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24328"/>
            <a:ext cx="4572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Stock is tracked after sales, receipts, and adjustments.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48840"/>
            <a:ext cx="4983480" cy="1024128"/>
          </a:xfrm>
          <a:prstGeom prst="roundRect">
            <a:avLst/>
          </a:prstGeom>
          <a:solidFill>
            <a:srgbClr val="223756"/>
          </a:solidFill>
          <a:ln>
            <a:solidFill>
              <a:srgbClr val="476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76856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6CDACC"/>
                </a:solidFill>
                <a:latin typeface="Aptos"/>
              </a:rPr>
              <a:t>Faster billing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24328"/>
            <a:ext cx="4572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Product search, cart totals, and invoice generation streamline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4983480" cy="1024128"/>
          </a:xfrm>
          <a:prstGeom prst="roundRect">
            <a:avLst/>
          </a:prstGeom>
          <a:solidFill>
            <a:srgbClr val="223756"/>
          </a:solidFill>
          <a:ln>
            <a:solidFill>
              <a:srgbClr val="476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02736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6CDACC"/>
                </a:solidFill>
                <a:latin typeface="Aptos"/>
              </a:rPr>
              <a:t>Better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50208"/>
            <a:ext cx="4572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Reports highlight sales trends, top products, and restocking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474720"/>
            <a:ext cx="4983480" cy="1024128"/>
          </a:xfrm>
          <a:prstGeom prst="roundRect">
            <a:avLst/>
          </a:prstGeom>
          <a:solidFill>
            <a:srgbClr val="223756"/>
          </a:solidFill>
          <a:ln>
            <a:solidFill>
              <a:srgbClr val="476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602736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6CDACC"/>
                </a:solidFill>
                <a:latin typeface="Aptos"/>
              </a:rPr>
              <a:t>Safer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50208"/>
            <a:ext cx="4572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Role permissions, SQL constraints, and transaction handling protect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9601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D3E2F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 i="0">
                <a:solidFill>
                  <a:srgbClr val="ACBED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