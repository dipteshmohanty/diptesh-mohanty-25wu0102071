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81c887-396a-dde6-dccb-93cb83540a92}">
          <p14:sldIdLst>
            <p14:sldId id="256"/>
            <p14:sldId id="257"/>
          </p14:sldIdLst>
        </p14:section>
        <p14:section name="Database Implementation" id="{9fe42479-c083-d1ed-0c41-32bea46f9bcb}">
          <p14:sldIdLst>
            <p14:sldId id="258"/>
            <p14:sldId id="259"/>
            <p14:sldId id="260"/>
            <p14:sldId id="261"/>
          </p14:sldIdLst>
        </p14:section>
        <p14:section name="Reliability" id="{b34431c0-81ea-c7e8-e4a0-d927d4e30d0a}">
          <p14:sldIdLst>
            <p14:sldId id="262"/>
            <p14:sldId id="263"/>
          </p14:sldIdLst>
        </p14:section>
        <p14:section name="Security and Testing" id="{d83457c7-57f3-e64f-c59e-78ef87fdb512}">
          <p14:sldIdLst>
            <p14:sldId id="264"/>
            <p14:sldId id="265"/>
            <p14:sldId id="266"/>
          </p14:sldIdLst>
        </p14:section>
        <p14:section name="Wrap-up" id="{7512aad8-35a9-5d6a-228c-04cbc55e0819}">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This is Review 3 of our Retail Inventory and Sales Management System. In Review 2 we presented the design: requirements, architecture and the ER diagram. In this review we focus on how that design is implemented in MySQL: the schema and constraints, normalization, key queries, transactions, security, the API, and how we test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2 answered the question: what are we building and how is the data organized? Review 3 answers: how does it actually work in MySQL? We will walk through the SQL schema and constraints, normalization, the main queries, transactions, database objects such as views and triggers, security, the API, testing, and finally challenges and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two of the ten tables are created in MySQL. The products table has an auto-increment primary key, a unique SKU, DECIMAL for prices so money is stored exactly, and CHECK rules that stop negative prices or stock. The sale_items table has foreign keys to both sales and products, so every line item must refer to a real invoice and a real product. The remaining tables follow the same pattern. The SQL shown is a representative extract; column names follow our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Constraints are the rules the database enforces on its own. Primary keys identify records, foreign keys keep references valid, NOT NULL makes important fields mandatory, UNIQUE prevents duplicate SKUs, CHECK stops invalid values such as negative stock, and DEFAULT or AUTO_INCREMENT fill values automatically. Because these rules live in MySQL, bad data is rejected even if the application has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Normalization removes duplicated data. First normal form: every field holds one value, so invoice items are rows in sale_items rather than repeated columns. Second normal form: product details are stored once in products and referenced from sale_items. Third normal form: the category name is stored once in categories, and products only keeps category_id. One deliberate exception is that unit_price is copied into sale_items, so that historical invoices stay correct when a product price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queries answer the questions a shop owner asks. Daily revenue uses GROUP BY on the sale date. Best-selling products joins products with sale_items and sums quantities. The low-stock alert filters products whose stock is at or below the reorder level. The supplier-wise report joins three tables to total what has been spent with each supplier. All of them work because of the relationships we designed in the ER diagram. The queries are illustrative and use our schema column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sale touches several tables, so we wrap it in a transaction. ACID describes the guarantees: Atomicity means all steps succeed or are rolled back; Consistency means constraints are always respected; Isolation means concurrent sales do not interfere; Durability means committed data survives failures. For concurrency, we lock the product row with SELECT FOR UPDATE inside the transaction. If two cashiers try to sell the last unit, the second waits and then sees the updated stock, so stock cannot go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tables, MySQL offers objects that make the system easier to use and safer. A view stores the low-stock query so reports can reuse it. An index speeds up searches and date-range reports as the number of sales grows. A trigger runs automatically, for example to record every price change in the audit_logs table, which supports accountability. The SQL on this slide is illustrative of how these objects are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works in layers. The role matrix shows what each role may do. These permissions are checked in the backend for every request, not just hidden in the interface. Passwords are stored as hashes. The application connects to MySQL with a limited-privilege account instead of the root user. Finally, important actions are written to audit_logs so that changes can be traced to a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frontend talks to the backend through REST endpoints. Each endpoint has an allowed role. For example only a cashier creates sales, only the admin edits prices, and inventory managers record stock adjustments. Every request follows the same pipeline: authenticate the user, check their role, validate the input, and then run the SQL, using a transaction whenever more than one table is changed. The endpoint list is our planned API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test scenarios and what we expect from each. Tests one to three check the business logic: stock decreasing on sale, rejecting oversales, and increasing on purchase. Test four checks role-based security. Tests five to seven check database integrity: foreign keys, CHECK constraints and transaction rollback. Together they cover logic, security and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challenges shaped the implementation. To keep stock accurate, every change happens in a transaction and is logged. To avoid overselling the last item to two cashiers, we lock the row. To keep old invoices correct when prices change, we store the unit price in sale_items. To keep reports fast as data grows, we use indexes and aggregate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future scope we could add barcode scanning, tax-ready invoices, automatic reorder suggestions, richer analytics, mobile access, and scheduled backups. To conclude: the Retail Inventory and Sales Management System centralizes inventory, billing and reporting in MySQL. Constraints, normalization, transactions and role-based access keep the data accurate, consistent and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answer any questions about the schema, queries, transactions, security or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2"/>
          </a:solidFill>
          <a:ln/>
        </p:spPr>
      </p:sp>
      <p:sp>
        <p:nvSpPr>
          <p:cNvPr id="3" name="Text 1"/>
          <p:cNvSpPr/>
          <p:nvPr>
            <p:ph idx="101" type="title" hasCustomPrompt="1"/>
          </p:nvPr>
        </p:nvSpPr>
        <p:spPr>
          <a:xfrm>
            <a:off x="731520" y="1737360"/>
            <a:ext cx="69494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731520" y="4114800"/>
            <a:ext cx="6949440" cy="64008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6"/>
                </a:solidFill>
              </a:rPr>
              <a:t>DBMS PBL · Review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731520" y="1737360"/>
            <a:ext cx="6949440" cy="2103120"/>
          </a:xfrm>
          <a:prstGeom prst="rect">
            <a:avLst/>
          </a:prstGeom>
          <a:noFill/>
          <a:ln/>
        </p:spPr>
        <p:txBody>
          <a:bodyPr wrap="square" lIns="0" tIns="0" rIns="0" bIns="0" rtlCol="0" anchor="b"/>
          <a:lstStyle/>
          <a:p>
            <a:pPr algn="l" indent="0" marL="0">
              <a:buNone/>
            </a:pPr>
            <a:r>
              <a:rPr lang="en-US" sz="4400" b="1" dirty="0">
                <a:solidFill>
                  <a:schemeClr val="bg1"/>
                </a:solidFill>
              </a:rPr>
              <a:t>Retail Inventory and Sales Management System</a:t>
            </a:r>
            <a:endParaRPr lang="en-US" sz="4400" dirty="0"/>
          </a:p>
        </p:txBody>
      </p:sp>
      <p:sp>
        <p:nvSpPr>
          <p:cNvPr id="3" name="Text 1"/>
          <p:cNvSpPr/>
          <p:nvPr>
            <p:ph idx="102" type="body" hasCustomPrompt="1"/>
          </p:nvPr>
        </p:nvSpPr>
        <p:spPr>
          <a:xfrm>
            <a:off x="731520" y="4114800"/>
            <a:ext cx="6949440" cy="640080"/>
          </a:xfrm>
          <a:prstGeom prst="rect">
            <a:avLst/>
          </a:prstGeom>
          <a:noFill/>
          <a:ln/>
        </p:spPr>
        <p:txBody>
          <a:bodyPr wrap="square" lIns="0" tIns="0" rIns="0" bIns="0" rtlCol="0" anchor="t"/>
          <a:lstStyle/>
          <a:p>
            <a:pPr indent="0" marL="0">
              <a:buNone/>
            </a:pPr>
            <a:r>
              <a:rPr lang="en-US" sz="2000" b="1" dirty="0">
                <a:solidFill>
                  <a:schemeClr val="accent2"/>
                </a:solidFill>
              </a:rPr>
              <a:t>DBMS PBL · Review 3</a:t>
            </a:r>
            <a:endParaRPr lang="en-US" sz="2000" dirty="0"/>
          </a:p>
        </p:txBody>
      </p:sp>
      <p:sp>
        <p:nvSpPr>
          <p:cNvPr id="4" name="Text 2"/>
          <p:cNvSpPr txBox="1"/>
          <p:nvPr/>
        </p:nvSpPr>
        <p:spPr>
          <a:xfrm>
            <a:off x="731520" y="4892040"/>
            <a:ext cx="6583680" cy="822960"/>
          </a:xfrm>
          <a:prstGeom prst="rect">
            <a:avLst/>
          </a:prstGeom>
          <a:noFill/>
          <a:ln/>
        </p:spPr>
        <p:txBody>
          <a:bodyPr wrap="square" lIns="0" tIns="0" rIns="0" bIns="0" rtlCol="0" anchor="t"/>
          <a:lstStyle/>
          <a:p>
            <a:pPr indent="0" marL="0">
              <a:buNone/>
            </a:pPr>
            <a:r>
              <a:rPr lang="en-US" sz="1600" dirty="0">
                <a:solidFill>
                  <a:schemeClr val="accent6"/>
                </a:solidFill>
              </a:rPr>
              <a:t>From design to implementation: schema, queries, transactions, security and testing</a:t>
            </a:r>
            <a:endParaRPr lang="en-US" sz="1600" dirty="0"/>
          </a:p>
        </p:txBody>
      </p:sp>
      <p:sp>
        <p:nvSpPr>
          <p:cNvPr id="5" name="Icon circle"/>
          <p:cNvSpPr/>
          <p:nvPr/>
        </p:nvSpPr>
        <p:spPr>
          <a:xfrm>
            <a:off x="8412480" y="1371600"/>
            <a:ext cx="3108960" cy="3108960"/>
          </a:xfrm>
          <a:prstGeom prst="ellipse">
            <a:avLst/>
          </a:prstGeom>
          <a:solidFill>
            <a:schemeClr val="accent1"/>
          </a:solidFill>
          <a:ln w="6350">
            <a:solidFill>
              <a:schemeClr val="accent1"/>
            </a:solidFill>
            <a:prstDash val="solid"/>
          </a:ln>
        </p:spPr>
      </p:sp>
      <p:pic>
        <p:nvPicPr>
          <p:cNvPr id="6" name="Icon" descr="icon">    </p:cNvPr>
          <p:cNvPicPr>
            <a:picLocks noChangeAspect="1"/>
          </p:cNvPicPr>
          <p:nvPr/>
        </p:nvPicPr>
        <p:blipFill>
          <a:blip r:embed="rId1"/>
          <a:stretch>
            <a:fillRect/>
          </a:stretch>
        </p:blipFill>
        <p:spPr>
          <a:xfrm>
            <a:off x="9220810" y="2179930"/>
            <a:ext cx="1492301" cy="1492301"/>
          </a:xfrm>
          <a:prstGeom prst="rect">
            <a:avLst/>
          </a:prstGeom>
        </p:spPr>
      </p:pic>
      <p:sp>
        <p:nvSpPr>
          <p:cNvPr id="7" name="Icon circle"/>
          <p:cNvSpPr/>
          <p:nvPr/>
        </p:nvSpPr>
        <p:spPr>
          <a:xfrm>
            <a:off x="7863840" y="4297680"/>
            <a:ext cx="1463040" cy="1463040"/>
          </a:xfrm>
          <a:prstGeom prst="ellipse">
            <a:avLst/>
          </a:prstGeom>
          <a:solidFill>
            <a:schemeClr val="accent2"/>
          </a:solidFill>
          <a:ln w="6350">
            <a:solidFill>
              <a:schemeClr val="accent2"/>
            </a:solidFill>
            <a:prstDash val="solid"/>
          </a:ln>
        </p:spPr>
      </p:sp>
      <p:pic>
        <p:nvPicPr>
          <p:cNvPr id="8" name="Icon" descr="icon">    </p:cNvPr>
          <p:cNvPicPr>
            <a:picLocks noChangeAspect="1"/>
          </p:cNvPicPr>
          <p:nvPr/>
        </p:nvPicPr>
        <p:blipFill>
          <a:blip r:embed="rId2"/>
          <a:stretch>
            <a:fillRect/>
          </a:stretch>
        </p:blipFill>
        <p:spPr>
          <a:xfrm>
            <a:off x="8244230" y="4678070"/>
            <a:ext cx="702259" cy="702259"/>
          </a:xfrm>
          <a:prstGeom prst="rect">
            <a:avLst/>
          </a:prstGeom>
        </p:spPr>
      </p:pic>
      <p:sp>
        <p:nvSpPr>
          <p:cNvPr id="9" name="Icon circle"/>
          <p:cNvSpPr/>
          <p:nvPr/>
        </p:nvSpPr>
        <p:spPr>
          <a:xfrm>
            <a:off x="10424160" y="3931920"/>
            <a:ext cx="1188720" cy="1188720"/>
          </a:xfrm>
          <a:prstGeom prst="ellipse">
            <a:avLst/>
          </a:prstGeom>
          <a:solidFill>
            <a:schemeClr val="accent3"/>
          </a:solidFill>
          <a:ln w="6350">
            <a:solidFill>
              <a:schemeClr val="accent3"/>
            </a:solidFill>
            <a:prstDash val="solid"/>
          </a:ln>
        </p:spPr>
      </p:sp>
      <p:pic>
        <p:nvPicPr>
          <p:cNvPr id="10" name="Icon" descr="icon">    </p:cNvPr>
          <p:cNvPicPr>
            <a:picLocks noChangeAspect="1"/>
          </p:cNvPicPr>
          <p:nvPr/>
        </p:nvPicPr>
        <p:blipFill>
          <a:blip r:embed="rId3"/>
          <a:stretch>
            <a:fillRect/>
          </a:stretch>
        </p:blipFill>
        <p:spPr>
          <a:xfrm>
            <a:off x="10733227" y="4240987"/>
            <a:ext cx="570586" cy="5705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From Review 2 to Review 3</a:t>
            </a:r>
            <a:endParaRPr lang="en-US" sz="3600" dirty="0"/>
          </a:p>
        </p:txBody>
      </p:sp>
      <p:sp>
        <p:nvSpPr>
          <p:cNvPr id="3" name="Card"/>
          <p:cNvSpPr/>
          <p:nvPr/>
        </p:nvSpPr>
        <p:spPr>
          <a:xfrm>
            <a:off x="548640" y="1371600"/>
            <a:ext cx="4937760" cy="4206240"/>
          </a:xfrm>
          <a:prstGeom prst="roundRect">
            <a:avLst>
              <a:gd name="adj" fmla="val 2609"/>
            </a:avLst>
          </a:prstGeom>
          <a:solidFill>
            <a:schemeClr val="bg2"/>
          </a:solidFill>
          <a:ln w="6350">
            <a:solidFill>
              <a:schemeClr val="bg2"/>
            </a:solidFill>
            <a:prstDash val="solid"/>
          </a:ln>
        </p:spPr>
      </p:sp>
      <p:sp>
        <p:nvSpPr>
          <p:cNvPr id="4" name="Chip"/>
          <p:cNvSpPr/>
          <p:nvPr/>
        </p:nvSpPr>
        <p:spPr>
          <a:xfrm>
            <a:off x="822960" y="1645920"/>
            <a:ext cx="2560320" cy="457200"/>
          </a:xfrm>
          <a:prstGeom prst="roundRect">
            <a:avLst>
              <a:gd name="adj" fmla="val 24000"/>
            </a:avLst>
          </a:prstGeom>
          <a:solidFill>
            <a:schemeClr val="accent5"/>
          </a:solidFill>
          <a:ln w="6350">
            <a:solidFill>
              <a:schemeClr val="accent5"/>
            </a:solidFill>
            <a:prstDash val="solid"/>
          </a:ln>
        </p:spPr>
      </p:sp>
      <p:sp>
        <p:nvSpPr>
          <p:cNvPr id="5" name="Text 3"/>
          <p:cNvSpPr txBox="1"/>
          <p:nvPr/>
        </p:nvSpPr>
        <p:spPr>
          <a:xfrm>
            <a:off x="914400" y="1645920"/>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rPr>
              <a:t>REVIEW 2 · DESIGN</a:t>
            </a:r>
            <a:endParaRPr lang="en-US" sz="1400" dirty="0"/>
          </a:p>
        </p:txBody>
      </p:sp>
      <p:sp>
        <p:nvSpPr>
          <p:cNvPr id="6" name="Text 4"/>
          <p:cNvSpPr txBox="1"/>
          <p:nvPr/>
        </p:nvSpPr>
        <p:spPr>
          <a:xfrm>
            <a:off x="822960" y="2377440"/>
            <a:ext cx="43891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Problem statement and objectives</a:t>
            </a:r>
            <a:endParaRPr lang="en-US" sz="1800" dirty="0"/>
          </a:p>
          <a:p>
            <a:pPr marL="342900" indent="-342900">
              <a:spcAft>
                <a:spcPts val="1200"/>
              </a:spcAft>
              <a:buSzPct val="100000"/>
              <a:buChar char="•"/>
            </a:pPr>
            <a:r>
              <a:rPr lang="en-US" sz="1800" dirty="0">
                <a:solidFill>
                  <a:schemeClr val="tx1"/>
                </a:solidFill>
              </a:rPr>
              <a:t>Three user roles</a:t>
            </a:r>
            <a:endParaRPr lang="en-US" sz="1800" dirty="0"/>
          </a:p>
          <a:p>
            <a:pPr marL="342900" indent="-342900">
              <a:spcAft>
                <a:spcPts val="1200"/>
              </a:spcAft>
              <a:buSzPct val="100000"/>
              <a:buChar char="•"/>
            </a:pPr>
            <a:r>
              <a:rPr lang="en-US" sz="1800" dirty="0">
                <a:solidFill>
                  <a:schemeClr val="tx1"/>
                </a:solidFill>
              </a:rPr>
              <a:t>React, Express and MySQL architecture</a:t>
            </a:r>
            <a:endParaRPr lang="en-US" sz="1800" dirty="0"/>
          </a:p>
          <a:p>
            <a:pPr marL="342900" indent="-342900">
              <a:spcAft>
                <a:spcPts val="1200"/>
              </a:spcAft>
              <a:buSzPct val="100000"/>
              <a:buChar char="•"/>
            </a:pPr>
            <a:r>
              <a:rPr lang="en-US" sz="1800" dirty="0">
                <a:solidFill>
                  <a:schemeClr val="tx1"/>
                </a:solidFill>
              </a:rPr>
              <a:t>Ten-table relational schema</a:t>
            </a:r>
            <a:endParaRPr lang="en-US" sz="1800" dirty="0"/>
          </a:p>
          <a:p>
            <a:pPr marL="342900" indent="-342900">
              <a:spcAft>
                <a:spcPts val="1200"/>
              </a:spcAft>
              <a:buSzPct val="100000"/>
              <a:buChar char="•"/>
            </a:pPr>
            <a:r>
              <a:rPr lang="en-US" sz="1800" dirty="0">
                <a:solidFill>
                  <a:schemeClr val="tx1"/>
                </a:solidFill>
              </a:rPr>
              <a:t>ER diagram and relationships</a:t>
            </a:r>
            <a:endParaRPr lang="en-US" sz="1800" dirty="0"/>
          </a:p>
          <a:p>
            <a:pPr marL="342900" indent="-342900">
              <a:spcAft>
                <a:spcPts val="1200"/>
              </a:spcAft>
              <a:buSzPct val="100000"/>
              <a:buChar char="•"/>
            </a:pPr>
            <a:r>
              <a:rPr lang="en-US" sz="1800" dirty="0">
                <a:solidFill>
                  <a:schemeClr val="tx1"/>
                </a:solidFill>
              </a:rPr>
              <a:t>Sale workflow overview</a:t>
            </a:r>
            <a:endParaRPr lang="en-US" sz="1800" dirty="0"/>
          </a:p>
        </p:txBody>
      </p:sp>
      <p:sp>
        <p:nvSpPr>
          <p:cNvPr id="7" name="Arrow"/>
          <p:cNvSpPr/>
          <p:nvPr/>
        </p:nvSpPr>
        <p:spPr>
          <a:xfrm>
            <a:off x="5669280" y="3246120"/>
            <a:ext cx="822960" cy="640080"/>
          </a:xfrm>
          <a:prstGeom prst="rightArrow">
            <a:avLst/>
          </a:prstGeom>
          <a:solidFill>
            <a:schemeClr val="accent2"/>
          </a:solidFill>
          <a:ln w="6350">
            <a:solidFill>
              <a:schemeClr val="accent2"/>
            </a:solidFill>
            <a:prstDash val="solid"/>
          </a:ln>
        </p:spPr>
      </p:sp>
      <p:sp>
        <p:nvSpPr>
          <p:cNvPr id="8" name="Review 3 card"/>
          <p:cNvSpPr/>
          <p:nvPr/>
        </p:nvSpPr>
        <p:spPr>
          <a:xfrm>
            <a:off x="6675120" y="1371600"/>
            <a:ext cx="4937760" cy="4206240"/>
          </a:xfrm>
          <a:prstGeom prst="roundRect">
            <a:avLst>
              <a:gd name="adj" fmla="val 2609"/>
            </a:avLst>
          </a:prstGeom>
          <a:solidFill>
            <a:schemeClr val="tx2"/>
          </a:solidFill>
          <a:ln w="6350">
            <a:solidFill>
              <a:schemeClr val="tx2"/>
            </a:solidFill>
            <a:prstDash val="solid"/>
          </a:ln>
        </p:spPr>
      </p:sp>
      <p:sp>
        <p:nvSpPr>
          <p:cNvPr id="9" name="Chip"/>
          <p:cNvSpPr/>
          <p:nvPr/>
        </p:nvSpPr>
        <p:spPr>
          <a:xfrm>
            <a:off x="6949440" y="1645920"/>
            <a:ext cx="3291840" cy="457200"/>
          </a:xfrm>
          <a:prstGeom prst="roundRect">
            <a:avLst>
              <a:gd name="adj" fmla="val 24000"/>
            </a:avLst>
          </a:prstGeom>
          <a:solidFill>
            <a:schemeClr val="accent2"/>
          </a:solidFill>
          <a:ln w="6350">
            <a:solidFill>
              <a:schemeClr val="accent2"/>
            </a:solidFill>
            <a:prstDash val="solid"/>
          </a:ln>
        </p:spPr>
      </p:sp>
      <p:sp>
        <p:nvSpPr>
          <p:cNvPr id="10" name="Text 8"/>
          <p:cNvSpPr txBox="1"/>
          <p:nvPr/>
        </p:nvSpPr>
        <p:spPr>
          <a:xfrm>
            <a:off x="7040880" y="1645920"/>
            <a:ext cx="3108960" cy="457200"/>
          </a:xfrm>
          <a:prstGeom prst="rect">
            <a:avLst/>
          </a:prstGeom>
          <a:noFill/>
          <a:ln/>
        </p:spPr>
        <p:txBody>
          <a:bodyPr wrap="square" lIns="0" tIns="0" rIns="0" bIns="0" rtlCol="0" anchor="ctr"/>
          <a:lstStyle/>
          <a:p>
            <a:pPr algn="ctr" indent="0" marL="0">
              <a:buNone/>
            </a:pPr>
            <a:r>
              <a:rPr lang="en-US" sz="1400" b="1" dirty="0">
                <a:solidFill>
                  <a:srgbClr val="1B2B2E"/>
                </a:solidFill>
              </a:rPr>
              <a:t>REVIEW 3 · IMPLEMENTATION</a:t>
            </a:r>
            <a:endParaRPr lang="en-US" sz="1400" dirty="0"/>
          </a:p>
        </p:txBody>
      </p:sp>
      <p:sp>
        <p:nvSpPr>
          <p:cNvPr id="11" name="Text 9"/>
          <p:cNvSpPr txBox="1"/>
          <p:nvPr/>
        </p:nvSpPr>
        <p:spPr>
          <a:xfrm>
            <a:off x="6949440" y="2377440"/>
            <a:ext cx="43891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1"/>
                </a:solidFill>
              </a:rPr>
              <a:t>SQL schema and integrity constraints</a:t>
            </a:r>
            <a:endParaRPr lang="en-US" sz="1800" dirty="0"/>
          </a:p>
          <a:p>
            <a:pPr marL="342900" indent="-342900">
              <a:spcAft>
                <a:spcPts val="1200"/>
              </a:spcAft>
              <a:buSzPct val="100000"/>
              <a:buChar char="•"/>
            </a:pPr>
            <a:r>
              <a:rPr lang="en-US" sz="1800" dirty="0">
                <a:solidFill>
                  <a:schemeClr val="bg1"/>
                </a:solidFill>
              </a:rPr>
              <a:t>Normalization applied to the tables</a:t>
            </a:r>
            <a:endParaRPr lang="en-US" sz="1800" dirty="0"/>
          </a:p>
          <a:p>
            <a:pPr marL="342900" indent="-342900">
              <a:spcAft>
                <a:spcPts val="1200"/>
              </a:spcAft>
              <a:buSzPct val="100000"/>
              <a:buChar char="•"/>
            </a:pPr>
            <a:r>
              <a:rPr lang="en-US" sz="1800" dirty="0">
                <a:solidFill>
                  <a:schemeClr val="bg1"/>
                </a:solidFill>
              </a:rPr>
              <a:t>Key queries: joins and aggregates</a:t>
            </a:r>
            <a:endParaRPr lang="en-US" sz="1800" dirty="0"/>
          </a:p>
          <a:p>
            <a:pPr marL="342900" indent="-342900">
              <a:spcAft>
                <a:spcPts val="1200"/>
              </a:spcAft>
              <a:buSzPct val="100000"/>
              <a:buChar char="•"/>
            </a:pPr>
            <a:r>
              <a:rPr lang="en-US" sz="1800" dirty="0">
                <a:solidFill>
                  <a:schemeClr val="bg1"/>
                </a:solidFill>
              </a:rPr>
              <a:t>Transactions and ACID properties</a:t>
            </a:r>
            <a:endParaRPr lang="en-US" sz="1800" dirty="0"/>
          </a:p>
          <a:p>
            <a:pPr marL="342900" indent="-342900">
              <a:spcAft>
                <a:spcPts val="1200"/>
              </a:spcAft>
              <a:buSzPct val="100000"/>
              <a:buChar char="•"/>
            </a:pPr>
            <a:r>
              <a:rPr lang="en-US" sz="1800" dirty="0">
                <a:solidFill>
                  <a:schemeClr val="bg1"/>
                </a:solidFill>
              </a:rPr>
              <a:t>Views, indexes and triggers</a:t>
            </a:r>
            <a:endParaRPr lang="en-US" sz="1800" dirty="0"/>
          </a:p>
          <a:p>
            <a:pPr marL="342900" indent="-342900">
              <a:spcAft>
                <a:spcPts val="1200"/>
              </a:spcAft>
              <a:buSzPct val="100000"/>
              <a:buChar char="•"/>
            </a:pPr>
            <a:r>
              <a:rPr lang="en-US" sz="1800" dirty="0">
                <a:solidFill>
                  <a:schemeClr val="bg1"/>
                </a:solidFill>
              </a:rPr>
              <a:t>Security, API design and testing</a:t>
            </a:r>
            <a:endParaRPr lang="en-US" sz="1800" dirty="0"/>
          </a:p>
        </p:txBody>
      </p:sp>
      <p:sp>
        <p:nvSpPr>
          <p:cNvPr id="12" name="Banner"/>
          <p:cNvSpPr/>
          <p:nvPr/>
        </p:nvSpPr>
        <p:spPr>
          <a:xfrm>
            <a:off x="548640" y="5760720"/>
            <a:ext cx="11064240" cy="548640"/>
          </a:xfrm>
          <a:prstGeom prst="roundRect">
            <a:avLst>
              <a:gd name="adj" fmla="val 20000"/>
            </a:avLst>
          </a:prstGeom>
          <a:solidFill>
            <a:schemeClr val="accent1"/>
          </a:solidFill>
          <a:ln w="6350">
            <a:solidFill>
              <a:schemeClr val="accent1"/>
            </a:solidFill>
            <a:prstDash val="solid"/>
          </a:ln>
        </p:spPr>
      </p:sp>
      <p:sp>
        <p:nvSpPr>
          <p:cNvPr id="13" name="Text 11"/>
          <p:cNvSpPr txBox="1"/>
          <p:nvPr/>
        </p:nvSpPr>
        <p:spPr>
          <a:xfrm>
            <a:off x="868680" y="5760720"/>
            <a:ext cx="10424160" cy="548640"/>
          </a:xfrm>
          <a:prstGeom prst="rect">
            <a:avLst/>
          </a:prstGeom>
          <a:noFill/>
          <a:ln/>
        </p:spPr>
        <p:txBody>
          <a:bodyPr wrap="square" lIns="0" tIns="0" rIns="0" bIns="0" rtlCol="0" anchor="ctr"/>
          <a:lstStyle/>
          <a:p>
            <a:pPr indent="0" marL="0">
              <a:buNone/>
            </a:pPr>
            <a:r>
              <a:rPr lang="en-US" sz="1600" b="1" dirty="0">
                <a:solidFill>
                  <a:schemeClr val="accent2"/>
                </a:solidFill>
              </a:rPr>
              <a:t>Goal: </a:t>
            </a:r>
            <a:pPr indent="0" marL="0">
              <a:buNone/>
            </a:pPr>
            <a:r>
              <a:rPr lang="en-US" sz="1600" dirty="0">
                <a:solidFill>
                  <a:schemeClr val="bg1"/>
                </a:solidFill>
              </a:rPr>
              <a:t>show that the database design works correctly, stays consistent and answers real business questions.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Schema Implementation in MySQL</a:t>
            </a:r>
            <a:endParaRPr lang="en-US" sz="3600" dirty="0"/>
          </a:p>
        </p:txBody>
      </p:sp>
      <p:sp>
        <p:nvSpPr>
          <p:cNvPr id="3" name="Code card"/>
          <p:cNvSpPr/>
          <p:nvPr/>
        </p:nvSpPr>
        <p:spPr>
          <a:xfrm>
            <a:off x="548640" y="1371600"/>
            <a:ext cx="5486400" cy="3794760"/>
          </a:xfrm>
          <a:prstGeom prst="roundRect">
            <a:avLst>
              <a:gd name="adj" fmla="val 2892"/>
            </a:avLst>
          </a:prstGeom>
          <a:solidFill>
            <a:schemeClr val="tx1"/>
          </a:solidFill>
          <a:ln w="6350">
            <a:solidFill>
              <a:schemeClr val="tx1"/>
            </a:solidFill>
            <a:prstDash val="solid"/>
          </a:ln>
        </p:spPr>
      </p:sp>
      <p:sp>
        <p:nvSpPr>
          <p:cNvPr id="4" name="Text 2"/>
          <p:cNvSpPr txBox="1"/>
          <p:nvPr/>
        </p:nvSpPr>
        <p:spPr>
          <a:xfrm>
            <a:off x="822960" y="1508760"/>
            <a:ext cx="4937760" cy="274320"/>
          </a:xfrm>
          <a:prstGeom prst="rect">
            <a:avLst/>
          </a:prstGeom>
          <a:noFill/>
          <a:ln/>
        </p:spPr>
        <p:txBody>
          <a:bodyPr wrap="square" lIns="0" tIns="0" rIns="0" bIns="0" rtlCol="0" anchor="t"/>
          <a:lstStyle/>
          <a:p>
            <a:pPr indent="0" marL="0">
              <a:buNone/>
            </a:pPr>
            <a:r>
              <a:rPr lang="en-US" sz="1400" b="1" dirty="0">
                <a:solidFill>
                  <a:schemeClr val="accent2"/>
                </a:solidFill>
              </a:rPr>
              <a:t>products table</a:t>
            </a:r>
            <a:endParaRPr lang="en-US" sz="1400" dirty="0"/>
          </a:p>
        </p:txBody>
      </p:sp>
      <p:sp>
        <p:nvSpPr>
          <p:cNvPr id="5" name="Text 3"/>
          <p:cNvSpPr txBox="1"/>
          <p:nvPr/>
        </p:nvSpPr>
        <p:spPr>
          <a:xfrm>
            <a:off x="822960" y="1874520"/>
            <a:ext cx="4937760" cy="315468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CREATE TABLE</a:t>
            </a:r>
            <a:pPr indent="0" marL="0">
              <a:buNone/>
            </a:pPr>
            <a:r>
              <a:rPr lang="en-US" sz="1100" dirty="0">
                <a:solidFill>
                  <a:schemeClr val="bg1"/>
                </a:solidFill>
                <a:latin typeface="Courier New" pitchFamily="34" charset="0"/>
                <a:ea typeface="Courier New" pitchFamily="34" charset="-122"/>
                <a:cs typeface="Courier New" pitchFamily="34" charset="-120"/>
              </a:rPr>
              <a:t> products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product_id    </a:t>
            </a:r>
            <a:pPr indent="0" marL="0">
              <a:buNone/>
            </a:pPr>
            <a:r>
              <a:rPr lang="en-US" sz="1100" dirty="0">
                <a:solidFill>
                  <a:schemeClr val="accent2"/>
                </a:solidFill>
                <a:latin typeface="Courier New" pitchFamily="34" charset="0"/>
                <a:ea typeface="Courier New" pitchFamily="34" charset="-122"/>
                <a:cs typeface="Courier New" pitchFamily="34" charset="-120"/>
              </a:rPr>
              <a:t>INT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AUTO_INCREMENT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PRIMARY KEY</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sku           </a:t>
            </a:r>
            <a:pPr indent="0" marL="0">
              <a:buNone/>
            </a:pPr>
            <a:r>
              <a:rPr lang="en-US" sz="1100" dirty="0">
                <a:solidFill>
                  <a:schemeClr val="accent2"/>
                </a:solidFill>
                <a:latin typeface="Courier New" pitchFamily="34" charset="0"/>
                <a:ea typeface="Courier New" pitchFamily="34" charset="-122"/>
                <a:cs typeface="Courier New" pitchFamily="34" charset="-120"/>
              </a:rPr>
              <a:t>VARCHAR</a:t>
            </a:r>
            <a:pPr indent="0" marL="0">
              <a:buNone/>
            </a:pPr>
            <a:r>
              <a:rPr lang="en-US" sz="1100" dirty="0">
                <a:solidFill>
                  <a:schemeClr val="bg1"/>
                </a:solidFill>
                <a:latin typeface="Courier New" pitchFamily="34" charset="0"/>
                <a:ea typeface="Courier New" pitchFamily="34" charset="-122"/>
                <a:cs typeface="Courier New" pitchFamily="34" charset="-120"/>
              </a:rPr>
              <a:t>(30)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UNIQUE</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product_name  </a:t>
            </a:r>
            <a:pPr indent="0" marL="0">
              <a:buNone/>
            </a:pPr>
            <a:r>
              <a:rPr lang="en-US" sz="1100" dirty="0">
                <a:solidFill>
                  <a:schemeClr val="accent2"/>
                </a:solidFill>
                <a:latin typeface="Courier New" pitchFamily="34" charset="0"/>
                <a:ea typeface="Courier New" pitchFamily="34" charset="-122"/>
                <a:cs typeface="Courier New" pitchFamily="34" charset="-120"/>
              </a:rPr>
              <a:t>VARCHAR</a:t>
            </a:r>
            <a:pPr indent="0" marL="0">
              <a:buNone/>
            </a:pPr>
            <a:r>
              <a:rPr lang="en-US" sz="1100" dirty="0">
                <a:solidFill>
                  <a:schemeClr val="bg1"/>
                </a:solidFill>
                <a:latin typeface="Courier New" pitchFamily="34" charset="0"/>
                <a:ea typeface="Courier New" pitchFamily="34" charset="-122"/>
                <a:cs typeface="Courier New" pitchFamily="34" charset="-120"/>
              </a:rPr>
              <a:t>(100)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category_id   </a:t>
            </a:r>
            <a:pPr indent="0" marL="0">
              <a:buNone/>
            </a:pPr>
            <a:r>
              <a:rPr lang="en-US" sz="1100" dirty="0">
                <a:solidFill>
                  <a:schemeClr val="accent2"/>
                </a:solidFill>
                <a:latin typeface="Courier New" pitchFamily="34" charset="0"/>
                <a:ea typeface="Courier New" pitchFamily="34" charset="-122"/>
                <a:cs typeface="Courier New" pitchFamily="34" charset="-120"/>
              </a:rPr>
              <a:t>INT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unit_price    </a:t>
            </a:r>
            <a:pPr indent="0" marL="0">
              <a:buNone/>
            </a:pPr>
            <a:r>
              <a:rPr lang="en-US" sz="1100" dirty="0">
                <a:solidFill>
                  <a:schemeClr val="accent2"/>
                </a:solidFill>
                <a:latin typeface="Courier New" pitchFamily="34" charset="0"/>
                <a:ea typeface="Courier New" pitchFamily="34" charset="-122"/>
                <a:cs typeface="Courier New" pitchFamily="34" charset="-120"/>
              </a:rPr>
              <a:t>DECIMAL</a:t>
            </a:r>
            <a:pPr indent="0" marL="0">
              <a:buNone/>
            </a:pPr>
            <a:r>
              <a:rPr lang="en-US" sz="1100" dirty="0">
                <a:solidFill>
                  <a:schemeClr val="bg1"/>
                </a:solidFill>
                <a:latin typeface="Courier New" pitchFamily="34" charset="0"/>
                <a:ea typeface="Courier New" pitchFamily="34" charset="-122"/>
                <a:cs typeface="Courier New" pitchFamily="34" charset="-120"/>
              </a:rPr>
              <a:t>(10,2)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CHECK</a:t>
            </a:r>
            <a:pPr indent="0" marL="0">
              <a:buNone/>
            </a:pPr>
            <a:r>
              <a:rPr lang="en-US" sz="1100" dirty="0">
                <a:solidFill>
                  <a:schemeClr val="bg1"/>
                </a:solidFill>
                <a:latin typeface="Courier New" pitchFamily="34" charset="0"/>
                <a:ea typeface="Courier New" pitchFamily="34" charset="-122"/>
                <a:cs typeface="Courier New" pitchFamily="34" charset="-120"/>
              </a:rPr>
              <a:t> (unit_price &gt;= 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stock_qty     </a:t>
            </a:r>
            <a:pPr indent="0" marL="0">
              <a:buNone/>
            </a:pPr>
            <a:r>
              <a:rPr lang="en-US" sz="1100" dirty="0">
                <a:solidFill>
                  <a:schemeClr val="accent2"/>
                </a:solidFill>
                <a:latin typeface="Courier New" pitchFamily="34" charset="0"/>
                <a:ea typeface="Courier New" pitchFamily="34" charset="-122"/>
                <a:cs typeface="Courier New" pitchFamily="34" charset="-120"/>
              </a:rPr>
              <a:t>INT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DEFAULT</a:t>
            </a:r>
            <a:pPr indent="0" marL="0">
              <a:buNone/>
            </a:pPr>
            <a:r>
              <a:rPr lang="en-US" sz="1100" dirty="0">
                <a:solidFill>
                  <a:schemeClr val="bg1"/>
                </a:solidFill>
                <a:latin typeface="Courier New" pitchFamily="34" charset="0"/>
                <a:ea typeface="Courier New" pitchFamily="34" charset="-122"/>
                <a:cs typeface="Courier New" pitchFamily="34" charset="-120"/>
              </a:rPr>
              <a:t> 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CHECK</a:t>
            </a:r>
            <a:pPr indent="0" marL="0">
              <a:buNone/>
            </a:pPr>
            <a:r>
              <a:rPr lang="en-US" sz="1100" dirty="0">
                <a:solidFill>
                  <a:schemeClr val="bg1"/>
                </a:solidFill>
                <a:latin typeface="Courier New" pitchFamily="34" charset="0"/>
                <a:ea typeface="Courier New" pitchFamily="34" charset="-122"/>
                <a:cs typeface="Courier New" pitchFamily="34" charset="-120"/>
              </a:rPr>
              <a:t> (stock_qty &gt;= 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reorder_level </a:t>
            </a:r>
            <a:pPr indent="0" marL="0">
              <a:buNone/>
            </a:pPr>
            <a:r>
              <a:rPr lang="en-US" sz="1100" dirty="0">
                <a:solidFill>
                  <a:schemeClr val="accent2"/>
                </a:solidFill>
                <a:latin typeface="Courier New" pitchFamily="34" charset="0"/>
                <a:ea typeface="Courier New" pitchFamily="34" charset="-122"/>
                <a:cs typeface="Courier New" pitchFamily="34" charset="-120"/>
              </a:rPr>
              <a:t>INT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DEFAULT</a:t>
            </a:r>
            <a:pPr indent="0" marL="0">
              <a:buNone/>
            </a:pPr>
            <a:r>
              <a:rPr lang="en-US" sz="1100" dirty="0">
                <a:solidFill>
                  <a:schemeClr val="bg1"/>
                </a:solidFill>
                <a:latin typeface="Courier New" pitchFamily="34" charset="0"/>
                <a:ea typeface="Courier New" pitchFamily="34" charset="-122"/>
                <a:cs typeface="Courier New" pitchFamily="34" charset="-120"/>
              </a:rPr>
              <a:t> 10,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FOREIGN KEY</a:t>
            </a:r>
            <a:pPr indent="0" marL="0">
              <a:buNone/>
            </a:pPr>
            <a:r>
              <a:rPr lang="en-US" sz="1100" dirty="0">
                <a:solidFill>
                  <a:schemeClr val="bg1"/>
                </a:solidFill>
                <a:latin typeface="Courier New" pitchFamily="34" charset="0"/>
                <a:ea typeface="Courier New" pitchFamily="34" charset="-122"/>
                <a:cs typeface="Courier New" pitchFamily="34" charset="-120"/>
              </a:rPr>
              <a:t> (category_id)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REFERENCES</a:t>
            </a:r>
            <a:pPr indent="0" marL="0">
              <a:buNone/>
            </a:pPr>
            <a:r>
              <a:rPr lang="en-US" sz="1100" dirty="0">
                <a:solidFill>
                  <a:schemeClr val="bg1"/>
                </a:solidFill>
                <a:latin typeface="Courier New" pitchFamily="34" charset="0"/>
                <a:ea typeface="Courier New" pitchFamily="34" charset="-122"/>
                <a:cs typeface="Courier New" pitchFamily="34" charset="-120"/>
              </a:rPr>
              <a:t> categories(category_id)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6" name="Code card"/>
          <p:cNvSpPr/>
          <p:nvPr/>
        </p:nvSpPr>
        <p:spPr>
          <a:xfrm>
            <a:off x="6217920" y="1371600"/>
            <a:ext cx="5394960" cy="3794760"/>
          </a:xfrm>
          <a:prstGeom prst="roundRect">
            <a:avLst>
              <a:gd name="adj" fmla="val 2892"/>
            </a:avLst>
          </a:prstGeom>
          <a:solidFill>
            <a:schemeClr val="tx1"/>
          </a:solidFill>
          <a:ln w="6350">
            <a:solidFill>
              <a:schemeClr val="tx1"/>
            </a:solidFill>
            <a:prstDash val="solid"/>
          </a:ln>
        </p:spPr>
      </p:sp>
      <p:sp>
        <p:nvSpPr>
          <p:cNvPr id="7" name="Text 5"/>
          <p:cNvSpPr txBox="1"/>
          <p:nvPr/>
        </p:nvSpPr>
        <p:spPr>
          <a:xfrm>
            <a:off x="6492240" y="1508760"/>
            <a:ext cx="4846320" cy="274320"/>
          </a:xfrm>
          <a:prstGeom prst="rect">
            <a:avLst/>
          </a:prstGeom>
          <a:noFill/>
          <a:ln/>
        </p:spPr>
        <p:txBody>
          <a:bodyPr wrap="square" lIns="0" tIns="0" rIns="0" bIns="0" rtlCol="0" anchor="t"/>
          <a:lstStyle/>
          <a:p>
            <a:pPr indent="0" marL="0">
              <a:buNone/>
            </a:pPr>
            <a:r>
              <a:rPr lang="en-US" sz="1400" b="1" dirty="0">
                <a:solidFill>
                  <a:schemeClr val="accent2"/>
                </a:solidFill>
              </a:rPr>
              <a:t>sale_items table</a:t>
            </a:r>
            <a:endParaRPr lang="en-US" sz="1400" dirty="0"/>
          </a:p>
        </p:txBody>
      </p:sp>
      <p:sp>
        <p:nvSpPr>
          <p:cNvPr id="8" name="Text 6"/>
          <p:cNvSpPr txBox="1"/>
          <p:nvPr/>
        </p:nvSpPr>
        <p:spPr>
          <a:xfrm>
            <a:off x="6492240" y="1874520"/>
            <a:ext cx="4846320" cy="315468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CREATE TABLE</a:t>
            </a:r>
            <a:pPr indent="0" marL="0">
              <a:buNone/>
            </a:pPr>
            <a:r>
              <a:rPr lang="en-US" sz="1100" dirty="0">
                <a:solidFill>
                  <a:schemeClr val="bg1"/>
                </a:solidFill>
                <a:latin typeface="Courier New" pitchFamily="34" charset="0"/>
                <a:ea typeface="Courier New" pitchFamily="34" charset="-122"/>
                <a:cs typeface="Courier New" pitchFamily="34" charset="-120"/>
              </a:rPr>
              <a:t> sale_items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sale_item_id </a:t>
            </a:r>
            <a:pPr indent="0" marL="0">
              <a:buNone/>
            </a:pPr>
            <a:r>
              <a:rPr lang="en-US" sz="1100" dirty="0">
                <a:solidFill>
                  <a:schemeClr val="accent2"/>
                </a:solidFill>
                <a:latin typeface="Courier New" pitchFamily="34" charset="0"/>
                <a:ea typeface="Courier New" pitchFamily="34" charset="-122"/>
                <a:cs typeface="Courier New" pitchFamily="34" charset="-120"/>
              </a:rPr>
              <a:t>INT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AUTO_INCREMENT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PRIMARY KEY</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sale_id      </a:t>
            </a:r>
            <a:pPr indent="0" marL="0">
              <a:buNone/>
            </a:pPr>
            <a:r>
              <a:rPr lang="en-US" sz="1100" dirty="0">
                <a:solidFill>
                  <a:schemeClr val="accent2"/>
                </a:solidFill>
                <a:latin typeface="Courier New" pitchFamily="34" charset="0"/>
                <a:ea typeface="Courier New" pitchFamily="34" charset="-122"/>
                <a:cs typeface="Courier New" pitchFamily="34" charset="-120"/>
              </a:rPr>
              <a:t>INT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product_id   </a:t>
            </a:r>
            <a:pPr indent="0" marL="0">
              <a:buNone/>
            </a:pPr>
            <a:r>
              <a:rPr lang="en-US" sz="1100" dirty="0">
                <a:solidFill>
                  <a:schemeClr val="accent2"/>
                </a:solidFill>
                <a:latin typeface="Courier New" pitchFamily="34" charset="0"/>
                <a:ea typeface="Courier New" pitchFamily="34" charset="-122"/>
                <a:cs typeface="Courier New" pitchFamily="34" charset="-120"/>
              </a:rPr>
              <a:t>INT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quantity     </a:t>
            </a:r>
            <a:pPr indent="0" marL="0">
              <a:buNone/>
            </a:pPr>
            <a:r>
              <a:rPr lang="en-US" sz="1100" dirty="0">
                <a:solidFill>
                  <a:schemeClr val="accent2"/>
                </a:solidFill>
                <a:latin typeface="Courier New" pitchFamily="34" charset="0"/>
                <a:ea typeface="Courier New" pitchFamily="34" charset="-122"/>
                <a:cs typeface="Courier New" pitchFamily="34" charset="-120"/>
              </a:rPr>
              <a:t>INT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CHECK</a:t>
            </a:r>
            <a:pPr indent="0" marL="0">
              <a:buNone/>
            </a:pPr>
            <a:r>
              <a:rPr lang="en-US" sz="1100" dirty="0">
                <a:solidFill>
                  <a:schemeClr val="bg1"/>
                </a:solidFill>
                <a:latin typeface="Courier New" pitchFamily="34" charset="0"/>
                <a:ea typeface="Courier New" pitchFamily="34" charset="-122"/>
                <a:cs typeface="Courier New" pitchFamily="34" charset="-120"/>
              </a:rPr>
              <a:t> (quantity &gt; 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unit_price   </a:t>
            </a:r>
            <a:pPr indent="0" marL="0">
              <a:buNone/>
            </a:pPr>
            <a:r>
              <a:rPr lang="en-US" sz="1100" dirty="0">
                <a:solidFill>
                  <a:schemeClr val="accent2"/>
                </a:solidFill>
                <a:latin typeface="Courier New" pitchFamily="34" charset="0"/>
                <a:ea typeface="Courier New" pitchFamily="34" charset="-122"/>
                <a:cs typeface="Courier New" pitchFamily="34" charset="-120"/>
              </a:rPr>
              <a:t>DECIMAL</a:t>
            </a:r>
            <a:pPr indent="0" marL="0">
              <a:buNone/>
            </a:pPr>
            <a:r>
              <a:rPr lang="en-US" sz="1100" dirty="0">
                <a:solidFill>
                  <a:schemeClr val="bg1"/>
                </a:solidFill>
                <a:latin typeface="Courier New" pitchFamily="34" charset="0"/>
                <a:ea typeface="Courier New" pitchFamily="34" charset="-122"/>
                <a:cs typeface="Courier New" pitchFamily="34" charset="-120"/>
              </a:rPr>
              <a:t>(10,2) </a:t>
            </a:r>
            <a:pPr indent="0" marL="0">
              <a:buNone/>
            </a:pPr>
            <a:r>
              <a:rPr lang="en-US" sz="1100" dirty="0">
                <a:solidFill>
                  <a:schemeClr val="accent2"/>
                </a:solidFill>
                <a:latin typeface="Courier New" pitchFamily="34" charset="0"/>
                <a:ea typeface="Courier New" pitchFamily="34" charset="-122"/>
                <a:cs typeface="Courier New" pitchFamily="34" charset="-120"/>
              </a:rPr>
              <a:t>NOT NULL</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FOREIGN KEY</a:t>
            </a:r>
            <a:pPr indent="0" marL="0">
              <a:buNone/>
            </a:pPr>
            <a:r>
              <a:rPr lang="en-US" sz="1100" dirty="0">
                <a:solidFill>
                  <a:schemeClr val="bg1"/>
                </a:solidFill>
                <a:latin typeface="Courier New" pitchFamily="34" charset="0"/>
                <a:ea typeface="Courier New" pitchFamily="34" charset="-122"/>
                <a:cs typeface="Courier New" pitchFamily="34" charset="-120"/>
              </a:rPr>
              <a:t> (sale_id)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REFERENCES</a:t>
            </a:r>
            <a:pPr indent="0" marL="0">
              <a:buNone/>
            </a:pPr>
            <a:r>
              <a:rPr lang="en-US" sz="1100" dirty="0">
                <a:solidFill>
                  <a:schemeClr val="bg1"/>
                </a:solidFill>
                <a:latin typeface="Courier New" pitchFamily="34" charset="0"/>
                <a:ea typeface="Courier New" pitchFamily="34" charset="-122"/>
                <a:cs typeface="Courier New" pitchFamily="34" charset="-120"/>
              </a:rPr>
              <a:t> sales(sale_id),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FOREIGN KEY</a:t>
            </a:r>
            <a:pPr indent="0" marL="0">
              <a:buNone/>
            </a:pPr>
            <a:r>
              <a:rPr lang="en-US" sz="1100" dirty="0">
                <a:solidFill>
                  <a:schemeClr val="bg1"/>
                </a:solidFill>
                <a:latin typeface="Courier New" pitchFamily="34" charset="0"/>
                <a:ea typeface="Courier New" pitchFamily="34" charset="-122"/>
                <a:cs typeface="Courier New" pitchFamily="34" charset="-120"/>
              </a:rPr>
              <a:t> (product_id)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REFERENCES</a:t>
            </a:r>
            <a:pPr indent="0" marL="0">
              <a:buNone/>
            </a:pPr>
            <a:r>
              <a:rPr lang="en-US" sz="1100" dirty="0">
                <a:solidFill>
                  <a:schemeClr val="bg1"/>
                </a:solidFill>
                <a:latin typeface="Courier New" pitchFamily="34" charset="0"/>
                <a:ea typeface="Courier New" pitchFamily="34" charset="-122"/>
                <a:cs typeface="Courier New" pitchFamily="34" charset="-120"/>
              </a:rPr>
              <a:t> products(product_id)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9" name="Chip"/>
          <p:cNvSpPr/>
          <p:nvPr/>
        </p:nvSpPr>
        <p:spPr>
          <a:xfrm>
            <a:off x="548640" y="5440680"/>
            <a:ext cx="3566160" cy="640080"/>
          </a:xfrm>
          <a:prstGeom prst="roundRect">
            <a:avLst>
              <a:gd name="adj" fmla="val 17143"/>
            </a:avLst>
          </a:prstGeom>
          <a:solidFill>
            <a:schemeClr val="accent1"/>
          </a:solidFill>
          <a:ln w="6350">
            <a:solidFill>
              <a:schemeClr val="accent1"/>
            </a:solidFill>
            <a:prstDash val="solid"/>
          </a:ln>
        </p:spPr>
      </p:sp>
      <p:sp>
        <p:nvSpPr>
          <p:cNvPr id="10" name="Text 8"/>
          <p:cNvSpPr txBox="1"/>
          <p:nvPr/>
        </p:nvSpPr>
        <p:spPr>
          <a:xfrm>
            <a:off x="640080" y="5440680"/>
            <a:ext cx="3383280" cy="640080"/>
          </a:xfrm>
          <a:prstGeom prst="rect">
            <a:avLst/>
          </a:prstGeom>
          <a:noFill/>
          <a:ln/>
        </p:spPr>
        <p:txBody>
          <a:bodyPr wrap="square" lIns="0" tIns="0" rIns="0" bIns="0" rtlCol="0" anchor="ctr"/>
          <a:lstStyle/>
          <a:p>
            <a:pPr algn="ctr" indent="0" marL="0">
              <a:buNone/>
            </a:pPr>
            <a:r>
              <a:rPr lang="en-US" sz="1400" b="1" dirty="0">
                <a:solidFill>
                  <a:schemeClr val="bg1"/>
                </a:solidFill>
              </a:rPr>
              <a:t>DECIMAL for exact money values</a:t>
            </a:r>
            <a:endParaRPr lang="en-US" sz="1400" dirty="0"/>
          </a:p>
        </p:txBody>
      </p:sp>
      <p:sp>
        <p:nvSpPr>
          <p:cNvPr id="11" name="Chip"/>
          <p:cNvSpPr/>
          <p:nvPr/>
        </p:nvSpPr>
        <p:spPr>
          <a:xfrm>
            <a:off x="4297680" y="5440680"/>
            <a:ext cx="3566160" cy="640080"/>
          </a:xfrm>
          <a:prstGeom prst="roundRect">
            <a:avLst>
              <a:gd name="adj" fmla="val 17143"/>
            </a:avLst>
          </a:prstGeom>
          <a:solidFill>
            <a:schemeClr val="accent5"/>
          </a:solidFill>
          <a:ln w="6350">
            <a:solidFill>
              <a:schemeClr val="accent5"/>
            </a:solidFill>
            <a:prstDash val="solid"/>
          </a:ln>
        </p:spPr>
      </p:sp>
      <p:sp>
        <p:nvSpPr>
          <p:cNvPr id="12" name="Text 10"/>
          <p:cNvSpPr txBox="1"/>
          <p:nvPr/>
        </p:nvSpPr>
        <p:spPr>
          <a:xfrm>
            <a:off x="4389120" y="5440680"/>
            <a:ext cx="3383280" cy="640080"/>
          </a:xfrm>
          <a:prstGeom prst="rect">
            <a:avLst/>
          </a:prstGeom>
          <a:noFill/>
          <a:ln/>
        </p:spPr>
        <p:txBody>
          <a:bodyPr wrap="square" lIns="0" tIns="0" rIns="0" bIns="0" rtlCol="0" anchor="ctr"/>
          <a:lstStyle/>
          <a:p>
            <a:pPr algn="ctr" indent="0" marL="0">
              <a:buNone/>
            </a:pPr>
            <a:r>
              <a:rPr lang="en-US" sz="1400" b="1" dirty="0">
                <a:solidFill>
                  <a:schemeClr val="bg1"/>
                </a:solidFill>
              </a:rPr>
              <a:t>CHECK blocks negative stock and price</a:t>
            </a:r>
            <a:endParaRPr lang="en-US" sz="1400" dirty="0"/>
          </a:p>
        </p:txBody>
      </p:sp>
      <p:sp>
        <p:nvSpPr>
          <p:cNvPr id="13" name="Chip"/>
          <p:cNvSpPr/>
          <p:nvPr/>
        </p:nvSpPr>
        <p:spPr>
          <a:xfrm>
            <a:off x="8046720" y="5440680"/>
            <a:ext cx="3566160" cy="640080"/>
          </a:xfrm>
          <a:prstGeom prst="roundRect">
            <a:avLst>
              <a:gd name="adj" fmla="val 17143"/>
            </a:avLst>
          </a:prstGeom>
          <a:solidFill>
            <a:schemeClr val="accent3"/>
          </a:solidFill>
          <a:ln w="6350">
            <a:solidFill>
              <a:schemeClr val="accent3"/>
            </a:solidFill>
            <a:prstDash val="solid"/>
          </a:ln>
        </p:spPr>
      </p:sp>
      <p:sp>
        <p:nvSpPr>
          <p:cNvPr id="14" name="Text 12"/>
          <p:cNvSpPr txBox="1"/>
          <p:nvPr/>
        </p:nvSpPr>
        <p:spPr>
          <a:xfrm>
            <a:off x="8138160" y="5440680"/>
            <a:ext cx="3383280" cy="640080"/>
          </a:xfrm>
          <a:prstGeom prst="rect">
            <a:avLst/>
          </a:prstGeom>
          <a:noFill/>
          <a:ln/>
        </p:spPr>
        <p:txBody>
          <a:bodyPr wrap="square" lIns="0" tIns="0" rIns="0" bIns="0" rtlCol="0" anchor="ctr"/>
          <a:lstStyle/>
          <a:p>
            <a:pPr algn="ctr" indent="0" marL="0">
              <a:buNone/>
            </a:pPr>
            <a:r>
              <a:rPr lang="en-US" sz="1400" b="1" dirty="0">
                <a:solidFill>
                  <a:schemeClr val="bg1"/>
                </a:solidFill>
              </a:rPr>
              <a:t>Foreign keys link every sale item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Data Integrity Constraints</a:t>
            </a:r>
            <a:endParaRPr lang="en-US" sz="3600" dirty="0"/>
          </a:p>
        </p:txBody>
      </p:sp>
      <p:sp>
        <p:nvSpPr>
          <p:cNvPr id="3" name="Card"/>
          <p:cNvSpPr/>
          <p:nvPr/>
        </p:nvSpPr>
        <p:spPr>
          <a:xfrm>
            <a:off x="548640" y="1371600"/>
            <a:ext cx="3566160" cy="1645920"/>
          </a:xfrm>
          <a:prstGeom prst="roundRect">
            <a:avLst>
              <a:gd name="adj" fmla="val 6667"/>
            </a:avLst>
          </a:prstGeom>
          <a:solidFill>
            <a:schemeClr val="bg2"/>
          </a:solidFill>
          <a:ln w="6350">
            <a:solidFill>
              <a:schemeClr val="bg2"/>
            </a:solidFill>
            <a:prstDash val="solid"/>
          </a:ln>
        </p:spPr>
      </p:sp>
      <p:sp>
        <p:nvSpPr>
          <p:cNvPr id="4" name="Icon circle"/>
          <p:cNvSpPr/>
          <p:nvPr/>
        </p:nvSpPr>
        <p:spPr>
          <a:xfrm>
            <a:off x="777240" y="1600200"/>
            <a:ext cx="502920" cy="502920"/>
          </a:xfrm>
          <a:prstGeom prst="ellipse">
            <a:avLst/>
          </a:prstGeom>
          <a:solidFill>
            <a:schemeClr val="accent1"/>
          </a:solidFill>
          <a:ln w="6350">
            <a:solidFill>
              <a:schemeClr val="accent1"/>
            </a:solidFill>
            <a:prstDash val="solid"/>
          </a:ln>
        </p:spPr>
      </p:sp>
      <p:pic>
        <p:nvPicPr>
          <p:cNvPr id="5" name="Icon" descr="icon">    </p:cNvPr>
          <p:cNvPicPr>
            <a:picLocks noChangeAspect="1"/>
          </p:cNvPicPr>
          <p:nvPr/>
        </p:nvPicPr>
        <p:blipFill>
          <a:blip r:embed="rId1"/>
          <a:stretch>
            <a:fillRect/>
          </a:stretch>
        </p:blipFill>
        <p:spPr>
          <a:xfrm>
            <a:off x="907999" y="1730959"/>
            <a:ext cx="241402" cy="241402"/>
          </a:xfrm>
          <a:prstGeom prst="rect">
            <a:avLst/>
          </a:prstGeom>
        </p:spPr>
      </p:pic>
      <p:sp>
        <p:nvSpPr>
          <p:cNvPr id="6" name="Text 3"/>
          <p:cNvSpPr txBox="1"/>
          <p:nvPr/>
        </p:nvSpPr>
        <p:spPr>
          <a:xfrm>
            <a:off x="1463040" y="1600200"/>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PRIMARY KEY</a:t>
            </a:r>
            <a:endParaRPr lang="en-US" sz="1600" dirty="0"/>
          </a:p>
        </p:txBody>
      </p:sp>
      <p:sp>
        <p:nvSpPr>
          <p:cNvPr id="7" name="Text 4"/>
          <p:cNvSpPr txBox="1"/>
          <p:nvPr/>
        </p:nvSpPr>
        <p:spPr>
          <a:xfrm>
            <a:off x="777240" y="2240280"/>
            <a:ext cx="3108960" cy="274320"/>
          </a:xfrm>
          <a:prstGeom prst="rect">
            <a:avLst/>
          </a:prstGeom>
          <a:noFill/>
          <a:ln/>
        </p:spPr>
        <p:txBody>
          <a:bodyPr wrap="square" lIns="0" tIns="0" rIns="0" bIns="0" rtlCol="0" anchor="t"/>
          <a:lstStyle/>
          <a:p>
            <a:pPr indent="0" marL="0">
              <a:buNone/>
            </a:pPr>
            <a:r>
              <a:rPr lang="en-US" sz="1400" dirty="0">
                <a:solidFill>
                  <a:schemeClr val="tx1"/>
                </a:solidFill>
              </a:rPr>
              <a:t>Uniquely identifies each record.</a:t>
            </a:r>
            <a:endParaRPr lang="en-US" sz="1400" dirty="0"/>
          </a:p>
        </p:txBody>
      </p:sp>
      <p:sp>
        <p:nvSpPr>
          <p:cNvPr id="8" name="Text 5"/>
          <p:cNvSpPr txBox="1"/>
          <p:nvPr/>
        </p:nvSpPr>
        <p:spPr>
          <a:xfrm>
            <a:off x="777240" y="2606040"/>
            <a:ext cx="310896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product_id INT PRIMARY KEY</a:t>
            </a:r>
            <a:endParaRPr lang="en-US" sz="1200" dirty="0"/>
          </a:p>
        </p:txBody>
      </p:sp>
      <p:sp>
        <p:nvSpPr>
          <p:cNvPr id="9" name="Card"/>
          <p:cNvSpPr/>
          <p:nvPr/>
        </p:nvSpPr>
        <p:spPr>
          <a:xfrm>
            <a:off x="4297680" y="1371600"/>
            <a:ext cx="3566160" cy="1645920"/>
          </a:xfrm>
          <a:prstGeom prst="roundRect">
            <a:avLst>
              <a:gd name="adj" fmla="val 6667"/>
            </a:avLst>
          </a:prstGeom>
          <a:solidFill>
            <a:schemeClr val="bg2"/>
          </a:solidFill>
          <a:ln w="6350">
            <a:solidFill>
              <a:schemeClr val="bg2"/>
            </a:solidFill>
            <a:prstDash val="solid"/>
          </a:ln>
        </p:spPr>
      </p:sp>
      <p:sp>
        <p:nvSpPr>
          <p:cNvPr id="10" name="Icon circle"/>
          <p:cNvSpPr/>
          <p:nvPr/>
        </p:nvSpPr>
        <p:spPr>
          <a:xfrm>
            <a:off x="4526280" y="1600200"/>
            <a:ext cx="502920" cy="502920"/>
          </a:xfrm>
          <a:prstGeom prst="ellipse">
            <a:avLst/>
          </a:prstGeom>
          <a:solidFill>
            <a:schemeClr val="accent5"/>
          </a:solidFill>
          <a:ln w="6350">
            <a:solidFill>
              <a:schemeClr val="accent5"/>
            </a:solidFill>
            <a:prstDash val="solid"/>
          </a:ln>
        </p:spPr>
      </p:sp>
      <p:pic>
        <p:nvPicPr>
          <p:cNvPr id="11" name="Icon" descr="icon">    </p:cNvPr>
          <p:cNvPicPr>
            <a:picLocks noChangeAspect="1"/>
          </p:cNvPicPr>
          <p:nvPr/>
        </p:nvPicPr>
        <p:blipFill>
          <a:blip r:embed="rId2"/>
          <a:stretch>
            <a:fillRect/>
          </a:stretch>
        </p:blipFill>
        <p:spPr>
          <a:xfrm>
            <a:off x="4657039" y="1730959"/>
            <a:ext cx="241402" cy="241402"/>
          </a:xfrm>
          <a:prstGeom prst="rect">
            <a:avLst/>
          </a:prstGeom>
        </p:spPr>
      </p:pic>
      <p:sp>
        <p:nvSpPr>
          <p:cNvPr id="12" name="Text 8"/>
          <p:cNvSpPr txBox="1"/>
          <p:nvPr/>
        </p:nvSpPr>
        <p:spPr>
          <a:xfrm>
            <a:off x="5212080" y="1600200"/>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FOREIGN KEY</a:t>
            </a:r>
            <a:endParaRPr lang="en-US" sz="1600" dirty="0"/>
          </a:p>
        </p:txBody>
      </p:sp>
      <p:sp>
        <p:nvSpPr>
          <p:cNvPr id="13" name="Text 9"/>
          <p:cNvSpPr txBox="1"/>
          <p:nvPr/>
        </p:nvSpPr>
        <p:spPr>
          <a:xfrm>
            <a:off x="4526280" y="2240280"/>
            <a:ext cx="3108960" cy="274320"/>
          </a:xfrm>
          <a:prstGeom prst="rect">
            <a:avLst/>
          </a:prstGeom>
          <a:noFill/>
          <a:ln/>
        </p:spPr>
        <p:txBody>
          <a:bodyPr wrap="square" lIns="0" tIns="0" rIns="0" bIns="0" rtlCol="0" anchor="t"/>
          <a:lstStyle/>
          <a:p>
            <a:pPr indent="0" marL="0">
              <a:buNone/>
            </a:pPr>
            <a:r>
              <a:rPr lang="en-US" sz="1400" dirty="0">
                <a:solidFill>
                  <a:schemeClr val="tx1"/>
                </a:solidFill>
              </a:rPr>
              <a:t>Only valid references are allowed.</a:t>
            </a:r>
            <a:endParaRPr lang="en-US" sz="1400" dirty="0"/>
          </a:p>
        </p:txBody>
      </p:sp>
      <p:sp>
        <p:nvSpPr>
          <p:cNvPr id="14" name="Text 10"/>
          <p:cNvSpPr txBox="1"/>
          <p:nvPr/>
        </p:nvSpPr>
        <p:spPr>
          <a:xfrm>
            <a:off x="4526280" y="2606040"/>
            <a:ext cx="310896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sale_items.product_id</a:t>
            </a:r>
            <a:endParaRPr lang="en-US" sz="1200" dirty="0"/>
          </a:p>
        </p:txBody>
      </p:sp>
      <p:sp>
        <p:nvSpPr>
          <p:cNvPr id="15" name="Card"/>
          <p:cNvSpPr/>
          <p:nvPr/>
        </p:nvSpPr>
        <p:spPr>
          <a:xfrm>
            <a:off x="8046720" y="1371600"/>
            <a:ext cx="3566160" cy="1645920"/>
          </a:xfrm>
          <a:prstGeom prst="roundRect">
            <a:avLst>
              <a:gd name="adj" fmla="val 6667"/>
            </a:avLst>
          </a:prstGeom>
          <a:solidFill>
            <a:schemeClr val="bg2"/>
          </a:solidFill>
          <a:ln w="6350">
            <a:solidFill>
              <a:schemeClr val="bg2"/>
            </a:solidFill>
            <a:prstDash val="solid"/>
          </a:ln>
        </p:spPr>
      </p:sp>
      <p:sp>
        <p:nvSpPr>
          <p:cNvPr id="16" name="Icon circle"/>
          <p:cNvSpPr/>
          <p:nvPr/>
        </p:nvSpPr>
        <p:spPr>
          <a:xfrm>
            <a:off x="8275320" y="1600200"/>
            <a:ext cx="502920" cy="502920"/>
          </a:xfrm>
          <a:prstGeom prst="ellipse">
            <a:avLst/>
          </a:prstGeom>
          <a:solidFill>
            <a:schemeClr val="accent3"/>
          </a:solidFill>
          <a:ln w="6350">
            <a:solidFill>
              <a:schemeClr val="accent3"/>
            </a:solidFill>
            <a:prstDash val="solid"/>
          </a:ln>
        </p:spPr>
      </p:sp>
      <p:pic>
        <p:nvPicPr>
          <p:cNvPr id="17" name="Icon" descr="icon">    </p:cNvPr>
          <p:cNvPicPr>
            <a:picLocks noChangeAspect="1"/>
          </p:cNvPicPr>
          <p:nvPr/>
        </p:nvPicPr>
        <p:blipFill>
          <a:blip r:embed="rId3"/>
          <a:stretch>
            <a:fillRect/>
          </a:stretch>
        </p:blipFill>
        <p:spPr>
          <a:xfrm>
            <a:off x="8406079" y="1730959"/>
            <a:ext cx="241402" cy="241402"/>
          </a:xfrm>
          <a:prstGeom prst="rect">
            <a:avLst/>
          </a:prstGeom>
        </p:spPr>
      </p:pic>
      <p:sp>
        <p:nvSpPr>
          <p:cNvPr id="18" name="Text 13"/>
          <p:cNvSpPr txBox="1"/>
          <p:nvPr/>
        </p:nvSpPr>
        <p:spPr>
          <a:xfrm>
            <a:off x="8961120" y="1600200"/>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NOT NULL</a:t>
            </a:r>
            <a:endParaRPr lang="en-US" sz="1600" dirty="0"/>
          </a:p>
        </p:txBody>
      </p:sp>
      <p:sp>
        <p:nvSpPr>
          <p:cNvPr id="19" name="Text 14"/>
          <p:cNvSpPr txBox="1"/>
          <p:nvPr/>
        </p:nvSpPr>
        <p:spPr>
          <a:xfrm>
            <a:off x="8275320" y="2240280"/>
            <a:ext cx="3108960" cy="274320"/>
          </a:xfrm>
          <a:prstGeom prst="rect">
            <a:avLst/>
          </a:prstGeom>
          <a:noFill/>
          <a:ln/>
        </p:spPr>
        <p:txBody>
          <a:bodyPr wrap="square" lIns="0" tIns="0" rIns="0" bIns="0" rtlCol="0" anchor="t"/>
          <a:lstStyle/>
          <a:p>
            <a:pPr indent="0" marL="0">
              <a:buNone/>
            </a:pPr>
            <a:r>
              <a:rPr lang="en-US" sz="1400" dirty="0">
                <a:solidFill>
                  <a:schemeClr val="tx1"/>
                </a:solidFill>
              </a:rPr>
              <a:t>Required fields cannot be empty.</a:t>
            </a:r>
            <a:endParaRPr lang="en-US" sz="1400" dirty="0"/>
          </a:p>
        </p:txBody>
      </p:sp>
      <p:sp>
        <p:nvSpPr>
          <p:cNvPr id="20" name="Text 15"/>
          <p:cNvSpPr txBox="1"/>
          <p:nvPr/>
        </p:nvSpPr>
        <p:spPr>
          <a:xfrm>
            <a:off x="8275320" y="2606040"/>
            <a:ext cx="310896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product_name NOT NULL</a:t>
            </a:r>
            <a:endParaRPr lang="en-US" sz="1200" dirty="0"/>
          </a:p>
        </p:txBody>
      </p:sp>
      <p:sp>
        <p:nvSpPr>
          <p:cNvPr id="21" name="Card"/>
          <p:cNvSpPr/>
          <p:nvPr/>
        </p:nvSpPr>
        <p:spPr>
          <a:xfrm>
            <a:off x="548640" y="3200400"/>
            <a:ext cx="3566160" cy="1645920"/>
          </a:xfrm>
          <a:prstGeom prst="roundRect">
            <a:avLst>
              <a:gd name="adj" fmla="val 6667"/>
            </a:avLst>
          </a:prstGeom>
          <a:solidFill>
            <a:schemeClr val="bg2"/>
          </a:solidFill>
          <a:ln w="6350">
            <a:solidFill>
              <a:schemeClr val="bg2"/>
            </a:solidFill>
            <a:prstDash val="solid"/>
          </a:ln>
        </p:spPr>
      </p:sp>
      <p:sp>
        <p:nvSpPr>
          <p:cNvPr id="22" name="Icon circle"/>
          <p:cNvSpPr/>
          <p:nvPr/>
        </p:nvSpPr>
        <p:spPr>
          <a:xfrm>
            <a:off x="777240" y="3429000"/>
            <a:ext cx="502920" cy="502920"/>
          </a:xfrm>
          <a:prstGeom prst="ellipse">
            <a:avLst/>
          </a:prstGeom>
          <a:solidFill>
            <a:schemeClr val="accent1"/>
          </a:solidFill>
          <a:ln w="6350">
            <a:solidFill>
              <a:schemeClr val="accent1"/>
            </a:solidFill>
            <a:prstDash val="solid"/>
          </a:ln>
        </p:spPr>
      </p:sp>
      <p:pic>
        <p:nvPicPr>
          <p:cNvPr id="23" name="Icon" descr="icon">    </p:cNvPr>
          <p:cNvPicPr>
            <a:picLocks noChangeAspect="1"/>
          </p:cNvPicPr>
          <p:nvPr/>
        </p:nvPicPr>
        <p:blipFill>
          <a:blip r:embed="rId4"/>
          <a:stretch>
            <a:fillRect/>
          </a:stretch>
        </p:blipFill>
        <p:spPr>
          <a:xfrm>
            <a:off x="907999" y="3559759"/>
            <a:ext cx="241402" cy="241402"/>
          </a:xfrm>
          <a:prstGeom prst="rect">
            <a:avLst/>
          </a:prstGeom>
        </p:spPr>
      </p:pic>
      <p:sp>
        <p:nvSpPr>
          <p:cNvPr id="24" name="Text 18"/>
          <p:cNvSpPr txBox="1"/>
          <p:nvPr/>
        </p:nvSpPr>
        <p:spPr>
          <a:xfrm>
            <a:off x="1463040" y="3429000"/>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UNIQUE</a:t>
            </a:r>
            <a:endParaRPr lang="en-US" sz="1600" dirty="0"/>
          </a:p>
        </p:txBody>
      </p:sp>
      <p:sp>
        <p:nvSpPr>
          <p:cNvPr id="25" name="Text 19"/>
          <p:cNvSpPr txBox="1"/>
          <p:nvPr/>
        </p:nvSpPr>
        <p:spPr>
          <a:xfrm>
            <a:off x="777240" y="4069080"/>
            <a:ext cx="3108960" cy="274320"/>
          </a:xfrm>
          <a:prstGeom prst="rect">
            <a:avLst/>
          </a:prstGeom>
          <a:noFill/>
          <a:ln/>
        </p:spPr>
        <p:txBody>
          <a:bodyPr wrap="square" lIns="0" tIns="0" rIns="0" bIns="0" rtlCol="0" anchor="t"/>
          <a:lstStyle/>
          <a:p>
            <a:pPr indent="0" marL="0">
              <a:buNone/>
            </a:pPr>
            <a:r>
              <a:rPr lang="en-US" sz="1400" dirty="0">
                <a:solidFill>
                  <a:schemeClr val="tx1"/>
                </a:solidFill>
              </a:rPr>
              <a:t>No two records share the value.</a:t>
            </a:r>
            <a:endParaRPr lang="en-US" sz="1400" dirty="0"/>
          </a:p>
        </p:txBody>
      </p:sp>
      <p:sp>
        <p:nvSpPr>
          <p:cNvPr id="26" name="Text 20"/>
          <p:cNvSpPr txBox="1"/>
          <p:nvPr/>
        </p:nvSpPr>
        <p:spPr>
          <a:xfrm>
            <a:off x="777240" y="4434840"/>
            <a:ext cx="310896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sku UNIQUE</a:t>
            </a:r>
            <a:endParaRPr lang="en-US" sz="1200" dirty="0"/>
          </a:p>
        </p:txBody>
      </p:sp>
      <p:sp>
        <p:nvSpPr>
          <p:cNvPr id="27" name="Card"/>
          <p:cNvSpPr/>
          <p:nvPr/>
        </p:nvSpPr>
        <p:spPr>
          <a:xfrm>
            <a:off x="4297680" y="3200400"/>
            <a:ext cx="3566160" cy="1645920"/>
          </a:xfrm>
          <a:prstGeom prst="roundRect">
            <a:avLst>
              <a:gd name="adj" fmla="val 6667"/>
            </a:avLst>
          </a:prstGeom>
          <a:solidFill>
            <a:schemeClr val="bg2"/>
          </a:solidFill>
          <a:ln w="6350">
            <a:solidFill>
              <a:schemeClr val="bg2"/>
            </a:solidFill>
            <a:prstDash val="solid"/>
          </a:ln>
        </p:spPr>
      </p:sp>
      <p:sp>
        <p:nvSpPr>
          <p:cNvPr id="28" name="Icon circle"/>
          <p:cNvSpPr/>
          <p:nvPr/>
        </p:nvSpPr>
        <p:spPr>
          <a:xfrm>
            <a:off x="4526280" y="3429000"/>
            <a:ext cx="502920" cy="502920"/>
          </a:xfrm>
          <a:prstGeom prst="ellipse">
            <a:avLst/>
          </a:prstGeom>
          <a:solidFill>
            <a:schemeClr val="accent5"/>
          </a:solidFill>
          <a:ln w="6350">
            <a:solidFill>
              <a:schemeClr val="accent5"/>
            </a:solidFill>
            <a:prstDash val="solid"/>
          </a:ln>
        </p:spPr>
      </p:sp>
      <p:pic>
        <p:nvPicPr>
          <p:cNvPr id="29" name="Icon" descr="icon">    </p:cNvPr>
          <p:cNvPicPr>
            <a:picLocks noChangeAspect="1"/>
          </p:cNvPicPr>
          <p:nvPr/>
        </p:nvPicPr>
        <p:blipFill>
          <a:blip r:embed="rId5"/>
          <a:stretch>
            <a:fillRect/>
          </a:stretch>
        </p:blipFill>
        <p:spPr>
          <a:xfrm>
            <a:off x="4657039" y="3559759"/>
            <a:ext cx="241402" cy="241402"/>
          </a:xfrm>
          <a:prstGeom prst="rect">
            <a:avLst/>
          </a:prstGeom>
        </p:spPr>
      </p:pic>
      <p:sp>
        <p:nvSpPr>
          <p:cNvPr id="30" name="Text 23"/>
          <p:cNvSpPr txBox="1"/>
          <p:nvPr/>
        </p:nvSpPr>
        <p:spPr>
          <a:xfrm>
            <a:off x="5212080" y="3429000"/>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CHECK</a:t>
            </a:r>
            <a:endParaRPr lang="en-US" sz="1600" dirty="0"/>
          </a:p>
        </p:txBody>
      </p:sp>
      <p:sp>
        <p:nvSpPr>
          <p:cNvPr id="31" name="Text 24"/>
          <p:cNvSpPr txBox="1"/>
          <p:nvPr/>
        </p:nvSpPr>
        <p:spPr>
          <a:xfrm>
            <a:off x="4526280" y="4069080"/>
            <a:ext cx="3108960" cy="274320"/>
          </a:xfrm>
          <a:prstGeom prst="rect">
            <a:avLst/>
          </a:prstGeom>
          <a:noFill/>
          <a:ln/>
        </p:spPr>
        <p:txBody>
          <a:bodyPr wrap="square" lIns="0" tIns="0" rIns="0" bIns="0" rtlCol="0" anchor="t"/>
          <a:lstStyle/>
          <a:p>
            <a:pPr indent="0" marL="0">
              <a:buNone/>
            </a:pPr>
            <a:r>
              <a:rPr lang="en-US" sz="1400" dirty="0">
                <a:solidFill>
                  <a:schemeClr val="tx1"/>
                </a:solidFill>
              </a:rPr>
              <a:t>Values must follow a rule.</a:t>
            </a:r>
            <a:endParaRPr lang="en-US" sz="1400" dirty="0"/>
          </a:p>
        </p:txBody>
      </p:sp>
      <p:sp>
        <p:nvSpPr>
          <p:cNvPr id="32" name="Text 25"/>
          <p:cNvSpPr txBox="1"/>
          <p:nvPr/>
        </p:nvSpPr>
        <p:spPr>
          <a:xfrm>
            <a:off x="4526280" y="4434840"/>
            <a:ext cx="310896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stock_qty &gt;= 0</a:t>
            </a:r>
            <a:endParaRPr lang="en-US" sz="1200" dirty="0"/>
          </a:p>
        </p:txBody>
      </p:sp>
      <p:sp>
        <p:nvSpPr>
          <p:cNvPr id="33" name="Card"/>
          <p:cNvSpPr/>
          <p:nvPr/>
        </p:nvSpPr>
        <p:spPr>
          <a:xfrm>
            <a:off x="8046720" y="3200400"/>
            <a:ext cx="3566160" cy="1645920"/>
          </a:xfrm>
          <a:prstGeom prst="roundRect">
            <a:avLst>
              <a:gd name="adj" fmla="val 6667"/>
            </a:avLst>
          </a:prstGeom>
          <a:solidFill>
            <a:schemeClr val="bg2"/>
          </a:solidFill>
          <a:ln w="6350">
            <a:solidFill>
              <a:schemeClr val="bg2"/>
            </a:solidFill>
            <a:prstDash val="solid"/>
          </a:ln>
        </p:spPr>
      </p:sp>
      <p:sp>
        <p:nvSpPr>
          <p:cNvPr id="34" name="Icon circle"/>
          <p:cNvSpPr/>
          <p:nvPr/>
        </p:nvSpPr>
        <p:spPr>
          <a:xfrm>
            <a:off x="8275320" y="3429000"/>
            <a:ext cx="502920" cy="502920"/>
          </a:xfrm>
          <a:prstGeom prst="ellipse">
            <a:avLst/>
          </a:prstGeom>
          <a:solidFill>
            <a:schemeClr val="accent3"/>
          </a:solidFill>
          <a:ln w="6350">
            <a:solidFill>
              <a:schemeClr val="accent3"/>
            </a:solidFill>
            <a:prstDash val="solid"/>
          </a:ln>
        </p:spPr>
      </p:sp>
      <p:pic>
        <p:nvPicPr>
          <p:cNvPr id="35" name="Icon" descr="icon">    </p:cNvPr>
          <p:cNvPicPr>
            <a:picLocks noChangeAspect="1"/>
          </p:cNvPicPr>
          <p:nvPr/>
        </p:nvPicPr>
        <p:blipFill>
          <a:blip r:embed="rId6"/>
          <a:stretch>
            <a:fillRect/>
          </a:stretch>
        </p:blipFill>
        <p:spPr>
          <a:xfrm>
            <a:off x="8406079" y="3559759"/>
            <a:ext cx="241402" cy="241402"/>
          </a:xfrm>
          <a:prstGeom prst="rect">
            <a:avLst/>
          </a:prstGeom>
        </p:spPr>
      </p:pic>
      <p:sp>
        <p:nvSpPr>
          <p:cNvPr id="36" name="Text 28"/>
          <p:cNvSpPr txBox="1"/>
          <p:nvPr/>
        </p:nvSpPr>
        <p:spPr>
          <a:xfrm>
            <a:off x="8961120" y="3429000"/>
            <a:ext cx="2514600" cy="502920"/>
          </a:xfrm>
          <a:prstGeom prst="rect">
            <a:avLst/>
          </a:prstGeom>
          <a:noFill/>
          <a:ln/>
        </p:spPr>
        <p:txBody>
          <a:bodyPr wrap="square" lIns="0" tIns="0" rIns="0" bIns="0" rtlCol="0" anchor="ctr"/>
          <a:lstStyle/>
          <a:p>
            <a:pPr indent="0" marL="0">
              <a:buNone/>
            </a:pPr>
            <a:r>
              <a:rPr lang="en-US" sz="1600" b="1" dirty="0">
                <a:solidFill>
                  <a:schemeClr val="tx2"/>
                </a:solidFill>
              </a:rPr>
              <a:t>DEFAULT / AUTO_INCREMENT</a:t>
            </a:r>
            <a:endParaRPr lang="en-US" sz="1600" dirty="0"/>
          </a:p>
        </p:txBody>
      </p:sp>
      <p:sp>
        <p:nvSpPr>
          <p:cNvPr id="37" name="Text 29"/>
          <p:cNvSpPr txBox="1"/>
          <p:nvPr/>
        </p:nvSpPr>
        <p:spPr>
          <a:xfrm>
            <a:off x="8275320" y="4069080"/>
            <a:ext cx="3108960" cy="274320"/>
          </a:xfrm>
          <a:prstGeom prst="rect">
            <a:avLst/>
          </a:prstGeom>
          <a:noFill/>
          <a:ln/>
        </p:spPr>
        <p:txBody>
          <a:bodyPr wrap="square" lIns="0" tIns="0" rIns="0" bIns="0" rtlCol="0" anchor="t"/>
          <a:lstStyle/>
          <a:p>
            <a:pPr indent="0" marL="0">
              <a:buNone/>
            </a:pPr>
            <a:r>
              <a:rPr lang="en-US" sz="1400" dirty="0">
                <a:solidFill>
                  <a:schemeClr val="tx1"/>
                </a:solidFill>
              </a:rPr>
              <a:t>Values filled in automatically.</a:t>
            </a:r>
            <a:endParaRPr lang="en-US" sz="1400" dirty="0"/>
          </a:p>
        </p:txBody>
      </p:sp>
      <p:sp>
        <p:nvSpPr>
          <p:cNvPr id="38" name="Text 30"/>
          <p:cNvSpPr txBox="1"/>
          <p:nvPr/>
        </p:nvSpPr>
        <p:spPr>
          <a:xfrm>
            <a:off x="8275320" y="4434840"/>
            <a:ext cx="310896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stock_qty DEFAULT 0</a:t>
            </a:r>
            <a:endParaRPr lang="en-US" sz="1200" dirty="0"/>
          </a:p>
        </p:txBody>
      </p:sp>
      <p:sp>
        <p:nvSpPr>
          <p:cNvPr id="39" name="Banner"/>
          <p:cNvSpPr/>
          <p:nvPr/>
        </p:nvSpPr>
        <p:spPr>
          <a:xfrm>
            <a:off x="548640" y="5212080"/>
            <a:ext cx="11064240" cy="868680"/>
          </a:xfrm>
          <a:prstGeom prst="roundRect">
            <a:avLst>
              <a:gd name="adj" fmla="val 12632"/>
            </a:avLst>
          </a:prstGeom>
          <a:solidFill>
            <a:schemeClr val="tx2"/>
          </a:solidFill>
          <a:ln w="6350">
            <a:solidFill>
              <a:schemeClr val="tx2"/>
            </a:solidFill>
            <a:prstDash val="solid"/>
          </a:ln>
        </p:spPr>
      </p:sp>
      <p:sp>
        <p:nvSpPr>
          <p:cNvPr id="40" name="Text 32"/>
          <p:cNvSpPr txBox="1"/>
          <p:nvPr/>
        </p:nvSpPr>
        <p:spPr>
          <a:xfrm>
            <a:off x="868680" y="5212080"/>
            <a:ext cx="10424160" cy="868680"/>
          </a:xfrm>
          <a:prstGeom prst="rect">
            <a:avLst/>
          </a:prstGeom>
          <a:noFill/>
          <a:ln/>
        </p:spPr>
        <p:txBody>
          <a:bodyPr wrap="square" lIns="0" tIns="0" rIns="0" bIns="0" rtlCol="0" anchor="ctr"/>
          <a:lstStyle/>
          <a:p>
            <a:pPr indent="0" marL="0">
              <a:buNone/>
            </a:pPr>
            <a:r>
              <a:rPr lang="en-US" sz="1600" b="1" dirty="0">
                <a:solidFill>
                  <a:schemeClr val="accent2"/>
                </a:solidFill>
              </a:rPr>
              <a:t>Result: </a:t>
            </a:r>
            <a:pPr indent="0" marL="0">
              <a:buNone/>
            </a:pPr>
            <a:r>
              <a:rPr lang="en-US" sz="1600" dirty="0">
                <a:solidFill>
                  <a:schemeClr val="bg1"/>
                </a:solidFill>
              </a:rPr>
              <a:t>invalid data is rejected by MySQL itself, even if the application code has a bug.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Normalization Applied to Our Tables</a:t>
            </a:r>
            <a:endParaRPr lang="en-US" sz="3600" dirty="0"/>
          </a:p>
        </p:txBody>
      </p:sp>
      <p:sp>
        <p:nvSpPr>
          <p:cNvPr id="3" name="Card"/>
          <p:cNvSpPr/>
          <p:nvPr/>
        </p:nvSpPr>
        <p:spPr>
          <a:xfrm>
            <a:off x="548640" y="1371600"/>
            <a:ext cx="3566160" cy="3611880"/>
          </a:xfrm>
          <a:prstGeom prst="roundRect">
            <a:avLst>
              <a:gd name="adj" fmla="val 3077"/>
            </a:avLst>
          </a:prstGeom>
          <a:solidFill>
            <a:schemeClr val="bg2"/>
          </a:solidFill>
          <a:ln w="6350">
            <a:solidFill>
              <a:schemeClr val="bg2"/>
            </a:solidFill>
            <a:prstDash val="solid"/>
          </a:ln>
        </p:spPr>
      </p:sp>
      <p:sp>
        <p:nvSpPr>
          <p:cNvPr id="4" name="NF badge"/>
          <p:cNvSpPr/>
          <p:nvPr/>
        </p:nvSpPr>
        <p:spPr>
          <a:xfrm>
            <a:off x="868680" y="1645920"/>
            <a:ext cx="914400" cy="914400"/>
          </a:xfrm>
          <a:prstGeom prst="ellipse">
            <a:avLst/>
          </a:prstGeom>
          <a:solidFill>
            <a:schemeClr val="accent1"/>
          </a:solidFill>
          <a:ln w="6350">
            <a:solidFill>
              <a:schemeClr val="accent1"/>
            </a:solidFill>
            <a:prstDash val="solid"/>
          </a:ln>
        </p:spPr>
      </p:sp>
      <p:sp>
        <p:nvSpPr>
          <p:cNvPr id="5" name="Text 3"/>
          <p:cNvSpPr txBox="1"/>
          <p:nvPr/>
        </p:nvSpPr>
        <p:spPr>
          <a:xfrm>
            <a:off x="868680" y="1645920"/>
            <a:ext cx="914400" cy="914400"/>
          </a:xfrm>
          <a:prstGeom prst="rect">
            <a:avLst/>
          </a:prstGeom>
          <a:noFill/>
          <a:ln/>
        </p:spPr>
        <p:txBody>
          <a:bodyPr wrap="square" lIns="0" tIns="0" rIns="0" bIns="0" rtlCol="0" anchor="ctr"/>
          <a:lstStyle/>
          <a:p>
            <a:pPr algn="ctr" indent="0" marL="0">
              <a:buNone/>
            </a:pPr>
            <a:r>
              <a:rPr lang="en-US" sz="2000" b="1" dirty="0">
                <a:solidFill>
                  <a:schemeClr val="bg1"/>
                </a:solidFill>
              </a:rPr>
              <a:t>1NF</a:t>
            </a:r>
            <a:endParaRPr lang="en-US" sz="2000" dirty="0"/>
          </a:p>
        </p:txBody>
      </p:sp>
      <p:sp>
        <p:nvSpPr>
          <p:cNvPr id="6" name="Text 4"/>
          <p:cNvSpPr txBox="1"/>
          <p:nvPr/>
        </p:nvSpPr>
        <p:spPr>
          <a:xfrm>
            <a:off x="868680" y="2788920"/>
            <a:ext cx="2926080" cy="731520"/>
          </a:xfrm>
          <a:prstGeom prst="rect">
            <a:avLst/>
          </a:prstGeom>
          <a:noFill/>
          <a:ln/>
        </p:spPr>
        <p:txBody>
          <a:bodyPr wrap="square" lIns="0" tIns="0" rIns="0" bIns="0" rtlCol="0" anchor="t"/>
          <a:lstStyle/>
          <a:p>
            <a:pPr indent="0" marL="0">
              <a:buNone/>
            </a:pPr>
            <a:r>
              <a:rPr lang="en-US" sz="1600" b="1" dirty="0">
                <a:solidFill>
                  <a:schemeClr val="tx2"/>
                </a:solidFill>
              </a:rPr>
              <a:t>Each field holds a single value; no repeating groups.</a:t>
            </a:r>
            <a:endParaRPr lang="en-US" sz="1600" dirty="0"/>
          </a:p>
        </p:txBody>
      </p:sp>
      <p:sp>
        <p:nvSpPr>
          <p:cNvPr id="7" name="Text 5"/>
          <p:cNvSpPr txBox="1"/>
          <p:nvPr/>
        </p:nvSpPr>
        <p:spPr>
          <a:xfrm>
            <a:off x="868680" y="3611880"/>
            <a:ext cx="2926080" cy="274320"/>
          </a:xfrm>
          <a:prstGeom prst="rect">
            <a:avLst/>
          </a:prstGeom>
          <a:noFill/>
          <a:ln/>
        </p:spPr>
        <p:txBody>
          <a:bodyPr wrap="square" lIns="0" tIns="0" rIns="0" bIns="0" rtlCol="0" anchor="t"/>
          <a:lstStyle/>
          <a:p>
            <a:pPr indent="0" marL="0">
              <a:buNone/>
            </a:pPr>
            <a:r>
              <a:rPr lang="en-US" sz="1200" b="1" dirty="0">
                <a:solidFill>
                  <a:schemeClr val="accent1"/>
                </a:solidFill>
              </a:rPr>
              <a:t>IN OUR DATABASE</a:t>
            </a:r>
            <a:endParaRPr lang="en-US" sz="1200" dirty="0"/>
          </a:p>
        </p:txBody>
      </p:sp>
      <p:sp>
        <p:nvSpPr>
          <p:cNvPr id="8" name="Text 6"/>
          <p:cNvSpPr txBox="1"/>
          <p:nvPr/>
        </p:nvSpPr>
        <p:spPr>
          <a:xfrm>
            <a:off x="868680" y="3886200"/>
            <a:ext cx="2926080" cy="1005840"/>
          </a:xfrm>
          <a:prstGeom prst="rect">
            <a:avLst/>
          </a:prstGeom>
          <a:noFill/>
          <a:ln/>
        </p:spPr>
        <p:txBody>
          <a:bodyPr wrap="square" lIns="0" tIns="0" rIns="0" bIns="0" rtlCol="0" anchor="t"/>
          <a:lstStyle/>
          <a:p>
            <a:pPr indent="0" marL="0">
              <a:buNone/>
            </a:pPr>
            <a:r>
              <a:rPr lang="en-US" sz="1400" i="1" dirty="0">
                <a:solidFill>
                  <a:schemeClr val="tx1"/>
                </a:solidFill>
              </a:rPr>
              <a:t>Items of an invoice are separate rows in sale_items, not columns like item1, item2, item3.</a:t>
            </a:r>
            <a:endParaRPr lang="en-US" sz="1400" dirty="0"/>
          </a:p>
        </p:txBody>
      </p:sp>
      <p:sp>
        <p:nvSpPr>
          <p:cNvPr id="9" name="Card"/>
          <p:cNvSpPr/>
          <p:nvPr/>
        </p:nvSpPr>
        <p:spPr>
          <a:xfrm>
            <a:off x="4297680" y="1371600"/>
            <a:ext cx="3566160" cy="3611880"/>
          </a:xfrm>
          <a:prstGeom prst="roundRect">
            <a:avLst>
              <a:gd name="adj" fmla="val 3077"/>
            </a:avLst>
          </a:prstGeom>
          <a:solidFill>
            <a:schemeClr val="bg2"/>
          </a:solidFill>
          <a:ln w="6350">
            <a:solidFill>
              <a:schemeClr val="bg2"/>
            </a:solidFill>
            <a:prstDash val="solid"/>
          </a:ln>
        </p:spPr>
      </p:sp>
      <p:sp>
        <p:nvSpPr>
          <p:cNvPr id="10" name="NF badge"/>
          <p:cNvSpPr/>
          <p:nvPr/>
        </p:nvSpPr>
        <p:spPr>
          <a:xfrm>
            <a:off x="4617720" y="1645920"/>
            <a:ext cx="914400" cy="914400"/>
          </a:xfrm>
          <a:prstGeom prst="ellipse">
            <a:avLst/>
          </a:prstGeom>
          <a:solidFill>
            <a:schemeClr val="accent5"/>
          </a:solidFill>
          <a:ln w="6350">
            <a:solidFill>
              <a:schemeClr val="accent5"/>
            </a:solidFill>
            <a:prstDash val="solid"/>
          </a:ln>
        </p:spPr>
      </p:sp>
      <p:sp>
        <p:nvSpPr>
          <p:cNvPr id="11" name="Text 9"/>
          <p:cNvSpPr txBox="1"/>
          <p:nvPr/>
        </p:nvSpPr>
        <p:spPr>
          <a:xfrm>
            <a:off x="4617720" y="1645920"/>
            <a:ext cx="914400" cy="914400"/>
          </a:xfrm>
          <a:prstGeom prst="rect">
            <a:avLst/>
          </a:prstGeom>
          <a:noFill/>
          <a:ln/>
        </p:spPr>
        <p:txBody>
          <a:bodyPr wrap="square" lIns="0" tIns="0" rIns="0" bIns="0" rtlCol="0" anchor="ctr"/>
          <a:lstStyle/>
          <a:p>
            <a:pPr algn="ctr" indent="0" marL="0">
              <a:buNone/>
            </a:pPr>
            <a:r>
              <a:rPr lang="en-US" sz="2000" b="1" dirty="0">
                <a:solidFill>
                  <a:schemeClr val="bg1"/>
                </a:solidFill>
              </a:rPr>
              <a:t>2NF</a:t>
            </a:r>
            <a:endParaRPr lang="en-US" sz="2000" dirty="0"/>
          </a:p>
        </p:txBody>
      </p:sp>
      <p:sp>
        <p:nvSpPr>
          <p:cNvPr id="12" name="Text 10"/>
          <p:cNvSpPr txBox="1"/>
          <p:nvPr/>
        </p:nvSpPr>
        <p:spPr>
          <a:xfrm>
            <a:off x="4617720" y="2788920"/>
            <a:ext cx="2926080" cy="731520"/>
          </a:xfrm>
          <a:prstGeom prst="rect">
            <a:avLst/>
          </a:prstGeom>
          <a:noFill/>
          <a:ln/>
        </p:spPr>
        <p:txBody>
          <a:bodyPr wrap="square" lIns="0" tIns="0" rIns="0" bIns="0" rtlCol="0" anchor="t"/>
          <a:lstStyle/>
          <a:p>
            <a:pPr indent="0" marL="0">
              <a:buNone/>
            </a:pPr>
            <a:r>
              <a:rPr lang="en-US" sz="1600" b="1" dirty="0">
                <a:solidFill>
                  <a:schemeClr val="tx2"/>
                </a:solidFill>
              </a:rPr>
              <a:t>Every non-key column depends on the whole key.</a:t>
            </a:r>
            <a:endParaRPr lang="en-US" sz="1600" dirty="0"/>
          </a:p>
        </p:txBody>
      </p:sp>
      <p:sp>
        <p:nvSpPr>
          <p:cNvPr id="13" name="Text 11"/>
          <p:cNvSpPr txBox="1"/>
          <p:nvPr/>
        </p:nvSpPr>
        <p:spPr>
          <a:xfrm>
            <a:off x="4617720" y="3611880"/>
            <a:ext cx="2926080" cy="274320"/>
          </a:xfrm>
          <a:prstGeom prst="rect">
            <a:avLst/>
          </a:prstGeom>
          <a:noFill/>
          <a:ln/>
        </p:spPr>
        <p:txBody>
          <a:bodyPr wrap="square" lIns="0" tIns="0" rIns="0" bIns="0" rtlCol="0" anchor="t"/>
          <a:lstStyle/>
          <a:p>
            <a:pPr indent="0" marL="0">
              <a:buNone/>
            </a:pPr>
            <a:r>
              <a:rPr lang="en-US" sz="1200" b="1" dirty="0">
                <a:solidFill>
                  <a:schemeClr val="accent1"/>
                </a:solidFill>
              </a:rPr>
              <a:t>IN OUR DATABASE</a:t>
            </a:r>
            <a:endParaRPr lang="en-US" sz="1200" dirty="0"/>
          </a:p>
        </p:txBody>
      </p:sp>
      <p:sp>
        <p:nvSpPr>
          <p:cNvPr id="14" name="Text 12"/>
          <p:cNvSpPr txBox="1"/>
          <p:nvPr/>
        </p:nvSpPr>
        <p:spPr>
          <a:xfrm>
            <a:off x="4617720" y="3886200"/>
            <a:ext cx="2926080" cy="1005840"/>
          </a:xfrm>
          <a:prstGeom prst="rect">
            <a:avLst/>
          </a:prstGeom>
          <a:noFill/>
          <a:ln/>
        </p:spPr>
        <p:txBody>
          <a:bodyPr wrap="square" lIns="0" tIns="0" rIns="0" bIns="0" rtlCol="0" anchor="t"/>
          <a:lstStyle/>
          <a:p>
            <a:pPr indent="0" marL="0">
              <a:buNone/>
            </a:pPr>
            <a:r>
              <a:rPr lang="en-US" sz="1400" i="1" dirty="0">
                <a:solidFill>
                  <a:schemeClr val="tx1"/>
                </a:solidFill>
              </a:rPr>
              <a:t>Product name and SKU live in products, not repeated in every sale_items row.</a:t>
            </a:r>
            <a:endParaRPr lang="en-US" sz="1400" dirty="0"/>
          </a:p>
        </p:txBody>
      </p:sp>
      <p:sp>
        <p:nvSpPr>
          <p:cNvPr id="15" name="Card"/>
          <p:cNvSpPr/>
          <p:nvPr/>
        </p:nvSpPr>
        <p:spPr>
          <a:xfrm>
            <a:off x="8046720" y="1371600"/>
            <a:ext cx="3566160" cy="3611880"/>
          </a:xfrm>
          <a:prstGeom prst="roundRect">
            <a:avLst>
              <a:gd name="adj" fmla="val 3077"/>
            </a:avLst>
          </a:prstGeom>
          <a:solidFill>
            <a:schemeClr val="bg2"/>
          </a:solidFill>
          <a:ln w="6350">
            <a:solidFill>
              <a:schemeClr val="bg2"/>
            </a:solidFill>
            <a:prstDash val="solid"/>
          </a:ln>
        </p:spPr>
      </p:sp>
      <p:sp>
        <p:nvSpPr>
          <p:cNvPr id="16" name="NF badge"/>
          <p:cNvSpPr/>
          <p:nvPr/>
        </p:nvSpPr>
        <p:spPr>
          <a:xfrm>
            <a:off x="8366760" y="1645920"/>
            <a:ext cx="914400" cy="914400"/>
          </a:xfrm>
          <a:prstGeom prst="ellipse">
            <a:avLst/>
          </a:prstGeom>
          <a:solidFill>
            <a:schemeClr val="accent3"/>
          </a:solidFill>
          <a:ln w="6350">
            <a:solidFill>
              <a:schemeClr val="accent3"/>
            </a:solidFill>
            <a:prstDash val="solid"/>
          </a:ln>
        </p:spPr>
      </p:sp>
      <p:sp>
        <p:nvSpPr>
          <p:cNvPr id="17" name="Text 15"/>
          <p:cNvSpPr txBox="1"/>
          <p:nvPr/>
        </p:nvSpPr>
        <p:spPr>
          <a:xfrm>
            <a:off x="8366760" y="1645920"/>
            <a:ext cx="914400" cy="914400"/>
          </a:xfrm>
          <a:prstGeom prst="rect">
            <a:avLst/>
          </a:prstGeom>
          <a:noFill/>
          <a:ln/>
        </p:spPr>
        <p:txBody>
          <a:bodyPr wrap="square" lIns="0" tIns="0" rIns="0" bIns="0" rtlCol="0" anchor="ctr"/>
          <a:lstStyle/>
          <a:p>
            <a:pPr algn="ctr" indent="0" marL="0">
              <a:buNone/>
            </a:pPr>
            <a:r>
              <a:rPr lang="en-US" sz="2000" b="1" dirty="0">
                <a:solidFill>
                  <a:schemeClr val="bg1"/>
                </a:solidFill>
              </a:rPr>
              <a:t>3NF</a:t>
            </a:r>
            <a:endParaRPr lang="en-US" sz="2000" dirty="0"/>
          </a:p>
        </p:txBody>
      </p:sp>
      <p:sp>
        <p:nvSpPr>
          <p:cNvPr id="18" name="Text 16"/>
          <p:cNvSpPr txBox="1"/>
          <p:nvPr/>
        </p:nvSpPr>
        <p:spPr>
          <a:xfrm>
            <a:off x="8366760" y="2788920"/>
            <a:ext cx="2926080" cy="731520"/>
          </a:xfrm>
          <a:prstGeom prst="rect">
            <a:avLst/>
          </a:prstGeom>
          <a:noFill/>
          <a:ln/>
        </p:spPr>
        <p:txBody>
          <a:bodyPr wrap="square" lIns="0" tIns="0" rIns="0" bIns="0" rtlCol="0" anchor="t"/>
          <a:lstStyle/>
          <a:p>
            <a:pPr indent="0" marL="0">
              <a:buNone/>
            </a:pPr>
            <a:r>
              <a:rPr lang="en-US" sz="1600" b="1" dirty="0">
                <a:solidFill>
                  <a:schemeClr val="tx2"/>
                </a:solidFill>
              </a:rPr>
              <a:t>No column depends on another non-key column.</a:t>
            </a:r>
            <a:endParaRPr lang="en-US" sz="1600" dirty="0"/>
          </a:p>
        </p:txBody>
      </p:sp>
      <p:sp>
        <p:nvSpPr>
          <p:cNvPr id="19" name="Text 17"/>
          <p:cNvSpPr txBox="1"/>
          <p:nvPr/>
        </p:nvSpPr>
        <p:spPr>
          <a:xfrm>
            <a:off x="8366760" y="3611880"/>
            <a:ext cx="2926080" cy="274320"/>
          </a:xfrm>
          <a:prstGeom prst="rect">
            <a:avLst/>
          </a:prstGeom>
          <a:noFill/>
          <a:ln/>
        </p:spPr>
        <p:txBody>
          <a:bodyPr wrap="square" lIns="0" tIns="0" rIns="0" bIns="0" rtlCol="0" anchor="t"/>
          <a:lstStyle/>
          <a:p>
            <a:pPr indent="0" marL="0">
              <a:buNone/>
            </a:pPr>
            <a:r>
              <a:rPr lang="en-US" sz="1200" b="1" dirty="0">
                <a:solidFill>
                  <a:schemeClr val="accent1"/>
                </a:solidFill>
              </a:rPr>
              <a:t>IN OUR DATABASE</a:t>
            </a:r>
            <a:endParaRPr lang="en-US" sz="1200" dirty="0"/>
          </a:p>
        </p:txBody>
      </p:sp>
      <p:sp>
        <p:nvSpPr>
          <p:cNvPr id="20" name="Text 18"/>
          <p:cNvSpPr txBox="1"/>
          <p:nvPr/>
        </p:nvSpPr>
        <p:spPr>
          <a:xfrm>
            <a:off x="8366760" y="3886200"/>
            <a:ext cx="2926080" cy="1005840"/>
          </a:xfrm>
          <a:prstGeom prst="rect">
            <a:avLst/>
          </a:prstGeom>
          <a:noFill/>
          <a:ln/>
        </p:spPr>
        <p:txBody>
          <a:bodyPr wrap="square" lIns="0" tIns="0" rIns="0" bIns="0" rtlCol="0" anchor="t"/>
          <a:lstStyle/>
          <a:p>
            <a:pPr indent="0" marL="0">
              <a:buNone/>
            </a:pPr>
            <a:r>
              <a:rPr lang="en-US" sz="1400" i="1" dirty="0">
                <a:solidFill>
                  <a:schemeClr val="tx1"/>
                </a:solidFill>
              </a:rPr>
              <a:t>Category name lives in categories; products keeps only category_id.</a:t>
            </a:r>
            <a:endParaRPr lang="en-US" sz="1400" dirty="0"/>
          </a:p>
        </p:txBody>
      </p:sp>
      <p:sp>
        <p:nvSpPr>
          <p:cNvPr id="21" name="Banner"/>
          <p:cNvSpPr/>
          <p:nvPr/>
        </p:nvSpPr>
        <p:spPr>
          <a:xfrm>
            <a:off x="548640" y="5257800"/>
            <a:ext cx="11064240" cy="960120"/>
          </a:xfrm>
          <a:prstGeom prst="roundRect">
            <a:avLst>
              <a:gd name="adj" fmla="val 11429"/>
            </a:avLst>
          </a:prstGeom>
          <a:solidFill>
            <a:schemeClr val="tx2"/>
          </a:solidFill>
          <a:ln w="6350">
            <a:solidFill>
              <a:schemeClr val="tx2"/>
            </a:solidFill>
            <a:prstDash val="solid"/>
          </a:ln>
        </p:spPr>
      </p:sp>
      <p:sp>
        <p:nvSpPr>
          <p:cNvPr id="22" name="Text 20"/>
          <p:cNvSpPr txBox="1"/>
          <p:nvPr/>
        </p:nvSpPr>
        <p:spPr>
          <a:xfrm>
            <a:off x="868680" y="5257800"/>
            <a:ext cx="10424160" cy="960120"/>
          </a:xfrm>
          <a:prstGeom prst="rect">
            <a:avLst/>
          </a:prstGeom>
          <a:noFill/>
          <a:ln/>
        </p:spPr>
        <p:txBody>
          <a:bodyPr wrap="square" lIns="0" tIns="0" rIns="0" bIns="0" rtlCol="0" anchor="ctr"/>
          <a:lstStyle/>
          <a:p>
            <a:pPr indent="0" marL="0">
              <a:buNone/>
            </a:pPr>
            <a:r>
              <a:rPr lang="en-US" sz="1600" b="1" dirty="0">
                <a:solidFill>
                  <a:schemeClr val="accent2"/>
                </a:solidFill>
              </a:rPr>
              <a:t>Deliberate exception: </a:t>
            </a:r>
            <a:pPr indent="0" marL="0">
              <a:buNone/>
            </a:pPr>
            <a:r>
              <a:rPr lang="en-US" sz="1600" dirty="0">
                <a:solidFill>
                  <a:schemeClr val="bg1"/>
                </a:solidFill>
              </a:rPr>
              <a:t>unit_price is also stored in sale_items, so old invoices keep the price at the time of sale even if the product price changes later.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Key Business Queries</a:t>
            </a:r>
            <a:endParaRPr lang="en-US" sz="3600" dirty="0"/>
          </a:p>
        </p:txBody>
      </p:sp>
      <p:sp>
        <p:nvSpPr>
          <p:cNvPr id="3" name="Code card"/>
          <p:cNvSpPr/>
          <p:nvPr/>
        </p:nvSpPr>
        <p:spPr>
          <a:xfrm>
            <a:off x="548640" y="1325880"/>
            <a:ext cx="5486400" cy="2148840"/>
          </a:xfrm>
          <a:prstGeom prst="roundRect">
            <a:avLst>
              <a:gd name="adj" fmla="val 5106"/>
            </a:avLst>
          </a:prstGeom>
          <a:solidFill>
            <a:schemeClr val="tx1"/>
          </a:solidFill>
          <a:ln w="6350">
            <a:solidFill>
              <a:schemeClr val="tx1"/>
            </a:solidFill>
            <a:prstDash val="solid"/>
          </a:ln>
        </p:spPr>
      </p:sp>
      <p:sp>
        <p:nvSpPr>
          <p:cNvPr id="4" name="Text 2"/>
          <p:cNvSpPr txBox="1"/>
          <p:nvPr/>
        </p:nvSpPr>
        <p:spPr>
          <a:xfrm>
            <a:off x="822960" y="1463040"/>
            <a:ext cx="4937760" cy="274320"/>
          </a:xfrm>
          <a:prstGeom prst="rect">
            <a:avLst/>
          </a:prstGeom>
          <a:noFill/>
          <a:ln/>
        </p:spPr>
        <p:txBody>
          <a:bodyPr wrap="square" lIns="0" tIns="0" rIns="0" bIns="0" rtlCol="0" anchor="t"/>
          <a:lstStyle/>
          <a:p>
            <a:pPr indent="0" marL="0">
              <a:buNone/>
            </a:pPr>
            <a:r>
              <a:rPr lang="en-US" sz="1400" b="1" dirty="0">
                <a:solidFill>
                  <a:schemeClr val="accent2"/>
                </a:solidFill>
              </a:rPr>
              <a:t>Daily revenue (GROUP BY)</a:t>
            </a:r>
            <a:endParaRPr lang="en-US" sz="1400" dirty="0"/>
          </a:p>
        </p:txBody>
      </p:sp>
      <p:sp>
        <p:nvSpPr>
          <p:cNvPr id="5" name="Text 3"/>
          <p:cNvSpPr txBox="1"/>
          <p:nvPr/>
        </p:nvSpPr>
        <p:spPr>
          <a:xfrm>
            <a:off x="822960" y="1828800"/>
            <a:ext cx="4937760" cy="150876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SELECT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DATE</a:t>
            </a:r>
            <a:pPr indent="0" marL="0">
              <a:buNone/>
            </a:pPr>
            <a:r>
              <a:rPr lang="en-US" sz="1100" dirty="0">
                <a:solidFill>
                  <a:schemeClr val="bg1"/>
                </a:solidFill>
                <a:latin typeface="Courier New" pitchFamily="34" charset="0"/>
                <a:ea typeface="Courier New" pitchFamily="34" charset="-122"/>
                <a:cs typeface="Courier New" pitchFamily="34" charset="-120"/>
              </a:rPr>
              <a:t>(sale_date) </a:t>
            </a:r>
            <a:pPr indent="0" marL="0">
              <a:buNone/>
            </a:pPr>
            <a:r>
              <a:rPr lang="en-US" sz="1100" dirty="0">
                <a:solidFill>
                  <a:schemeClr val="accent2"/>
                </a:solidFill>
                <a:latin typeface="Courier New" pitchFamily="34" charset="0"/>
                <a:ea typeface="Courier New" pitchFamily="34" charset="-122"/>
                <a:cs typeface="Courier New" pitchFamily="34" charset="-120"/>
              </a:rPr>
              <a:t>AS</a:t>
            </a:r>
            <a:pPr indent="0" marL="0">
              <a:buNone/>
            </a:pPr>
            <a:r>
              <a:rPr lang="en-US" sz="1100" dirty="0">
                <a:solidFill>
                  <a:schemeClr val="bg1"/>
                </a:solidFill>
                <a:latin typeface="Courier New" pitchFamily="34" charset="0"/>
                <a:ea typeface="Courier New" pitchFamily="34" charset="-122"/>
                <a:cs typeface="Courier New" pitchFamily="34" charset="-120"/>
              </a:rPr>
              <a:t> day,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SUM</a:t>
            </a:r>
            <a:pPr indent="0" marL="0">
              <a:buNone/>
            </a:pPr>
            <a:r>
              <a:rPr lang="en-US" sz="1100" dirty="0">
                <a:solidFill>
                  <a:schemeClr val="bg1"/>
                </a:solidFill>
                <a:latin typeface="Courier New" pitchFamily="34" charset="0"/>
                <a:ea typeface="Courier New" pitchFamily="34" charset="-122"/>
                <a:cs typeface="Courier New" pitchFamily="34" charset="-120"/>
              </a:rPr>
              <a:t>(total_amount) </a:t>
            </a:r>
            <a:pPr indent="0" marL="0">
              <a:buNone/>
            </a:pPr>
            <a:r>
              <a:rPr lang="en-US" sz="1100" dirty="0">
                <a:solidFill>
                  <a:schemeClr val="accent2"/>
                </a:solidFill>
                <a:latin typeface="Courier New" pitchFamily="34" charset="0"/>
                <a:ea typeface="Courier New" pitchFamily="34" charset="-122"/>
                <a:cs typeface="Courier New" pitchFamily="34" charset="-120"/>
              </a:rPr>
              <a:t>AS</a:t>
            </a:r>
            <a:pPr indent="0" marL="0">
              <a:buNone/>
            </a:pPr>
            <a:r>
              <a:rPr lang="en-US" sz="1100" dirty="0">
                <a:solidFill>
                  <a:schemeClr val="bg1"/>
                </a:solidFill>
                <a:latin typeface="Courier New" pitchFamily="34" charset="0"/>
                <a:ea typeface="Courier New" pitchFamily="34" charset="-122"/>
                <a:cs typeface="Courier New" pitchFamily="34" charset="-120"/>
              </a:rPr>
              <a:t> revenue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FROM</a:t>
            </a:r>
            <a:pPr indent="0" marL="0">
              <a:buNone/>
            </a:pPr>
            <a:r>
              <a:rPr lang="en-US" sz="1100" dirty="0">
                <a:solidFill>
                  <a:schemeClr val="bg1"/>
                </a:solidFill>
                <a:latin typeface="Courier New" pitchFamily="34" charset="0"/>
                <a:ea typeface="Courier New" pitchFamily="34" charset="-122"/>
                <a:cs typeface="Courier New" pitchFamily="34" charset="-120"/>
              </a:rPr>
              <a:t> sales</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GROUP BY</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DATE</a:t>
            </a:r>
            <a:pPr indent="0" marL="0">
              <a:buNone/>
            </a:pPr>
            <a:r>
              <a:rPr lang="en-US" sz="1100" dirty="0">
                <a:solidFill>
                  <a:schemeClr val="bg1"/>
                </a:solidFill>
                <a:latin typeface="Courier New" pitchFamily="34" charset="0"/>
                <a:ea typeface="Courier New" pitchFamily="34" charset="-122"/>
                <a:cs typeface="Courier New" pitchFamily="34" charset="-120"/>
              </a:rPr>
              <a:t>(sale_date)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ORDER BY</a:t>
            </a:r>
            <a:pPr indent="0" marL="0">
              <a:buNone/>
            </a:pPr>
            <a:r>
              <a:rPr lang="en-US" sz="1100" dirty="0">
                <a:solidFill>
                  <a:schemeClr val="bg1"/>
                </a:solidFill>
                <a:latin typeface="Courier New" pitchFamily="34" charset="0"/>
                <a:ea typeface="Courier New" pitchFamily="34" charset="-122"/>
                <a:cs typeface="Courier New" pitchFamily="34" charset="-120"/>
              </a:rPr>
              <a:t> day </a:t>
            </a:r>
            <a:pPr indent="0" marL="0">
              <a:buNone/>
            </a:pPr>
            <a:r>
              <a:rPr lang="en-US" sz="1100" dirty="0">
                <a:solidFill>
                  <a:schemeClr val="accent2"/>
                </a:solidFill>
                <a:latin typeface="Courier New" pitchFamily="34" charset="0"/>
                <a:ea typeface="Courier New" pitchFamily="34" charset="-122"/>
                <a:cs typeface="Courier New" pitchFamily="34" charset="-120"/>
              </a:rPr>
              <a:t>DESC</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6" name="Code card"/>
          <p:cNvSpPr/>
          <p:nvPr/>
        </p:nvSpPr>
        <p:spPr>
          <a:xfrm>
            <a:off x="6126480" y="1325880"/>
            <a:ext cx="5486400" cy="2148840"/>
          </a:xfrm>
          <a:prstGeom prst="roundRect">
            <a:avLst>
              <a:gd name="adj" fmla="val 5106"/>
            </a:avLst>
          </a:prstGeom>
          <a:solidFill>
            <a:schemeClr val="tx1"/>
          </a:solidFill>
          <a:ln w="6350">
            <a:solidFill>
              <a:schemeClr val="tx1"/>
            </a:solidFill>
            <a:prstDash val="solid"/>
          </a:ln>
        </p:spPr>
      </p:sp>
      <p:sp>
        <p:nvSpPr>
          <p:cNvPr id="7" name="Text 5"/>
          <p:cNvSpPr txBox="1"/>
          <p:nvPr/>
        </p:nvSpPr>
        <p:spPr>
          <a:xfrm>
            <a:off x="6400800" y="1463040"/>
            <a:ext cx="4937760" cy="274320"/>
          </a:xfrm>
          <a:prstGeom prst="rect">
            <a:avLst/>
          </a:prstGeom>
          <a:noFill/>
          <a:ln/>
        </p:spPr>
        <p:txBody>
          <a:bodyPr wrap="square" lIns="0" tIns="0" rIns="0" bIns="0" rtlCol="0" anchor="t"/>
          <a:lstStyle/>
          <a:p>
            <a:pPr indent="0" marL="0">
              <a:buNone/>
            </a:pPr>
            <a:r>
              <a:rPr lang="en-US" sz="1400" b="1" dirty="0">
                <a:solidFill>
                  <a:schemeClr val="accent2"/>
                </a:solidFill>
              </a:rPr>
              <a:t>Best-selling products (JOIN)</a:t>
            </a:r>
            <a:endParaRPr lang="en-US" sz="1400" dirty="0"/>
          </a:p>
        </p:txBody>
      </p:sp>
      <p:sp>
        <p:nvSpPr>
          <p:cNvPr id="8" name="Text 6"/>
          <p:cNvSpPr txBox="1"/>
          <p:nvPr/>
        </p:nvSpPr>
        <p:spPr>
          <a:xfrm>
            <a:off x="6400800" y="1828800"/>
            <a:ext cx="4937760" cy="150876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SELECT</a:t>
            </a:r>
            <a:pPr indent="0" marL="0">
              <a:buNone/>
            </a:pPr>
            <a:r>
              <a:rPr lang="en-US" sz="1100" dirty="0">
                <a:solidFill>
                  <a:schemeClr val="bg1"/>
                </a:solidFill>
                <a:latin typeface="Courier New" pitchFamily="34" charset="0"/>
                <a:ea typeface="Courier New" pitchFamily="34" charset="-122"/>
                <a:cs typeface="Courier New" pitchFamily="34" charset="-120"/>
              </a:rPr>
              <a:t> p.product_name,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SUM</a:t>
            </a:r>
            <a:pPr indent="0" marL="0">
              <a:buNone/>
            </a:pPr>
            <a:r>
              <a:rPr lang="en-US" sz="1100" dirty="0">
                <a:solidFill>
                  <a:schemeClr val="bg1"/>
                </a:solidFill>
                <a:latin typeface="Courier New" pitchFamily="34" charset="0"/>
                <a:ea typeface="Courier New" pitchFamily="34" charset="-122"/>
                <a:cs typeface="Courier New" pitchFamily="34" charset="-120"/>
              </a:rPr>
              <a:t>(si.quantity) </a:t>
            </a:r>
            <a:pPr indent="0" marL="0">
              <a:buNone/>
            </a:pPr>
            <a:r>
              <a:rPr lang="en-US" sz="1100" dirty="0">
                <a:solidFill>
                  <a:schemeClr val="accent2"/>
                </a:solidFill>
                <a:latin typeface="Courier New" pitchFamily="34" charset="0"/>
                <a:ea typeface="Courier New" pitchFamily="34" charset="-122"/>
                <a:cs typeface="Courier New" pitchFamily="34" charset="-120"/>
              </a:rPr>
              <a:t>AS</a:t>
            </a:r>
            <a:pPr indent="0" marL="0">
              <a:buNone/>
            </a:pPr>
            <a:r>
              <a:rPr lang="en-US" sz="1100" dirty="0">
                <a:solidFill>
                  <a:schemeClr val="bg1"/>
                </a:solidFill>
                <a:latin typeface="Courier New" pitchFamily="34" charset="0"/>
                <a:ea typeface="Courier New" pitchFamily="34" charset="-122"/>
                <a:cs typeface="Courier New" pitchFamily="34" charset="-120"/>
              </a:rPr>
              <a:t> sold</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FROM</a:t>
            </a:r>
            <a:pPr indent="0" marL="0">
              <a:buNone/>
            </a:pPr>
            <a:r>
              <a:rPr lang="en-US" sz="1100" dirty="0">
                <a:solidFill>
                  <a:schemeClr val="bg1"/>
                </a:solidFill>
                <a:latin typeface="Courier New" pitchFamily="34" charset="0"/>
                <a:ea typeface="Courier New" pitchFamily="34" charset="-122"/>
                <a:cs typeface="Courier New" pitchFamily="34" charset="-120"/>
              </a:rPr>
              <a:t> sale_items si</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JOIN</a:t>
            </a:r>
            <a:pPr indent="0" marL="0">
              <a:buNone/>
            </a:pPr>
            <a:r>
              <a:rPr lang="en-US" sz="1100" dirty="0">
                <a:solidFill>
                  <a:schemeClr val="bg1"/>
                </a:solidFill>
                <a:latin typeface="Courier New" pitchFamily="34" charset="0"/>
                <a:ea typeface="Courier New" pitchFamily="34" charset="-122"/>
                <a:cs typeface="Courier New" pitchFamily="34" charset="-120"/>
              </a:rPr>
              <a:t> products p</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ON</a:t>
            </a:r>
            <a:pPr indent="0" marL="0">
              <a:buNone/>
            </a:pPr>
            <a:r>
              <a:rPr lang="en-US" sz="1100" dirty="0">
                <a:solidFill>
                  <a:schemeClr val="bg1"/>
                </a:solidFill>
                <a:latin typeface="Courier New" pitchFamily="34" charset="0"/>
                <a:ea typeface="Courier New" pitchFamily="34" charset="-122"/>
                <a:cs typeface="Courier New" pitchFamily="34" charset="-120"/>
              </a:rPr>
              <a:t> p.product_id = si.product_id</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GROUP BY</a:t>
            </a:r>
            <a:pPr indent="0" marL="0">
              <a:buNone/>
            </a:pPr>
            <a:r>
              <a:rPr lang="en-US" sz="1100" dirty="0">
                <a:solidFill>
                  <a:schemeClr val="bg1"/>
                </a:solidFill>
                <a:latin typeface="Courier New" pitchFamily="34" charset="0"/>
                <a:ea typeface="Courier New" pitchFamily="34" charset="-122"/>
                <a:cs typeface="Courier New" pitchFamily="34" charset="-120"/>
              </a:rPr>
              <a:t> p.product_id, p.product_name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ORDER BY</a:t>
            </a:r>
            <a:pPr indent="0" marL="0">
              <a:buNone/>
            </a:pPr>
            <a:r>
              <a:rPr lang="en-US" sz="1100" dirty="0">
                <a:solidFill>
                  <a:schemeClr val="bg1"/>
                </a:solidFill>
                <a:latin typeface="Courier New" pitchFamily="34" charset="0"/>
                <a:ea typeface="Courier New" pitchFamily="34" charset="-122"/>
                <a:cs typeface="Courier New" pitchFamily="34" charset="-120"/>
              </a:rPr>
              <a:t> sold </a:t>
            </a:r>
            <a:pPr indent="0" marL="0">
              <a:buNone/>
            </a:pPr>
            <a:r>
              <a:rPr lang="en-US" sz="1100" dirty="0">
                <a:solidFill>
                  <a:schemeClr val="accent2"/>
                </a:solidFill>
                <a:latin typeface="Courier New" pitchFamily="34" charset="0"/>
                <a:ea typeface="Courier New" pitchFamily="34" charset="-122"/>
                <a:cs typeface="Courier New" pitchFamily="34" charset="-120"/>
              </a:rPr>
              <a:t>DESC</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LIMIT</a:t>
            </a:r>
            <a:pPr indent="0" marL="0">
              <a:buNone/>
            </a:pPr>
            <a:r>
              <a:rPr lang="en-US" sz="1100" dirty="0">
                <a:solidFill>
                  <a:schemeClr val="bg1"/>
                </a:solidFill>
                <a:latin typeface="Courier New" pitchFamily="34" charset="0"/>
                <a:ea typeface="Courier New" pitchFamily="34" charset="-122"/>
                <a:cs typeface="Courier New" pitchFamily="34" charset="-120"/>
              </a:rPr>
              <a:t> 5;</a:t>
            </a:r>
            <a:endParaRPr lang="en-US" sz="1100" dirty="0"/>
          </a:p>
        </p:txBody>
      </p:sp>
      <p:sp>
        <p:nvSpPr>
          <p:cNvPr id="9" name="Code card"/>
          <p:cNvSpPr/>
          <p:nvPr/>
        </p:nvSpPr>
        <p:spPr>
          <a:xfrm>
            <a:off x="548640" y="3611880"/>
            <a:ext cx="5486400" cy="2148840"/>
          </a:xfrm>
          <a:prstGeom prst="roundRect">
            <a:avLst>
              <a:gd name="adj" fmla="val 5106"/>
            </a:avLst>
          </a:prstGeom>
          <a:solidFill>
            <a:schemeClr val="tx1"/>
          </a:solidFill>
          <a:ln w="6350">
            <a:solidFill>
              <a:schemeClr val="tx1"/>
            </a:solidFill>
            <a:prstDash val="solid"/>
          </a:ln>
        </p:spPr>
      </p:sp>
      <p:sp>
        <p:nvSpPr>
          <p:cNvPr id="10" name="Text 8"/>
          <p:cNvSpPr txBox="1"/>
          <p:nvPr/>
        </p:nvSpPr>
        <p:spPr>
          <a:xfrm>
            <a:off x="822960" y="3749040"/>
            <a:ext cx="4937760" cy="274320"/>
          </a:xfrm>
          <a:prstGeom prst="rect">
            <a:avLst/>
          </a:prstGeom>
          <a:noFill/>
          <a:ln/>
        </p:spPr>
        <p:txBody>
          <a:bodyPr wrap="square" lIns="0" tIns="0" rIns="0" bIns="0" rtlCol="0" anchor="t"/>
          <a:lstStyle/>
          <a:p>
            <a:pPr indent="0" marL="0">
              <a:buNone/>
            </a:pPr>
            <a:r>
              <a:rPr lang="en-US" sz="1400" b="1" dirty="0">
                <a:solidFill>
                  <a:schemeClr val="accent2"/>
                </a:solidFill>
              </a:rPr>
              <a:t>Low-stock alert (WHERE)</a:t>
            </a:r>
            <a:endParaRPr lang="en-US" sz="1400" dirty="0"/>
          </a:p>
        </p:txBody>
      </p:sp>
      <p:sp>
        <p:nvSpPr>
          <p:cNvPr id="11" name="Text 9"/>
          <p:cNvSpPr txBox="1"/>
          <p:nvPr/>
        </p:nvSpPr>
        <p:spPr>
          <a:xfrm>
            <a:off x="822960" y="4114800"/>
            <a:ext cx="4937760" cy="150876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SELECT</a:t>
            </a:r>
            <a:pPr indent="0" marL="0">
              <a:buNone/>
            </a:pPr>
            <a:r>
              <a:rPr lang="en-US" sz="1100" dirty="0">
                <a:solidFill>
                  <a:schemeClr val="bg1"/>
                </a:solidFill>
                <a:latin typeface="Courier New" pitchFamily="34" charset="0"/>
                <a:ea typeface="Courier New" pitchFamily="34" charset="-122"/>
                <a:cs typeface="Courier New" pitchFamily="34" charset="-120"/>
              </a:rPr>
              <a:t> p.product_name, p.stock_qty,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c.category_name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FROM</a:t>
            </a:r>
            <a:pPr indent="0" marL="0">
              <a:buNone/>
            </a:pPr>
            <a:r>
              <a:rPr lang="en-US" sz="1100" dirty="0">
                <a:solidFill>
                  <a:schemeClr val="bg1"/>
                </a:solidFill>
                <a:latin typeface="Courier New" pitchFamily="34" charset="0"/>
                <a:ea typeface="Courier New" pitchFamily="34" charset="-122"/>
                <a:cs typeface="Courier New" pitchFamily="34" charset="-120"/>
              </a:rPr>
              <a:t> products p</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JOIN</a:t>
            </a:r>
            <a:pPr indent="0" marL="0">
              <a:buNone/>
            </a:pPr>
            <a:r>
              <a:rPr lang="en-US" sz="1100" dirty="0">
                <a:solidFill>
                  <a:schemeClr val="bg1"/>
                </a:solidFill>
                <a:latin typeface="Courier New" pitchFamily="34" charset="0"/>
                <a:ea typeface="Courier New" pitchFamily="34" charset="-122"/>
                <a:cs typeface="Courier New" pitchFamily="34" charset="-120"/>
              </a:rPr>
              <a:t> categories c</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ON</a:t>
            </a:r>
            <a:pPr indent="0" marL="0">
              <a:buNone/>
            </a:pPr>
            <a:r>
              <a:rPr lang="en-US" sz="1100" dirty="0">
                <a:solidFill>
                  <a:schemeClr val="bg1"/>
                </a:solidFill>
                <a:latin typeface="Courier New" pitchFamily="34" charset="0"/>
                <a:ea typeface="Courier New" pitchFamily="34" charset="-122"/>
                <a:cs typeface="Courier New" pitchFamily="34" charset="-120"/>
              </a:rPr>
              <a:t> c.category_id = p.category_id</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WHERE</a:t>
            </a:r>
            <a:pPr indent="0" marL="0">
              <a:buNone/>
            </a:pPr>
            <a:r>
              <a:rPr lang="en-US" sz="1100" dirty="0">
                <a:solidFill>
                  <a:schemeClr val="bg1"/>
                </a:solidFill>
                <a:latin typeface="Courier New" pitchFamily="34" charset="0"/>
                <a:ea typeface="Courier New" pitchFamily="34" charset="-122"/>
                <a:cs typeface="Courier New" pitchFamily="34" charset="-120"/>
              </a:rPr>
              <a:t> p.stock_qty &lt;= p.reorder_level;</a:t>
            </a:r>
            <a:endParaRPr lang="en-US" sz="1100" dirty="0"/>
          </a:p>
        </p:txBody>
      </p:sp>
      <p:sp>
        <p:nvSpPr>
          <p:cNvPr id="12" name="Code card"/>
          <p:cNvSpPr/>
          <p:nvPr/>
        </p:nvSpPr>
        <p:spPr>
          <a:xfrm>
            <a:off x="6126480" y="3611880"/>
            <a:ext cx="5486400" cy="2148840"/>
          </a:xfrm>
          <a:prstGeom prst="roundRect">
            <a:avLst>
              <a:gd name="adj" fmla="val 5106"/>
            </a:avLst>
          </a:prstGeom>
          <a:solidFill>
            <a:schemeClr val="tx1"/>
          </a:solidFill>
          <a:ln w="6350">
            <a:solidFill>
              <a:schemeClr val="tx1"/>
            </a:solidFill>
            <a:prstDash val="solid"/>
          </a:ln>
        </p:spPr>
      </p:sp>
      <p:sp>
        <p:nvSpPr>
          <p:cNvPr id="13" name="Text 11"/>
          <p:cNvSpPr txBox="1"/>
          <p:nvPr/>
        </p:nvSpPr>
        <p:spPr>
          <a:xfrm>
            <a:off x="6400800" y="3749040"/>
            <a:ext cx="4937760" cy="274320"/>
          </a:xfrm>
          <a:prstGeom prst="rect">
            <a:avLst/>
          </a:prstGeom>
          <a:noFill/>
          <a:ln/>
        </p:spPr>
        <p:txBody>
          <a:bodyPr wrap="square" lIns="0" tIns="0" rIns="0" bIns="0" rtlCol="0" anchor="t"/>
          <a:lstStyle/>
          <a:p>
            <a:pPr indent="0" marL="0">
              <a:buNone/>
            </a:pPr>
            <a:r>
              <a:rPr lang="en-US" sz="1400" b="1" dirty="0">
                <a:solidFill>
                  <a:schemeClr val="accent2"/>
                </a:solidFill>
              </a:rPr>
              <a:t>Supplier-wise purchases (multi-JOIN)</a:t>
            </a:r>
            <a:endParaRPr lang="en-US" sz="1400" dirty="0"/>
          </a:p>
        </p:txBody>
      </p:sp>
      <p:sp>
        <p:nvSpPr>
          <p:cNvPr id="14" name="Text 12"/>
          <p:cNvSpPr txBox="1"/>
          <p:nvPr/>
        </p:nvSpPr>
        <p:spPr>
          <a:xfrm>
            <a:off x="6400800" y="4114800"/>
            <a:ext cx="4937760" cy="150876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SELECT</a:t>
            </a:r>
            <a:pPr indent="0" marL="0">
              <a:buNone/>
            </a:pPr>
            <a:r>
              <a:rPr lang="en-US" sz="1100" dirty="0">
                <a:solidFill>
                  <a:schemeClr val="bg1"/>
                </a:solidFill>
                <a:latin typeface="Courier New" pitchFamily="34" charset="0"/>
                <a:ea typeface="Courier New" pitchFamily="34" charset="-122"/>
                <a:cs typeface="Courier New" pitchFamily="34" charset="-120"/>
              </a:rPr>
              <a:t> s.supplier_name,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SUM</a:t>
            </a:r>
            <a:pPr indent="0" marL="0">
              <a:buNone/>
            </a:pPr>
            <a:r>
              <a:rPr lang="en-US" sz="1100" dirty="0">
                <a:solidFill>
                  <a:schemeClr val="bg1"/>
                </a:solidFill>
                <a:latin typeface="Courier New" pitchFamily="34" charset="0"/>
                <a:ea typeface="Courier New" pitchFamily="34" charset="-122"/>
                <a:cs typeface="Courier New" pitchFamily="34" charset="-120"/>
              </a:rPr>
              <a:t>(pi.quantity * pi.unit_cost) </a:t>
            </a:r>
            <a:pPr indent="0" marL="0">
              <a:buNone/>
            </a:pPr>
            <a:r>
              <a:rPr lang="en-US" sz="1100" dirty="0">
                <a:solidFill>
                  <a:schemeClr val="accent2"/>
                </a:solidFill>
                <a:latin typeface="Courier New" pitchFamily="34" charset="0"/>
                <a:ea typeface="Courier New" pitchFamily="34" charset="-122"/>
                <a:cs typeface="Courier New" pitchFamily="34" charset="-120"/>
              </a:rPr>
              <a:t>AS</a:t>
            </a:r>
            <a:pPr indent="0" marL="0">
              <a:buNone/>
            </a:pPr>
            <a:r>
              <a:rPr lang="en-US" sz="1100" dirty="0">
                <a:solidFill>
                  <a:schemeClr val="bg1"/>
                </a:solidFill>
                <a:latin typeface="Courier New" pitchFamily="34" charset="0"/>
                <a:ea typeface="Courier New" pitchFamily="34" charset="-122"/>
                <a:cs typeface="Courier New" pitchFamily="34" charset="-120"/>
              </a:rPr>
              <a:t> spent</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FROM</a:t>
            </a:r>
            <a:pPr indent="0" marL="0">
              <a:buNone/>
            </a:pPr>
            <a:r>
              <a:rPr lang="en-US" sz="1100" dirty="0">
                <a:solidFill>
                  <a:schemeClr val="bg1"/>
                </a:solidFill>
                <a:latin typeface="Courier New" pitchFamily="34" charset="0"/>
                <a:ea typeface="Courier New" pitchFamily="34" charset="-122"/>
                <a:cs typeface="Courier New" pitchFamily="34" charset="-120"/>
              </a:rPr>
              <a:t> purchases pu</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JOIN</a:t>
            </a:r>
            <a:pPr indent="0" marL="0">
              <a:buNone/>
            </a:pPr>
            <a:r>
              <a:rPr lang="en-US" sz="1100" dirty="0">
                <a:solidFill>
                  <a:schemeClr val="bg1"/>
                </a:solidFill>
                <a:latin typeface="Courier New" pitchFamily="34" charset="0"/>
                <a:ea typeface="Courier New" pitchFamily="34" charset="-122"/>
                <a:cs typeface="Courier New" pitchFamily="34" charset="-120"/>
              </a:rPr>
              <a:t> suppliers 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ON</a:t>
            </a:r>
            <a:pPr indent="0" marL="0">
              <a:buNone/>
            </a:pPr>
            <a:r>
              <a:rPr lang="en-US" sz="1100" dirty="0">
                <a:solidFill>
                  <a:schemeClr val="bg1"/>
                </a:solidFill>
                <a:latin typeface="Courier New" pitchFamily="34" charset="0"/>
                <a:ea typeface="Courier New" pitchFamily="34" charset="-122"/>
                <a:cs typeface="Courier New" pitchFamily="34" charset="-120"/>
              </a:rPr>
              <a:t> s.supplier_id = pu.supplier_id</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JOIN</a:t>
            </a:r>
            <a:pPr indent="0" marL="0">
              <a:buNone/>
            </a:pPr>
            <a:r>
              <a:rPr lang="en-US" sz="1100" dirty="0">
                <a:solidFill>
                  <a:schemeClr val="bg1"/>
                </a:solidFill>
                <a:latin typeface="Courier New" pitchFamily="34" charset="0"/>
                <a:ea typeface="Courier New" pitchFamily="34" charset="-122"/>
                <a:cs typeface="Courier New" pitchFamily="34" charset="-120"/>
              </a:rPr>
              <a:t> purchase_items pi</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ON</a:t>
            </a:r>
            <a:pPr indent="0" marL="0">
              <a:buNone/>
            </a:pPr>
            <a:r>
              <a:rPr lang="en-US" sz="1100" dirty="0">
                <a:solidFill>
                  <a:schemeClr val="bg1"/>
                </a:solidFill>
                <a:latin typeface="Courier New" pitchFamily="34" charset="0"/>
                <a:ea typeface="Courier New" pitchFamily="34" charset="-122"/>
                <a:cs typeface="Courier New" pitchFamily="34" charset="-120"/>
              </a:rPr>
              <a:t> pi.purchase_id = pu.purchase_id</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GROUP BY</a:t>
            </a:r>
            <a:pPr indent="0" marL="0">
              <a:buNone/>
            </a:pPr>
            <a:r>
              <a:rPr lang="en-US" sz="1100" dirty="0">
                <a:solidFill>
                  <a:schemeClr val="bg1"/>
                </a:solidFill>
                <a:latin typeface="Courier New" pitchFamily="34" charset="0"/>
                <a:ea typeface="Courier New" pitchFamily="34" charset="-122"/>
                <a:cs typeface="Courier New" pitchFamily="34" charset="-120"/>
              </a:rPr>
              <a:t> s.supplier_id, s.supplier_name;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Transactions and ACID Properties</a:t>
            </a:r>
            <a:endParaRPr lang="en-US" sz="3600" dirty="0"/>
          </a:p>
        </p:txBody>
      </p:sp>
      <p:sp>
        <p:nvSpPr>
          <p:cNvPr id="3" name="Card"/>
          <p:cNvSpPr/>
          <p:nvPr/>
        </p:nvSpPr>
        <p:spPr>
          <a:xfrm>
            <a:off x="548640" y="1371600"/>
            <a:ext cx="2651760" cy="2103120"/>
          </a:xfrm>
          <a:prstGeom prst="roundRect">
            <a:avLst>
              <a:gd name="adj" fmla="val 5217"/>
            </a:avLst>
          </a:prstGeom>
          <a:solidFill>
            <a:schemeClr val="bg2"/>
          </a:solidFill>
          <a:ln w="6350">
            <a:solidFill>
              <a:schemeClr val="bg2"/>
            </a:solidFill>
            <a:prstDash val="solid"/>
          </a:ln>
        </p:spPr>
      </p:sp>
      <p:sp>
        <p:nvSpPr>
          <p:cNvPr id="4" name="Number badge"/>
          <p:cNvSpPr/>
          <p:nvPr/>
        </p:nvSpPr>
        <p:spPr>
          <a:xfrm>
            <a:off x="777240" y="1600200"/>
            <a:ext cx="548640" cy="548640"/>
          </a:xfrm>
          <a:prstGeom prst="ellipse">
            <a:avLst/>
          </a:prstGeom>
          <a:solidFill>
            <a:schemeClr val="accent1"/>
          </a:solidFill>
          <a:ln w="6350">
            <a:solidFill>
              <a:schemeClr val="accent1"/>
            </a:solidFill>
            <a:prstDash val="solid"/>
          </a:ln>
        </p:spPr>
      </p:sp>
      <p:sp>
        <p:nvSpPr>
          <p:cNvPr id="5" name="Text 3"/>
          <p:cNvSpPr txBox="1"/>
          <p:nvPr/>
        </p:nvSpPr>
        <p:spPr>
          <a:xfrm>
            <a:off x="777240" y="16002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6" name="Text 4"/>
          <p:cNvSpPr txBox="1"/>
          <p:nvPr/>
        </p:nvSpPr>
        <p:spPr>
          <a:xfrm>
            <a:off x="1463040" y="1600200"/>
            <a:ext cx="1645920" cy="548640"/>
          </a:xfrm>
          <a:prstGeom prst="rect">
            <a:avLst/>
          </a:prstGeom>
          <a:noFill/>
          <a:ln/>
        </p:spPr>
        <p:txBody>
          <a:bodyPr wrap="square" lIns="0" tIns="0" rIns="0" bIns="0" rtlCol="0" anchor="ctr"/>
          <a:lstStyle/>
          <a:p>
            <a:pPr indent="0" marL="0">
              <a:buNone/>
            </a:pPr>
            <a:r>
              <a:rPr lang="en-US" sz="1800" b="1" dirty="0">
                <a:solidFill>
                  <a:schemeClr val="tx2"/>
                </a:solidFill>
              </a:rPr>
              <a:t>Atomicity</a:t>
            </a:r>
            <a:endParaRPr lang="en-US" sz="1800" dirty="0"/>
          </a:p>
        </p:txBody>
      </p:sp>
      <p:sp>
        <p:nvSpPr>
          <p:cNvPr id="7" name="Text 5"/>
          <p:cNvSpPr txBox="1"/>
          <p:nvPr/>
        </p:nvSpPr>
        <p:spPr>
          <a:xfrm>
            <a:off x="777240" y="2331720"/>
            <a:ext cx="2240280" cy="1005840"/>
          </a:xfrm>
          <a:prstGeom prst="rect">
            <a:avLst/>
          </a:prstGeom>
          <a:noFill/>
          <a:ln/>
        </p:spPr>
        <p:txBody>
          <a:bodyPr wrap="square" lIns="0" tIns="0" rIns="0" bIns="0" rtlCol="0" anchor="t"/>
          <a:lstStyle/>
          <a:p>
            <a:pPr indent="0" marL="0">
              <a:buNone/>
            </a:pPr>
            <a:r>
              <a:rPr lang="en-US" sz="1400" dirty="0">
                <a:solidFill>
                  <a:schemeClr val="tx1"/>
                </a:solidFill>
              </a:rPr>
              <a:t>All steps of a sale succeed together, or none do.</a:t>
            </a:r>
            <a:endParaRPr lang="en-US" sz="1400" dirty="0"/>
          </a:p>
        </p:txBody>
      </p:sp>
      <p:sp>
        <p:nvSpPr>
          <p:cNvPr id="8" name="Card"/>
          <p:cNvSpPr/>
          <p:nvPr/>
        </p:nvSpPr>
        <p:spPr>
          <a:xfrm>
            <a:off x="3364992" y="1371600"/>
            <a:ext cx="2651760" cy="2103120"/>
          </a:xfrm>
          <a:prstGeom prst="roundRect">
            <a:avLst>
              <a:gd name="adj" fmla="val 5217"/>
            </a:avLst>
          </a:prstGeom>
          <a:solidFill>
            <a:schemeClr val="bg2"/>
          </a:solidFill>
          <a:ln w="6350">
            <a:solidFill>
              <a:schemeClr val="bg2"/>
            </a:solidFill>
            <a:prstDash val="solid"/>
          </a:ln>
        </p:spPr>
      </p:sp>
      <p:sp>
        <p:nvSpPr>
          <p:cNvPr id="9" name="Number badge"/>
          <p:cNvSpPr/>
          <p:nvPr/>
        </p:nvSpPr>
        <p:spPr>
          <a:xfrm>
            <a:off x="3593592" y="1600200"/>
            <a:ext cx="548640" cy="548640"/>
          </a:xfrm>
          <a:prstGeom prst="ellipse">
            <a:avLst/>
          </a:prstGeom>
          <a:solidFill>
            <a:schemeClr val="accent5"/>
          </a:solidFill>
          <a:ln w="6350">
            <a:solidFill>
              <a:schemeClr val="accent5"/>
            </a:solidFill>
            <a:prstDash val="solid"/>
          </a:ln>
        </p:spPr>
      </p:sp>
      <p:sp>
        <p:nvSpPr>
          <p:cNvPr id="10" name="Text 8"/>
          <p:cNvSpPr txBox="1"/>
          <p:nvPr/>
        </p:nvSpPr>
        <p:spPr>
          <a:xfrm>
            <a:off x="3593592" y="16002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1" name="Text 9"/>
          <p:cNvSpPr txBox="1"/>
          <p:nvPr/>
        </p:nvSpPr>
        <p:spPr>
          <a:xfrm>
            <a:off x="4279392" y="1600200"/>
            <a:ext cx="1645920" cy="548640"/>
          </a:xfrm>
          <a:prstGeom prst="rect">
            <a:avLst/>
          </a:prstGeom>
          <a:noFill/>
          <a:ln/>
        </p:spPr>
        <p:txBody>
          <a:bodyPr wrap="square" lIns="0" tIns="0" rIns="0" bIns="0" rtlCol="0" anchor="ctr"/>
          <a:lstStyle/>
          <a:p>
            <a:pPr indent="0" marL="0">
              <a:buNone/>
            </a:pPr>
            <a:r>
              <a:rPr lang="en-US" sz="1800" b="1" dirty="0">
                <a:solidFill>
                  <a:schemeClr val="tx2"/>
                </a:solidFill>
              </a:rPr>
              <a:t>Consistency</a:t>
            </a:r>
            <a:endParaRPr lang="en-US" sz="1800" dirty="0"/>
          </a:p>
        </p:txBody>
      </p:sp>
      <p:sp>
        <p:nvSpPr>
          <p:cNvPr id="12" name="Text 10"/>
          <p:cNvSpPr txBox="1"/>
          <p:nvPr/>
        </p:nvSpPr>
        <p:spPr>
          <a:xfrm>
            <a:off x="3593592" y="2331720"/>
            <a:ext cx="2240280" cy="1005840"/>
          </a:xfrm>
          <a:prstGeom prst="rect">
            <a:avLst/>
          </a:prstGeom>
          <a:noFill/>
          <a:ln/>
        </p:spPr>
        <p:txBody>
          <a:bodyPr wrap="square" lIns="0" tIns="0" rIns="0" bIns="0" rtlCol="0" anchor="t"/>
          <a:lstStyle/>
          <a:p>
            <a:pPr indent="0" marL="0">
              <a:buNone/>
            </a:pPr>
            <a:r>
              <a:rPr lang="en-US" sz="1400" dirty="0">
                <a:solidFill>
                  <a:schemeClr val="tx1"/>
                </a:solidFill>
              </a:rPr>
              <a:t>Rules such as stock &gt;= 0 are always respected.</a:t>
            </a:r>
            <a:endParaRPr lang="en-US" sz="1400" dirty="0"/>
          </a:p>
        </p:txBody>
      </p:sp>
      <p:sp>
        <p:nvSpPr>
          <p:cNvPr id="13" name="Card"/>
          <p:cNvSpPr/>
          <p:nvPr/>
        </p:nvSpPr>
        <p:spPr>
          <a:xfrm>
            <a:off x="6181344" y="1371600"/>
            <a:ext cx="2651760" cy="2103120"/>
          </a:xfrm>
          <a:prstGeom prst="roundRect">
            <a:avLst>
              <a:gd name="adj" fmla="val 5217"/>
            </a:avLst>
          </a:prstGeom>
          <a:solidFill>
            <a:schemeClr val="bg2"/>
          </a:solidFill>
          <a:ln w="6350">
            <a:solidFill>
              <a:schemeClr val="bg2"/>
            </a:solidFill>
            <a:prstDash val="solid"/>
          </a:ln>
        </p:spPr>
      </p:sp>
      <p:sp>
        <p:nvSpPr>
          <p:cNvPr id="14" name="Number badge"/>
          <p:cNvSpPr/>
          <p:nvPr/>
        </p:nvSpPr>
        <p:spPr>
          <a:xfrm>
            <a:off x="6409944" y="1600200"/>
            <a:ext cx="548640" cy="548640"/>
          </a:xfrm>
          <a:prstGeom prst="ellipse">
            <a:avLst/>
          </a:prstGeom>
          <a:solidFill>
            <a:schemeClr val="accent3"/>
          </a:solidFill>
          <a:ln w="6350">
            <a:solidFill>
              <a:schemeClr val="accent3"/>
            </a:solidFill>
            <a:prstDash val="solid"/>
          </a:ln>
        </p:spPr>
      </p:sp>
      <p:sp>
        <p:nvSpPr>
          <p:cNvPr id="15" name="Text 13"/>
          <p:cNvSpPr txBox="1"/>
          <p:nvPr/>
        </p:nvSpPr>
        <p:spPr>
          <a:xfrm>
            <a:off x="6409944" y="16002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I</a:t>
            </a:r>
            <a:endParaRPr lang="en-US" sz="1600" dirty="0"/>
          </a:p>
        </p:txBody>
      </p:sp>
      <p:sp>
        <p:nvSpPr>
          <p:cNvPr id="16" name="Text 14"/>
          <p:cNvSpPr txBox="1"/>
          <p:nvPr/>
        </p:nvSpPr>
        <p:spPr>
          <a:xfrm>
            <a:off x="7095744" y="1600200"/>
            <a:ext cx="1645920" cy="548640"/>
          </a:xfrm>
          <a:prstGeom prst="rect">
            <a:avLst/>
          </a:prstGeom>
          <a:noFill/>
          <a:ln/>
        </p:spPr>
        <p:txBody>
          <a:bodyPr wrap="square" lIns="0" tIns="0" rIns="0" bIns="0" rtlCol="0" anchor="ctr"/>
          <a:lstStyle/>
          <a:p>
            <a:pPr indent="0" marL="0">
              <a:buNone/>
            </a:pPr>
            <a:r>
              <a:rPr lang="en-US" sz="1800" b="1" dirty="0">
                <a:solidFill>
                  <a:schemeClr val="tx2"/>
                </a:solidFill>
              </a:rPr>
              <a:t>Isolation</a:t>
            </a:r>
            <a:endParaRPr lang="en-US" sz="1800" dirty="0"/>
          </a:p>
        </p:txBody>
      </p:sp>
      <p:sp>
        <p:nvSpPr>
          <p:cNvPr id="17" name="Text 15"/>
          <p:cNvSpPr txBox="1"/>
          <p:nvPr/>
        </p:nvSpPr>
        <p:spPr>
          <a:xfrm>
            <a:off x="6409944" y="2331720"/>
            <a:ext cx="2240280" cy="1005840"/>
          </a:xfrm>
          <a:prstGeom prst="rect">
            <a:avLst/>
          </a:prstGeom>
          <a:noFill/>
          <a:ln/>
        </p:spPr>
        <p:txBody>
          <a:bodyPr wrap="square" lIns="0" tIns="0" rIns="0" bIns="0" rtlCol="0" anchor="t"/>
          <a:lstStyle/>
          <a:p>
            <a:pPr indent="0" marL="0">
              <a:buNone/>
            </a:pPr>
            <a:r>
              <a:rPr lang="en-US" sz="1400" dirty="0">
                <a:solidFill>
                  <a:schemeClr val="tx1"/>
                </a:solidFill>
              </a:rPr>
              <a:t>Two cashiers cannot corrupt each other's sale.</a:t>
            </a:r>
            <a:endParaRPr lang="en-US" sz="1400" dirty="0"/>
          </a:p>
        </p:txBody>
      </p:sp>
      <p:sp>
        <p:nvSpPr>
          <p:cNvPr id="18" name="Card"/>
          <p:cNvSpPr/>
          <p:nvPr/>
        </p:nvSpPr>
        <p:spPr>
          <a:xfrm>
            <a:off x="8997696" y="1371600"/>
            <a:ext cx="2651760" cy="2103120"/>
          </a:xfrm>
          <a:prstGeom prst="roundRect">
            <a:avLst>
              <a:gd name="adj" fmla="val 5217"/>
            </a:avLst>
          </a:prstGeom>
          <a:solidFill>
            <a:schemeClr val="bg2"/>
          </a:solidFill>
          <a:ln w="6350">
            <a:solidFill>
              <a:schemeClr val="bg2"/>
            </a:solidFill>
            <a:prstDash val="solid"/>
          </a:ln>
        </p:spPr>
      </p:sp>
      <p:sp>
        <p:nvSpPr>
          <p:cNvPr id="19" name="Number badge"/>
          <p:cNvSpPr/>
          <p:nvPr/>
        </p:nvSpPr>
        <p:spPr>
          <a:xfrm>
            <a:off x="9226296" y="1600200"/>
            <a:ext cx="548640" cy="548640"/>
          </a:xfrm>
          <a:prstGeom prst="ellipse">
            <a:avLst/>
          </a:prstGeom>
          <a:solidFill>
            <a:schemeClr val="accent4"/>
          </a:solidFill>
          <a:ln w="6350">
            <a:solidFill>
              <a:schemeClr val="accent4"/>
            </a:solidFill>
            <a:prstDash val="solid"/>
          </a:ln>
        </p:spPr>
      </p:sp>
      <p:sp>
        <p:nvSpPr>
          <p:cNvPr id="20" name="Text 18"/>
          <p:cNvSpPr txBox="1"/>
          <p:nvPr/>
        </p:nvSpPr>
        <p:spPr>
          <a:xfrm>
            <a:off x="9226296" y="16002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21" name="Text 19"/>
          <p:cNvSpPr txBox="1"/>
          <p:nvPr/>
        </p:nvSpPr>
        <p:spPr>
          <a:xfrm>
            <a:off x="9912096" y="1600200"/>
            <a:ext cx="1645920" cy="548640"/>
          </a:xfrm>
          <a:prstGeom prst="rect">
            <a:avLst/>
          </a:prstGeom>
          <a:noFill/>
          <a:ln/>
        </p:spPr>
        <p:txBody>
          <a:bodyPr wrap="square" lIns="0" tIns="0" rIns="0" bIns="0" rtlCol="0" anchor="ctr"/>
          <a:lstStyle/>
          <a:p>
            <a:pPr indent="0" marL="0">
              <a:buNone/>
            </a:pPr>
            <a:r>
              <a:rPr lang="en-US" sz="1800" b="1" dirty="0">
                <a:solidFill>
                  <a:schemeClr val="tx2"/>
                </a:solidFill>
              </a:rPr>
              <a:t>Durability</a:t>
            </a:r>
            <a:endParaRPr lang="en-US" sz="1800" dirty="0"/>
          </a:p>
        </p:txBody>
      </p:sp>
      <p:sp>
        <p:nvSpPr>
          <p:cNvPr id="22" name="Text 20"/>
          <p:cNvSpPr txBox="1"/>
          <p:nvPr/>
        </p:nvSpPr>
        <p:spPr>
          <a:xfrm>
            <a:off x="9226296" y="2331720"/>
            <a:ext cx="2240280" cy="1005840"/>
          </a:xfrm>
          <a:prstGeom prst="rect">
            <a:avLst/>
          </a:prstGeom>
          <a:noFill/>
          <a:ln/>
        </p:spPr>
        <p:txBody>
          <a:bodyPr wrap="square" lIns="0" tIns="0" rIns="0" bIns="0" rtlCol="0" anchor="t"/>
          <a:lstStyle/>
          <a:p>
            <a:pPr indent="0" marL="0">
              <a:buNone/>
            </a:pPr>
            <a:r>
              <a:rPr lang="en-US" sz="1400" dirty="0">
                <a:solidFill>
                  <a:schemeClr val="tx1"/>
                </a:solidFill>
              </a:rPr>
              <a:t>Committed sales survive a crash or restart.</a:t>
            </a:r>
            <a:endParaRPr lang="en-US" sz="1400" dirty="0"/>
          </a:p>
        </p:txBody>
      </p:sp>
      <p:sp>
        <p:nvSpPr>
          <p:cNvPr id="23" name="Code card"/>
          <p:cNvSpPr/>
          <p:nvPr/>
        </p:nvSpPr>
        <p:spPr>
          <a:xfrm>
            <a:off x="548640" y="3657600"/>
            <a:ext cx="6766560" cy="2514600"/>
          </a:xfrm>
          <a:prstGeom prst="roundRect">
            <a:avLst>
              <a:gd name="adj" fmla="val 4364"/>
            </a:avLst>
          </a:prstGeom>
          <a:solidFill>
            <a:schemeClr val="tx1"/>
          </a:solidFill>
          <a:ln w="6350">
            <a:solidFill>
              <a:schemeClr val="tx1"/>
            </a:solidFill>
            <a:prstDash val="solid"/>
          </a:ln>
        </p:spPr>
      </p:sp>
      <p:sp>
        <p:nvSpPr>
          <p:cNvPr id="24" name="Text 22"/>
          <p:cNvSpPr txBox="1"/>
          <p:nvPr/>
        </p:nvSpPr>
        <p:spPr>
          <a:xfrm>
            <a:off x="822960" y="3794760"/>
            <a:ext cx="6217920" cy="274320"/>
          </a:xfrm>
          <a:prstGeom prst="rect">
            <a:avLst/>
          </a:prstGeom>
          <a:noFill/>
          <a:ln/>
        </p:spPr>
        <p:txBody>
          <a:bodyPr wrap="square" lIns="0" tIns="0" rIns="0" bIns="0" rtlCol="0" anchor="t"/>
          <a:lstStyle/>
          <a:p>
            <a:pPr indent="0" marL="0">
              <a:buNone/>
            </a:pPr>
            <a:r>
              <a:rPr lang="en-US" sz="1400" b="1" dirty="0">
                <a:solidFill>
                  <a:schemeClr val="accent2"/>
                </a:solidFill>
              </a:rPr>
              <a:t>Protecting the last item in stock</a:t>
            </a:r>
            <a:endParaRPr lang="en-US" sz="1400" dirty="0"/>
          </a:p>
        </p:txBody>
      </p:sp>
      <p:sp>
        <p:nvSpPr>
          <p:cNvPr id="25" name="Text 23"/>
          <p:cNvSpPr txBox="1"/>
          <p:nvPr/>
        </p:nvSpPr>
        <p:spPr>
          <a:xfrm>
            <a:off x="822960" y="4160520"/>
            <a:ext cx="6217920" cy="18745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START TRANSACTION</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SELECT</a:t>
            </a:r>
            <a:pPr indent="0" marL="0">
              <a:buNone/>
            </a:pPr>
            <a:r>
              <a:rPr lang="en-US" sz="1100" dirty="0">
                <a:solidFill>
                  <a:schemeClr val="bg1"/>
                </a:solidFill>
                <a:latin typeface="Courier New" pitchFamily="34" charset="0"/>
                <a:ea typeface="Courier New" pitchFamily="34" charset="-122"/>
                <a:cs typeface="Courier New" pitchFamily="34" charset="-120"/>
              </a:rPr>
              <a:t> stock_qty </a:t>
            </a:r>
            <a:pPr indent="0" marL="0">
              <a:buNone/>
            </a:pPr>
            <a:r>
              <a:rPr lang="en-US" sz="1100" dirty="0">
                <a:solidFill>
                  <a:schemeClr val="accent2"/>
                </a:solidFill>
                <a:latin typeface="Courier New" pitchFamily="34" charset="0"/>
                <a:ea typeface="Courier New" pitchFamily="34" charset="-122"/>
                <a:cs typeface="Courier New" pitchFamily="34" charset="-120"/>
              </a:rPr>
              <a:t>FROM</a:t>
            </a:r>
            <a:pPr indent="0" marL="0">
              <a:buNone/>
            </a:pPr>
            <a:r>
              <a:rPr lang="en-US" sz="1100" dirty="0">
                <a:solidFill>
                  <a:schemeClr val="bg1"/>
                </a:solidFill>
                <a:latin typeface="Courier New" pitchFamily="34" charset="0"/>
                <a:ea typeface="Courier New" pitchFamily="34" charset="-122"/>
                <a:cs typeface="Courier New" pitchFamily="34" charset="-120"/>
              </a:rPr>
              <a:t> products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WHERE</a:t>
            </a:r>
            <a:pPr indent="0" marL="0">
              <a:buNone/>
            </a:pPr>
            <a:r>
              <a:rPr lang="en-US" sz="1100" dirty="0">
                <a:solidFill>
                  <a:schemeClr val="bg1"/>
                </a:solidFill>
                <a:latin typeface="Courier New" pitchFamily="34" charset="0"/>
                <a:ea typeface="Courier New" pitchFamily="34" charset="-122"/>
                <a:cs typeface="Courier New" pitchFamily="34" charset="-120"/>
              </a:rPr>
              <a:t> product_id = 1 </a:t>
            </a:r>
            <a:pPr indent="0" marL="0">
              <a:buNone/>
            </a:pPr>
            <a:r>
              <a:rPr lang="en-US" sz="1100" dirty="0">
                <a:solidFill>
                  <a:schemeClr val="accent2"/>
                </a:solidFill>
                <a:latin typeface="Courier New" pitchFamily="34" charset="0"/>
                <a:ea typeface="Courier New" pitchFamily="34" charset="-122"/>
                <a:cs typeface="Courier New" pitchFamily="34" charset="-120"/>
              </a:rPr>
              <a:t>FOR UPDATE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6"/>
                </a:solidFill>
                <a:latin typeface="Courier New" pitchFamily="34" charset="0"/>
                <a:ea typeface="Courier New" pitchFamily="34" charset="-122"/>
                <a:cs typeface="Courier New" pitchFamily="34" charset="-120"/>
              </a:rPr>
              <a:t>-- lock row</a:t>
            </a:r>
            <a:endParaRPr lang="en-US" sz="1100" dirty="0"/>
          </a:p>
          <a:p>
            <a:pPr indent="0" marL="0">
              <a:buNone/>
            </a:pPr>
            <a:r>
              <a:rPr lang="en-US" sz="1100" dirty="0">
                <a:solidFill>
                  <a:schemeClr val="accent6"/>
                </a:solidFill>
                <a:latin typeface="Courier New" pitchFamily="34" charset="0"/>
                <a:ea typeface="Courier New" pitchFamily="34" charset="-122"/>
                <a:cs typeface="Courier New" pitchFamily="34" charset="-120"/>
              </a:rPr>
              <a:t>-- if stock_qty &lt; requested: ROLLBACK</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UPDATE</a:t>
            </a:r>
            <a:pPr indent="0" marL="0">
              <a:buNone/>
            </a:pPr>
            <a:r>
              <a:rPr lang="en-US" sz="1100" dirty="0">
                <a:solidFill>
                  <a:schemeClr val="bg1"/>
                </a:solidFill>
                <a:latin typeface="Courier New" pitchFamily="34" charset="0"/>
                <a:ea typeface="Courier New" pitchFamily="34" charset="-122"/>
                <a:cs typeface="Courier New" pitchFamily="34" charset="-120"/>
              </a:rPr>
              <a:t> products </a:t>
            </a:r>
            <a:pPr indent="0" marL="0">
              <a:buNone/>
            </a:pPr>
            <a:r>
              <a:rPr lang="en-US" sz="1100" dirty="0">
                <a:solidFill>
                  <a:schemeClr val="accent2"/>
                </a:solidFill>
                <a:latin typeface="Courier New" pitchFamily="34" charset="0"/>
                <a:ea typeface="Courier New" pitchFamily="34" charset="-122"/>
                <a:cs typeface="Courier New" pitchFamily="34" charset="-120"/>
              </a:rPr>
              <a:t>SET</a:t>
            </a:r>
            <a:pPr indent="0" marL="0">
              <a:buNone/>
            </a:pPr>
            <a:r>
              <a:rPr lang="en-US" sz="1100" dirty="0">
                <a:solidFill>
                  <a:schemeClr val="bg1"/>
                </a:solidFill>
                <a:latin typeface="Courier New" pitchFamily="34" charset="0"/>
                <a:ea typeface="Courier New" pitchFamily="34" charset="-122"/>
                <a:cs typeface="Courier New" pitchFamily="34" charset="-120"/>
              </a:rPr>
              <a:t> stock_qty = stock_qty - 2</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WHERE</a:t>
            </a:r>
            <a:pPr indent="0" marL="0">
              <a:buNone/>
            </a:pPr>
            <a:r>
              <a:rPr lang="en-US" sz="1100" dirty="0">
                <a:solidFill>
                  <a:schemeClr val="bg1"/>
                </a:solidFill>
                <a:latin typeface="Courier New" pitchFamily="34" charset="0"/>
                <a:ea typeface="Courier New" pitchFamily="34" charset="-122"/>
                <a:cs typeface="Courier New" pitchFamily="34" charset="-120"/>
              </a:rPr>
              <a:t> product_id = 1;</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COMMIT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26" name="Card"/>
          <p:cNvSpPr/>
          <p:nvPr/>
        </p:nvSpPr>
        <p:spPr>
          <a:xfrm>
            <a:off x="7498080" y="3657600"/>
            <a:ext cx="4114800" cy="2514600"/>
          </a:xfrm>
          <a:prstGeom prst="roundRect">
            <a:avLst>
              <a:gd name="adj" fmla="val 4364"/>
            </a:avLst>
          </a:prstGeom>
          <a:solidFill>
            <a:schemeClr val="bg2"/>
          </a:solidFill>
          <a:ln w="6350">
            <a:solidFill>
              <a:schemeClr val="bg2"/>
            </a:solidFill>
            <a:prstDash val="solid"/>
          </a:ln>
        </p:spPr>
      </p:sp>
      <p:sp>
        <p:nvSpPr>
          <p:cNvPr id="27" name="Text 25"/>
          <p:cNvSpPr txBox="1"/>
          <p:nvPr/>
        </p:nvSpPr>
        <p:spPr>
          <a:xfrm>
            <a:off x="7772400" y="3840480"/>
            <a:ext cx="3566160" cy="274320"/>
          </a:xfrm>
          <a:prstGeom prst="rect">
            <a:avLst/>
          </a:prstGeom>
          <a:noFill/>
          <a:ln/>
        </p:spPr>
        <p:txBody>
          <a:bodyPr wrap="square" lIns="0" tIns="0" rIns="0" bIns="0" rtlCol="0" anchor="t"/>
          <a:lstStyle/>
          <a:p>
            <a:pPr indent="0" marL="0">
              <a:buNone/>
            </a:pPr>
            <a:r>
              <a:rPr lang="en-US" sz="1200" b="1" dirty="0">
                <a:solidFill>
                  <a:schemeClr val="accent1"/>
                </a:solidFill>
              </a:rPr>
              <a:t>WHY LOCK THE ROW?</a:t>
            </a:r>
            <a:endParaRPr lang="en-US" sz="1200" dirty="0"/>
          </a:p>
        </p:txBody>
      </p:sp>
      <p:sp>
        <p:nvSpPr>
          <p:cNvPr id="28" name="Text 26"/>
          <p:cNvSpPr txBox="1"/>
          <p:nvPr/>
        </p:nvSpPr>
        <p:spPr>
          <a:xfrm>
            <a:off x="7772400" y="4206240"/>
            <a:ext cx="3566160" cy="1828800"/>
          </a:xfrm>
          <a:prstGeom prst="rect">
            <a:avLst/>
          </a:prstGeom>
          <a:noFill/>
          <a:ln/>
        </p:spPr>
        <p:txBody>
          <a:bodyPr wrap="square" lIns="0" tIns="0" rIns="0" bIns="0" rtlCol="0" anchor="t"/>
          <a:lstStyle/>
          <a:p>
            <a:pPr indent="0" marL="0">
              <a:buNone/>
            </a:pPr>
            <a:r>
              <a:rPr lang="en-US" sz="1400" dirty="0">
                <a:solidFill>
                  <a:schemeClr val="tx1"/>
                </a:solidFill>
              </a:rPr>
              <a:t>If two cashiers sell the last unit at the same moment, the lock makes the second one wait. It then sees the updated stock and is rejected, so stock never goes negative.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Views, Indexes and Triggers</a:t>
            </a:r>
            <a:endParaRPr lang="en-US" sz="3600" dirty="0"/>
          </a:p>
        </p:txBody>
      </p:sp>
      <p:sp>
        <p:nvSpPr>
          <p:cNvPr id="3" name="Code card"/>
          <p:cNvSpPr/>
          <p:nvPr/>
        </p:nvSpPr>
        <p:spPr>
          <a:xfrm>
            <a:off x="548640" y="1371600"/>
            <a:ext cx="6400800" cy="4846320"/>
          </a:xfrm>
          <a:prstGeom prst="roundRect">
            <a:avLst>
              <a:gd name="adj" fmla="val 2264"/>
            </a:avLst>
          </a:prstGeom>
          <a:solidFill>
            <a:schemeClr val="tx1"/>
          </a:solidFill>
          <a:ln w="6350">
            <a:solidFill>
              <a:schemeClr val="tx1"/>
            </a:solidFill>
            <a:prstDash val="solid"/>
          </a:ln>
        </p:spPr>
      </p:sp>
      <p:sp>
        <p:nvSpPr>
          <p:cNvPr id="4" name="Text 2"/>
          <p:cNvSpPr txBox="1"/>
          <p:nvPr/>
        </p:nvSpPr>
        <p:spPr>
          <a:xfrm>
            <a:off x="822960" y="1508760"/>
            <a:ext cx="5852160" cy="274320"/>
          </a:xfrm>
          <a:prstGeom prst="rect">
            <a:avLst/>
          </a:prstGeom>
          <a:noFill/>
          <a:ln/>
        </p:spPr>
        <p:txBody>
          <a:bodyPr wrap="square" lIns="0" tIns="0" rIns="0" bIns="0" rtlCol="0" anchor="t"/>
          <a:lstStyle/>
          <a:p>
            <a:pPr indent="0" marL="0">
              <a:buNone/>
            </a:pPr>
            <a:r>
              <a:rPr lang="en-US" sz="1400" b="1" dirty="0">
                <a:solidFill>
                  <a:schemeClr val="accent2"/>
                </a:solidFill>
              </a:rPr>
              <a:t>Illustrative SQL objects</a:t>
            </a:r>
            <a:endParaRPr lang="en-US" sz="1400" dirty="0"/>
          </a:p>
        </p:txBody>
      </p:sp>
      <p:sp>
        <p:nvSpPr>
          <p:cNvPr id="5" name="Text 3"/>
          <p:cNvSpPr txBox="1"/>
          <p:nvPr/>
        </p:nvSpPr>
        <p:spPr>
          <a:xfrm>
            <a:off x="822960" y="1874520"/>
            <a:ext cx="5852160" cy="4206240"/>
          </a:xfrm>
          <a:prstGeom prst="rect">
            <a:avLst/>
          </a:prstGeom>
          <a:noFill/>
          <a:ln/>
        </p:spPr>
        <p:txBody>
          <a:bodyPr wrap="square" lIns="0" tIns="0" rIns="0" bIns="0" rtlCol="0" anchor="t"/>
          <a:lstStyle/>
          <a:p>
            <a:pPr indent="0" marL="0">
              <a:buNone/>
            </a:pPr>
            <a:r>
              <a:rPr lang="en-US" sz="1300" dirty="0">
                <a:solidFill>
                  <a:schemeClr val="accent2"/>
                </a:solidFill>
                <a:latin typeface="Courier New" pitchFamily="34" charset="0"/>
                <a:ea typeface="Courier New" pitchFamily="34" charset="-122"/>
                <a:cs typeface="Courier New" pitchFamily="34" charset="-120"/>
              </a:rPr>
              <a:t>CREATE VIEW</a:t>
            </a:r>
            <a:pPr indent="0" marL="0">
              <a:buNone/>
            </a:pPr>
            <a:r>
              <a:rPr lang="en-US" sz="1300" dirty="0">
                <a:solidFill>
                  <a:schemeClr val="bg1"/>
                </a:solidFill>
                <a:latin typeface="Courier New" pitchFamily="34" charset="0"/>
                <a:ea typeface="Courier New" pitchFamily="34" charset="-122"/>
                <a:cs typeface="Courier New" pitchFamily="34" charset="-120"/>
              </a:rPr>
              <a:t> v_low_stock </a:t>
            </a:r>
            <a:pPr indent="0" marL="0">
              <a:buNone/>
            </a:pPr>
            <a:r>
              <a:rPr lang="en-US" sz="1300" dirty="0">
                <a:solidFill>
                  <a:schemeClr val="accent2"/>
                </a:solidFill>
                <a:latin typeface="Courier New" pitchFamily="34" charset="0"/>
                <a:ea typeface="Courier New" pitchFamily="34" charset="-122"/>
                <a:cs typeface="Courier New" pitchFamily="34" charset="-120"/>
              </a:rPr>
              <a:t>AS</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SELECT</a:t>
            </a:r>
            <a:pPr indent="0" marL="0">
              <a:buNone/>
            </a:pPr>
            <a:r>
              <a:rPr lang="en-US" sz="1300" dirty="0">
                <a:solidFill>
                  <a:schemeClr val="bg1"/>
                </a:solidFill>
                <a:latin typeface="Courier New" pitchFamily="34" charset="0"/>
                <a:ea typeface="Courier New" pitchFamily="34" charset="-122"/>
                <a:cs typeface="Courier New" pitchFamily="34" charset="-120"/>
              </a:rPr>
              <a:t> product_id, product_name, stock_qty</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FROM</a:t>
            </a:r>
            <a:pPr indent="0" marL="0">
              <a:buNone/>
            </a:pPr>
            <a:r>
              <a:rPr lang="en-US" sz="1300" dirty="0">
                <a:solidFill>
                  <a:schemeClr val="bg1"/>
                </a:solidFill>
                <a:latin typeface="Courier New" pitchFamily="34" charset="0"/>
                <a:ea typeface="Courier New" pitchFamily="34" charset="-122"/>
                <a:cs typeface="Courier New" pitchFamily="34" charset="-120"/>
              </a:rPr>
              <a:t> products</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WHERE</a:t>
            </a:r>
            <a:pPr indent="0" marL="0">
              <a:buNone/>
            </a:pPr>
            <a:r>
              <a:rPr lang="en-US" sz="1300" dirty="0">
                <a:solidFill>
                  <a:schemeClr val="bg1"/>
                </a:solidFill>
                <a:latin typeface="Courier New" pitchFamily="34" charset="0"/>
                <a:ea typeface="Courier New" pitchFamily="34" charset="-122"/>
                <a:cs typeface="Courier New" pitchFamily="34" charset="-120"/>
              </a:rPr>
              <a:t> stock_qty &lt;= reorder_level;</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CREATE INDEX</a:t>
            </a:r>
            <a:pPr indent="0" marL="0">
              <a:buNone/>
            </a:pPr>
            <a:r>
              <a:rPr lang="en-US" sz="1300" dirty="0">
                <a:solidFill>
                  <a:schemeClr val="bg1"/>
                </a:solidFill>
                <a:latin typeface="Courier New" pitchFamily="34" charset="0"/>
                <a:ea typeface="Courier New" pitchFamily="34" charset="-122"/>
                <a:cs typeface="Courier New" pitchFamily="34" charset="-120"/>
              </a:rPr>
              <a:t> idx_sales_date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ON</a:t>
            </a:r>
            <a:pPr indent="0" marL="0">
              <a:buNone/>
            </a:pPr>
            <a:r>
              <a:rPr lang="en-US" sz="1300" dirty="0">
                <a:solidFill>
                  <a:schemeClr val="bg1"/>
                </a:solidFill>
                <a:latin typeface="Courier New" pitchFamily="34" charset="0"/>
                <a:ea typeface="Courier New" pitchFamily="34" charset="-122"/>
                <a:cs typeface="Courier New" pitchFamily="34" charset="-120"/>
              </a:rPr>
              <a:t> sales (sale_date);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CREATE TRIGGER</a:t>
            </a:r>
            <a:pPr indent="0" marL="0">
              <a:buNone/>
            </a:pPr>
            <a:r>
              <a:rPr lang="en-US" sz="1300" dirty="0">
                <a:solidFill>
                  <a:schemeClr val="bg1"/>
                </a:solidFill>
                <a:latin typeface="Courier New" pitchFamily="34" charset="0"/>
                <a:ea typeface="Courier New" pitchFamily="34" charset="-122"/>
                <a:cs typeface="Courier New" pitchFamily="34" charset="-120"/>
              </a:rPr>
              <a:t> trg_price_audit</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AFTER</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UPDATE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accent2"/>
                </a:solidFill>
                <a:latin typeface="Courier New" pitchFamily="34" charset="0"/>
                <a:ea typeface="Courier New" pitchFamily="34" charset="-122"/>
                <a:cs typeface="Courier New" pitchFamily="34" charset="-120"/>
              </a:rPr>
              <a:t>ON</a:t>
            </a:r>
            <a:pPr indent="0" marL="0">
              <a:buNone/>
            </a:pPr>
            <a:r>
              <a:rPr lang="en-US" sz="1300" dirty="0">
                <a:solidFill>
                  <a:schemeClr val="bg1"/>
                </a:solidFill>
                <a:latin typeface="Courier New" pitchFamily="34" charset="0"/>
                <a:ea typeface="Courier New" pitchFamily="34" charset="-122"/>
                <a:cs typeface="Courier New" pitchFamily="34" charset="-120"/>
              </a:rPr>
              <a:t> products</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FOR EACH ROW</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INSERT INTO</a:t>
            </a:r>
            <a:pPr indent="0" marL="0">
              <a:buNone/>
            </a:pPr>
            <a:r>
              <a:rPr lang="en-US" sz="1300" dirty="0">
                <a:solidFill>
                  <a:schemeClr val="bg1"/>
                </a:solidFill>
                <a:latin typeface="Courier New" pitchFamily="34" charset="0"/>
                <a:ea typeface="Courier New" pitchFamily="34" charset="-122"/>
                <a:cs typeface="Courier New" pitchFamily="34" charset="-120"/>
              </a:rPr>
              <a:t> audit_logs (action, details)</a:t>
            </a:r>
            <a:endParaRPr lang="en-US" sz="1300" dirty="0"/>
          </a:p>
          <a:p>
            <a:pPr indent="0" marL="0">
              <a:buNone/>
            </a:pPr>
            <a:r>
              <a:rPr lang="en-US" sz="1300" dirty="0">
                <a:solidFill>
                  <a:schemeClr val="accent2"/>
                </a:solidFill>
                <a:latin typeface="Courier New" pitchFamily="34" charset="0"/>
                <a:ea typeface="Courier New" pitchFamily="34" charset="-122"/>
                <a:cs typeface="Courier New" pitchFamily="34" charset="-120"/>
              </a:rPr>
              <a:t>VALUES</a:t>
            </a:r>
            <a:pPr indent="0" marL="0">
              <a:buNone/>
            </a:pPr>
            <a:r>
              <a:rPr lang="en-US" sz="1300" dirty="0">
                <a:solidFill>
                  <a:schemeClr val="bg1"/>
                </a:solidFill>
                <a:latin typeface="Courier New" pitchFamily="34" charset="0"/>
                <a:ea typeface="Courier New" pitchFamily="34" charset="-122"/>
                <a:cs typeface="Courier New" pitchFamily="34" charset="-120"/>
              </a:rPr>
              <a:t> ('PRICE_CHANGE', </a:t>
            </a:r>
            <a:pPr indent="0" marL="0">
              <a:buNone/>
            </a:pPr>
            <a:r>
              <a:rPr lang="en-US" sz="1300" dirty="0">
                <a:solidFill>
                  <a:schemeClr val="accent2"/>
                </a:solidFill>
                <a:latin typeface="Courier New" pitchFamily="34" charset="0"/>
                <a:ea typeface="Courier New" pitchFamily="34" charset="-122"/>
                <a:cs typeface="Courier New" pitchFamily="34" charset="-120"/>
              </a:rPr>
              <a:t>CONCAT</a:t>
            </a:r>
            <a:pPr indent="0" marL="0">
              <a:buNone/>
            </a:pPr>
            <a:r>
              <a:rPr lang="en-US" sz="1300" dirty="0">
                <a:solidFill>
                  <a:schemeClr val="bg1"/>
                </a:solidFill>
                <a:latin typeface="Courier New" pitchFamily="34" charset="0"/>
                <a:ea typeface="Courier New" pitchFamily="34" charset="-122"/>
                <a:cs typeface="Courier New" pitchFamily="34" charset="-120"/>
              </a:rPr>
              <a:t>(OLD.unit_price,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to ', NEW.unit_price));</a:t>
            </a:r>
            <a:endParaRPr lang="en-US" sz="1300" dirty="0"/>
          </a:p>
        </p:txBody>
      </p:sp>
      <p:sp>
        <p:nvSpPr>
          <p:cNvPr id="6" name="Card"/>
          <p:cNvSpPr/>
          <p:nvPr/>
        </p:nvSpPr>
        <p:spPr>
          <a:xfrm>
            <a:off x="7223760" y="1371600"/>
            <a:ext cx="4389120" cy="1508760"/>
          </a:xfrm>
          <a:prstGeom prst="roundRect">
            <a:avLst>
              <a:gd name="adj" fmla="val 7273"/>
            </a:avLst>
          </a:prstGeom>
          <a:solidFill>
            <a:schemeClr val="bg2"/>
          </a:solidFill>
          <a:ln w="6350">
            <a:solidFill>
              <a:schemeClr val="bg2"/>
            </a:solidFill>
            <a:prstDash val="solid"/>
          </a:ln>
        </p:spPr>
      </p:sp>
      <p:sp>
        <p:nvSpPr>
          <p:cNvPr id="7" name="Icon circle"/>
          <p:cNvSpPr/>
          <p:nvPr/>
        </p:nvSpPr>
        <p:spPr>
          <a:xfrm>
            <a:off x="7452360" y="1600200"/>
            <a:ext cx="594360" cy="594360"/>
          </a:xfrm>
          <a:prstGeom prst="ellipse">
            <a:avLst/>
          </a:prstGeom>
          <a:solidFill>
            <a:schemeClr val="accent1"/>
          </a:solidFill>
          <a:ln w="6350">
            <a:solidFill>
              <a:schemeClr val="accent1"/>
            </a:solidFill>
            <a:prstDash val="solid"/>
          </a:ln>
        </p:spPr>
      </p:sp>
      <p:pic>
        <p:nvPicPr>
          <p:cNvPr id="8" name="Icon" descr="icon">    </p:cNvPr>
          <p:cNvPicPr>
            <a:picLocks noChangeAspect="1"/>
          </p:cNvPicPr>
          <p:nvPr/>
        </p:nvPicPr>
        <p:blipFill>
          <a:blip r:embed="rId1"/>
          <a:stretch>
            <a:fillRect/>
          </a:stretch>
        </p:blipFill>
        <p:spPr>
          <a:xfrm>
            <a:off x="7606894" y="1754734"/>
            <a:ext cx="285293" cy="285293"/>
          </a:xfrm>
          <a:prstGeom prst="rect">
            <a:avLst/>
          </a:prstGeom>
        </p:spPr>
      </p:pic>
      <p:sp>
        <p:nvSpPr>
          <p:cNvPr id="9" name="Text 6"/>
          <p:cNvSpPr txBox="1"/>
          <p:nvPr/>
        </p:nvSpPr>
        <p:spPr>
          <a:xfrm>
            <a:off x="8275320" y="1554480"/>
            <a:ext cx="3108960" cy="365760"/>
          </a:xfrm>
          <a:prstGeom prst="rect">
            <a:avLst/>
          </a:prstGeom>
          <a:noFill/>
          <a:ln/>
        </p:spPr>
        <p:txBody>
          <a:bodyPr wrap="square" lIns="0" tIns="0" rIns="0" bIns="0" rtlCol="0" anchor="t"/>
          <a:lstStyle/>
          <a:p>
            <a:pPr indent="0" marL="0">
              <a:buNone/>
            </a:pPr>
            <a:r>
              <a:rPr lang="en-US" sz="1800" b="1" dirty="0">
                <a:solidFill>
                  <a:schemeClr val="tx2"/>
                </a:solidFill>
              </a:rPr>
              <a:t>View</a:t>
            </a:r>
            <a:endParaRPr lang="en-US" sz="1800" dirty="0"/>
          </a:p>
        </p:txBody>
      </p:sp>
      <p:sp>
        <p:nvSpPr>
          <p:cNvPr id="10" name="Text 7"/>
          <p:cNvSpPr txBox="1"/>
          <p:nvPr/>
        </p:nvSpPr>
        <p:spPr>
          <a:xfrm>
            <a:off x="8275320" y="1965960"/>
            <a:ext cx="3108960" cy="822960"/>
          </a:xfrm>
          <a:prstGeom prst="rect">
            <a:avLst/>
          </a:prstGeom>
          <a:noFill/>
          <a:ln/>
        </p:spPr>
        <p:txBody>
          <a:bodyPr wrap="square" lIns="0" tIns="0" rIns="0" bIns="0" rtlCol="0" anchor="t"/>
          <a:lstStyle/>
          <a:p>
            <a:pPr indent="0" marL="0">
              <a:buNone/>
            </a:pPr>
            <a:r>
              <a:rPr lang="en-US" sz="1400" dirty="0">
                <a:solidFill>
                  <a:schemeClr val="tx1"/>
                </a:solidFill>
              </a:rPr>
              <a:t>A saved query. The low-stock list is one simple SELECT.</a:t>
            </a:r>
            <a:endParaRPr lang="en-US" sz="1400" dirty="0"/>
          </a:p>
        </p:txBody>
      </p:sp>
      <p:sp>
        <p:nvSpPr>
          <p:cNvPr id="11" name="Card"/>
          <p:cNvSpPr/>
          <p:nvPr/>
        </p:nvSpPr>
        <p:spPr>
          <a:xfrm>
            <a:off x="7223760" y="3017520"/>
            <a:ext cx="4389120" cy="1508760"/>
          </a:xfrm>
          <a:prstGeom prst="roundRect">
            <a:avLst>
              <a:gd name="adj" fmla="val 7273"/>
            </a:avLst>
          </a:prstGeom>
          <a:solidFill>
            <a:schemeClr val="bg2"/>
          </a:solidFill>
          <a:ln w="6350">
            <a:solidFill>
              <a:schemeClr val="bg2"/>
            </a:solidFill>
            <a:prstDash val="solid"/>
          </a:ln>
        </p:spPr>
      </p:sp>
      <p:sp>
        <p:nvSpPr>
          <p:cNvPr id="12" name="Icon circle"/>
          <p:cNvSpPr/>
          <p:nvPr/>
        </p:nvSpPr>
        <p:spPr>
          <a:xfrm>
            <a:off x="7452360" y="3246120"/>
            <a:ext cx="594360" cy="594360"/>
          </a:xfrm>
          <a:prstGeom prst="ellipse">
            <a:avLst/>
          </a:prstGeom>
          <a:solidFill>
            <a:schemeClr val="accent5"/>
          </a:solidFill>
          <a:ln w="6350">
            <a:solidFill>
              <a:schemeClr val="accent5"/>
            </a:solidFill>
            <a:prstDash val="solid"/>
          </a:ln>
        </p:spPr>
      </p:sp>
      <p:pic>
        <p:nvPicPr>
          <p:cNvPr id="13" name="Icon" descr="icon">    </p:cNvPr>
          <p:cNvPicPr>
            <a:picLocks noChangeAspect="1"/>
          </p:cNvPicPr>
          <p:nvPr/>
        </p:nvPicPr>
        <p:blipFill>
          <a:blip r:embed="rId2"/>
          <a:stretch>
            <a:fillRect/>
          </a:stretch>
        </p:blipFill>
        <p:spPr>
          <a:xfrm>
            <a:off x="7606894" y="3400654"/>
            <a:ext cx="285293" cy="285293"/>
          </a:xfrm>
          <a:prstGeom prst="rect">
            <a:avLst/>
          </a:prstGeom>
        </p:spPr>
      </p:pic>
      <p:sp>
        <p:nvSpPr>
          <p:cNvPr id="14" name="Text 10"/>
          <p:cNvSpPr txBox="1"/>
          <p:nvPr/>
        </p:nvSpPr>
        <p:spPr>
          <a:xfrm>
            <a:off x="8275320" y="3200400"/>
            <a:ext cx="3108960" cy="365760"/>
          </a:xfrm>
          <a:prstGeom prst="rect">
            <a:avLst/>
          </a:prstGeom>
          <a:noFill/>
          <a:ln/>
        </p:spPr>
        <p:txBody>
          <a:bodyPr wrap="square" lIns="0" tIns="0" rIns="0" bIns="0" rtlCol="0" anchor="t"/>
          <a:lstStyle/>
          <a:p>
            <a:pPr indent="0" marL="0">
              <a:buNone/>
            </a:pPr>
            <a:r>
              <a:rPr lang="en-US" sz="1800" b="1" dirty="0">
                <a:solidFill>
                  <a:schemeClr val="tx2"/>
                </a:solidFill>
              </a:rPr>
              <a:t>Index</a:t>
            </a:r>
            <a:endParaRPr lang="en-US" sz="1800" dirty="0"/>
          </a:p>
        </p:txBody>
      </p:sp>
      <p:sp>
        <p:nvSpPr>
          <p:cNvPr id="15" name="Text 11"/>
          <p:cNvSpPr txBox="1"/>
          <p:nvPr/>
        </p:nvSpPr>
        <p:spPr>
          <a:xfrm>
            <a:off x="8275320" y="3611880"/>
            <a:ext cx="3108960" cy="822960"/>
          </a:xfrm>
          <a:prstGeom prst="rect">
            <a:avLst/>
          </a:prstGeom>
          <a:noFill/>
          <a:ln/>
        </p:spPr>
        <p:txBody>
          <a:bodyPr wrap="square" lIns="0" tIns="0" rIns="0" bIns="0" rtlCol="0" anchor="t"/>
          <a:lstStyle/>
          <a:p>
            <a:pPr indent="0" marL="0">
              <a:buNone/>
            </a:pPr>
            <a:r>
              <a:rPr lang="en-US" sz="1400" dirty="0">
                <a:solidFill>
                  <a:schemeClr val="tx1"/>
                </a:solidFill>
              </a:rPr>
              <a:t>Speeds up searches and date-range reports as data grows.</a:t>
            </a:r>
            <a:endParaRPr lang="en-US" sz="1400" dirty="0"/>
          </a:p>
        </p:txBody>
      </p:sp>
      <p:sp>
        <p:nvSpPr>
          <p:cNvPr id="16" name="Card"/>
          <p:cNvSpPr/>
          <p:nvPr/>
        </p:nvSpPr>
        <p:spPr>
          <a:xfrm>
            <a:off x="7223760" y="4663440"/>
            <a:ext cx="4389120" cy="1508760"/>
          </a:xfrm>
          <a:prstGeom prst="roundRect">
            <a:avLst>
              <a:gd name="adj" fmla="val 7273"/>
            </a:avLst>
          </a:prstGeom>
          <a:solidFill>
            <a:schemeClr val="bg2"/>
          </a:solidFill>
          <a:ln w="6350">
            <a:solidFill>
              <a:schemeClr val="bg2"/>
            </a:solidFill>
            <a:prstDash val="solid"/>
          </a:ln>
        </p:spPr>
      </p:sp>
      <p:sp>
        <p:nvSpPr>
          <p:cNvPr id="17" name="Icon circle"/>
          <p:cNvSpPr/>
          <p:nvPr/>
        </p:nvSpPr>
        <p:spPr>
          <a:xfrm>
            <a:off x="7452360" y="4892040"/>
            <a:ext cx="594360" cy="594360"/>
          </a:xfrm>
          <a:prstGeom prst="ellipse">
            <a:avLst/>
          </a:prstGeom>
          <a:solidFill>
            <a:schemeClr val="accent3"/>
          </a:solidFill>
          <a:ln w="6350">
            <a:solidFill>
              <a:schemeClr val="accent3"/>
            </a:solidFill>
            <a:prstDash val="solid"/>
          </a:ln>
        </p:spPr>
      </p:sp>
      <p:pic>
        <p:nvPicPr>
          <p:cNvPr id="18" name="Icon" descr="icon">    </p:cNvPr>
          <p:cNvPicPr>
            <a:picLocks noChangeAspect="1"/>
          </p:cNvPicPr>
          <p:nvPr/>
        </p:nvPicPr>
        <p:blipFill>
          <a:blip r:embed="rId3"/>
          <a:stretch>
            <a:fillRect/>
          </a:stretch>
        </p:blipFill>
        <p:spPr>
          <a:xfrm>
            <a:off x="7606894" y="5046574"/>
            <a:ext cx="285293" cy="285293"/>
          </a:xfrm>
          <a:prstGeom prst="rect">
            <a:avLst/>
          </a:prstGeom>
        </p:spPr>
      </p:pic>
      <p:sp>
        <p:nvSpPr>
          <p:cNvPr id="19" name="Text 14"/>
          <p:cNvSpPr txBox="1"/>
          <p:nvPr/>
        </p:nvSpPr>
        <p:spPr>
          <a:xfrm>
            <a:off x="8275320" y="4846320"/>
            <a:ext cx="3108960" cy="365760"/>
          </a:xfrm>
          <a:prstGeom prst="rect">
            <a:avLst/>
          </a:prstGeom>
          <a:noFill/>
          <a:ln/>
        </p:spPr>
        <p:txBody>
          <a:bodyPr wrap="square" lIns="0" tIns="0" rIns="0" bIns="0" rtlCol="0" anchor="t"/>
          <a:lstStyle/>
          <a:p>
            <a:pPr indent="0" marL="0">
              <a:buNone/>
            </a:pPr>
            <a:r>
              <a:rPr lang="en-US" sz="1800" b="1" dirty="0">
                <a:solidFill>
                  <a:schemeClr val="tx2"/>
                </a:solidFill>
              </a:rPr>
              <a:t>Trigger</a:t>
            </a:r>
            <a:endParaRPr lang="en-US" sz="1800" dirty="0"/>
          </a:p>
        </p:txBody>
      </p:sp>
      <p:sp>
        <p:nvSpPr>
          <p:cNvPr id="20" name="Text 15"/>
          <p:cNvSpPr txBox="1"/>
          <p:nvPr/>
        </p:nvSpPr>
        <p:spPr>
          <a:xfrm>
            <a:off x="8275320" y="5257800"/>
            <a:ext cx="3108960" cy="822960"/>
          </a:xfrm>
          <a:prstGeom prst="rect">
            <a:avLst/>
          </a:prstGeom>
          <a:noFill/>
          <a:ln/>
        </p:spPr>
        <p:txBody>
          <a:bodyPr wrap="square" lIns="0" tIns="0" rIns="0" bIns="0" rtlCol="0" anchor="t"/>
          <a:lstStyle/>
          <a:p>
            <a:pPr indent="0" marL="0">
              <a:buNone/>
            </a:pPr>
            <a:r>
              <a:rPr lang="en-US" sz="1400" dirty="0">
                <a:solidFill>
                  <a:schemeClr val="tx1"/>
                </a:solidFill>
              </a:rPr>
              <a:t>Runs automatically, e.g. logs every price change to audit_logs.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Security and Role-Based Access</a:t>
            </a:r>
            <a:endParaRPr lang="en-US" sz="3600" dirty="0"/>
          </a:p>
        </p:txBody>
      </p:sp>
      <p:graphicFrame>
        <p:nvGraphicFramePr>
          <p:cNvPr id="10" name="Role matrix"/>
          <p:cNvGraphicFramePr>
            <a:graphicFrameLocks noGrp="1"/>
          </p:cNvGraphicFramePr>
          <p:nvPr>
            <p:extLst>
              <p:ext uri="{D42A27DB-BD31-4B8C-83A1-F6EECF244321}">
                <p14:modId xmlns:p14="http://schemas.microsoft.com/office/powerpoint/2010/main" val="1579011935"/>
              </p:ext>
            </p:extLst>
          </p:nvPr>
        </p:nvGraphicFramePr>
        <p:xfrm>
          <a:off x="548640" y="1371600"/>
          <a:ext cx="7132320" cy="914400"/>
        </p:xfrm>
        <a:graphic>
          <a:graphicData uri="http://schemas.openxmlformats.org/drawingml/2006/table">
            <a:tbl>
              <a:tblPr/>
              <a:tblGrid>
                <a:gridCol w="3108960"/>
                <a:gridCol w="1097280"/>
                <a:gridCol w="1188720"/>
                <a:gridCol w="1737360"/>
              </a:tblGrid>
              <a:tr h="502920">
                <a:tc>
                  <a:txBody>
                    <a:bodyPr/>
                    <a:lstStyle/>
                    <a:p>
                      <a:pPr algn="l" indent="0" marL="0">
                        <a:buNone/>
                      </a:pPr>
                      <a:r>
                        <a:rPr lang="en-US" sz="1400" b="1" dirty="0">
                          <a:solidFill>
                            <a:schemeClr val="bg1"/>
                          </a:solidFill>
                        </a:rPr>
                        <a:t>Function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Admin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Cashier</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Inventory Mgr</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algn="l" indent="0" marL="0">
                        <a:buNone/>
                      </a:pPr>
                      <a:r>
                        <a:rPr lang="en-US" sz="1400" b="1" dirty="0">
                          <a:solidFill>
                            <a:schemeClr val="accent1"/>
                          </a:solidFill>
                        </a:rPr>
                        <a:t>Manage users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accent3"/>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accent4"/>
                          </a:solidFill>
                        </a:rPr>
                        <a:t>No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accent4"/>
                          </a:solidFill>
                        </a:rPr>
                        <a:t>No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algn="l" indent="0" marL="0">
                        <a:buNone/>
                      </a:pPr>
                      <a:r>
                        <a:rPr lang="en-US" sz="1400" b="1" dirty="0">
                          <a:solidFill>
                            <a:schemeClr val="accent1"/>
                          </a:solidFill>
                        </a:rPr>
                        <a:t>Manage products and suppliers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accent3"/>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accent4"/>
                          </a:solidFill>
                        </a:rPr>
                        <a:t>No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accent5"/>
                          </a:solidFill>
                        </a:rPr>
                        <a:t>View</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algn="l" indent="0" marL="0">
                        <a:buNone/>
                      </a:pPr>
                      <a:r>
                        <a:rPr lang="en-US" sz="1400" b="1" dirty="0">
                          <a:solidFill>
                            <a:schemeClr val="accent1"/>
                          </a:solidFill>
                        </a:rPr>
                        <a:t>Process sales and receipts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accent3"/>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accent3"/>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accent4"/>
                          </a:solidFill>
                        </a:rPr>
                        <a:t>No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algn="l" indent="0" marL="0">
                        <a:buNone/>
                      </a:pPr>
                      <a:r>
                        <a:rPr lang="en-US" sz="1400" b="1" dirty="0">
                          <a:solidFill>
                            <a:schemeClr val="accent1"/>
                          </a:solidFill>
                        </a:rPr>
                        <a:t>Record purchases / receive stock</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accent3"/>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accent4"/>
                          </a:solidFill>
                        </a:rPr>
                        <a:t>No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accent3"/>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algn="l" indent="0" marL="0">
                        <a:buNone/>
                      </a:pPr>
                      <a:r>
                        <a:rPr lang="en-US" sz="1400" b="1" dirty="0">
                          <a:solidFill>
                            <a:schemeClr val="accent1"/>
                          </a:solidFill>
                        </a:rPr>
                        <a:t>Stock adjustments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accent3"/>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accent4"/>
                          </a:solidFill>
                        </a:rPr>
                        <a:t>No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accent3"/>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algn="l" indent="0" marL="0">
                        <a:buNone/>
                      </a:pPr>
                      <a:r>
                        <a:rPr lang="en-US" sz="1400" b="1" dirty="0">
                          <a:solidFill>
                            <a:schemeClr val="accent1"/>
                          </a:solidFill>
                        </a:rPr>
                        <a:t>View reports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accent3"/>
                          </a:solidFill>
                        </a:rPr>
                        <a:t>Yes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accent4"/>
                          </a:solidFill>
                        </a:rPr>
                        <a:t>No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accent5"/>
                          </a:solidFill>
                        </a:rPr>
                        <a:t>Stock only</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Card"/>
          <p:cNvSpPr/>
          <p:nvPr/>
        </p:nvSpPr>
        <p:spPr>
          <a:xfrm>
            <a:off x="8046720" y="1371600"/>
            <a:ext cx="3566160" cy="1143000"/>
          </a:xfrm>
          <a:prstGeom prst="roundRect">
            <a:avLst>
              <a:gd name="adj" fmla="val 9600"/>
            </a:avLst>
          </a:prstGeom>
          <a:solidFill>
            <a:schemeClr val="bg2"/>
          </a:solidFill>
          <a:ln w="6350">
            <a:solidFill>
              <a:schemeClr val="bg2"/>
            </a:solidFill>
            <a:prstDash val="solid"/>
          </a:ln>
        </p:spPr>
      </p:sp>
      <p:sp>
        <p:nvSpPr>
          <p:cNvPr id="5" name="Icon circle"/>
          <p:cNvSpPr/>
          <p:nvPr/>
        </p:nvSpPr>
        <p:spPr>
          <a:xfrm>
            <a:off x="8229600" y="1673352"/>
            <a:ext cx="548640" cy="548640"/>
          </a:xfrm>
          <a:prstGeom prst="ellipse">
            <a:avLst/>
          </a:prstGeom>
          <a:solidFill>
            <a:schemeClr val="accent1"/>
          </a:solidFill>
          <a:ln w="6350">
            <a:solidFill>
              <a:schemeClr val="accent1"/>
            </a:solidFill>
            <a:prstDash val="solid"/>
          </a:ln>
        </p:spPr>
      </p:sp>
      <p:pic>
        <p:nvPicPr>
          <p:cNvPr id="6" name="Icon" descr="icon">    </p:cNvPr>
          <p:cNvPicPr>
            <a:picLocks noChangeAspect="1"/>
          </p:cNvPicPr>
          <p:nvPr/>
        </p:nvPicPr>
        <p:blipFill>
          <a:blip r:embed="rId1"/>
          <a:stretch>
            <a:fillRect/>
          </a:stretch>
        </p:blipFill>
        <p:spPr>
          <a:xfrm>
            <a:off x="8372246" y="1815998"/>
            <a:ext cx="263347" cy="263347"/>
          </a:xfrm>
          <a:prstGeom prst="rect">
            <a:avLst/>
          </a:prstGeom>
        </p:spPr>
      </p:pic>
      <p:sp>
        <p:nvSpPr>
          <p:cNvPr id="7" name="Text 3"/>
          <p:cNvSpPr txBox="1"/>
          <p:nvPr/>
        </p:nvSpPr>
        <p:spPr>
          <a:xfrm>
            <a:off x="8961120" y="1481328"/>
            <a:ext cx="2560320" cy="320040"/>
          </a:xfrm>
          <a:prstGeom prst="rect">
            <a:avLst/>
          </a:prstGeom>
          <a:noFill/>
          <a:ln/>
        </p:spPr>
        <p:txBody>
          <a:bodyPr wrap="square" lIns="0" tIns="0" rIns="0" bIns="0" rtlCol="0" anchor="ctr"/>
          <a:lstStyle/>
          <a:p>
            <a:pPr indent="0" marL="0">
              <a:buNone/>
            </a:pPr>
            <a:r>
              <a:rPr lang="en-US" sz="1400" b="1" dirty="0">
                <a:solidFill>
                  <a:schemeClr val="tx2"/>
                </a:solidFill>
              </a:rPr>
              <a:t>Backend permission checks</a:t>
            </a:r>
            <a:endParaRPr lang="en-US" sz="1400" dirty="0"/>
          </a:p>
        </p:txBody>
      </p:sp>
      <p:sp>
        <p:nvSpPr>
          <p:cNvPr id="8" name="Text 4"/>
          <p:cNvSpPr txBox="1"/>
          <p:nvPr/>
        </p:nvSpPr>
        <p:spPr>
          <a:xfrm>
            <a:off x="8961120" y="1847088"/>
            <a:ext cx="2560320" cy="594360"/>
          </a:xfrm>
          <a:prstGeom prst="rect">
            <a:avLst/>
          </a:prstGeom>
          <a:noFill/>
          <a:ln/>
        </p:spPr>
        <p:txBody>
          <a:bodyPr wrap="square" lIns="0" tIns="0" rIns="0" bIns="0" rtlCol="0" anchor="t"/>
          <a:lstStyle/>
          <a:p>
            <a:pPr indent="0" marL="0">
              <a:buNone/>
            </a:pPr>
            <a:r>
              <a:rPr lang="en-US" sz="1300" dirty="0">
                <a:solidFill>
                  <a:schemeClr val="tx1"/>
                </a:solidFill>
              </a:rPr>
              <a:t>Roles are enforced in the API, not just hidden in the UI.</a:t>
            </a:r>
            <a:endParaRPr lang="en-US" sz="1300" dirty="0"/>
          </a:p>
        </p:txBody>
      </p:sp>
      <p:sp>
        <p:nvSpPr>
          <p:cNvPr id="9" name="Card"/>
          <p:cNvSpPr/>
          <p:nvPr/>
        </p:nvSpPr>
        <p:spPr>
          <a:xfrm>
            <a:off x="8046720" y="2651760"/>
            <a:ext cx="3566160" cy="1143000"/>
          </a:xfrm>
          <a:prstGeom prst="roundRect">
            <a:avLst>
              <a:gd name="adj" fmla="val 9600"/>
            </a:avLst>
          </a:prstGeom>
          <a:solidFill>
            <a:schemeClr val="bg2"/>
          </a:solidFill>
          <a:ln w="6350">
            <a:solidFill>
              <a:schemeClr val="bg2"/>
            </a:solidFill>
            <a:prstDash val="solid"/>
          </a:ln>
        </p:spPr>
      </p:sp>
      <p:sp>
        <p:nvSpPr>
          <p:cNvPr id="10" name="Icon circle"/>
          <p:cNvSpPr/>
          <p:nvPr/>
        </p:nvSpPr>
        <p:spPr>
          <a:xfrm>
            <a:off x="8229600" y="2953512"/>
            <a:ext cx="548640" cy="548640"/>
          </a:xfrm>
          <a:prstGeom prst="ellipse">
            <a:avLst/>
          </a:prstGeom>
          <a:solidFill>
            <a:schemeClr val="accent5"/>
          </a:solidFill>
          <a:ln w="6350">
            <a:solidFill>
              <a:schemeClr val="accent5"/>
            </a:solidFill>
            <a:prstDash val="solid"/>
          </a:ln>
        </p:spPr>
      </p:sp>
      <p:pic>
        <p:nvPicPr>
          <p:cNvPr id="11" name="Icon" descr="icon">    </p:cNvPr>
          <p:cNvPicPr>
            <a:picLocks noChangeAspect="1"/>
          </p:cNvPicPr>
          <p:nvPr/>
        </p:nvPicPr>
        <p:blipFill>
          <a:blip r:embed="rId2"/>
          <a:stretch>
            <a:fillRect/>
          </a:stretch>
        </p:blipFill>
        <p:spPr>
          <a:xfrm>
            <a:off x="8372246" y="3096158"/>
            <a:ext cx="263347" cy="263347"/>
          </a:xfrm>
          <a:prstGeom prst="rect">
            <a:avLst/>
          </a:prstGeom>
        </p:spPr>
      </p:pic>
      <p:sp>
        <p:nvSpPr>
          <p:cNvPr id="12" name="Text 7"/>
          <p:cNvSpPr txBox="1"/>
          <p:nvPr/>
        </p:nvSpPr>
        <p:spPr>
          <a:xfrm>
            <a:off x="8961120" y="2761488"/>
            <a:ext cx="2560320" cy="320040"/>
          </a:xfrm>
          <a:prstGeom prst="rect">
            <a:avLst/>
          </a:prstGeom>
          <a:noFill/>
          <a:ln/>
        </p:spPr>
        <p:txBody>
          <a:bodyPr wrap="square" lIns="0" tIns="0" rIns="0" bIns="0" rtlCol="0" anchor="ctr"/>
          <a:lstStyle/>
          <a:p>
            <a:pPr indent="0" marL="0">
              <a:buNone/>
            </a:pPr>
            <a:r>
              <a:rPr lang="en-US" sz="1400" b="1" dirty="0">
                <a:solidFill>
                  <a:schemeClr val="tx2"/>
                </a:solidFill>
              </a:rPr>
              <a:t>Hashed passwords</a:t>
            </a:r>
            <a:endParaRPr lang="en-US" sz="1400" dirty="0"/>
          </a:p>
        </p:txBody>
      </p:sp>
      <p:sp>
        <p:nvSpPr>
          <p:cNvPr id="13" name="Text 8"/>
          <p:cNvSpPr txBox="1"/>
          <p:nvPr/>
        </p:nvSpPr>
        <p:spPr>
          <a:xfrm>
            <a:off x="8961120" y="3127248"/>
            <a:ext cx="2560320" cy="594360"/>
          </a:xfrm>
          <a:prstGeom prst="rect">
            <a:avLst/>
          </a:prstGeom>
          <a:noFill/>
          <a:ln/>
        </p:spPr>
        <p:txBody>
          <a:bodyPr wrap="square" lIns="0" tIns="0" rIns="0" bIns="0" rtlCol="0" anchor="t"/>
          <a:lstStyle/>
          <a:p>
            <a:pPr indent="0" marL="0">
              <a:buNone/>
            </a:pPr>
            <a:r>
              <a:rPr lang="en-US" sz="1300" dirty="0">
                <a:solidFill>
                  <a:schemeClr val="tx1"/>
                </a:solidFill>
              </a:rPr>
              <a:t>Passwords are stored as hashes, never as plain text.</a:t>
            </a:r>
            <a:endParaRPr lang="en-US" sz="1300" dirty="0"/>
          </a:p>
        </p:txBody>
      </p:sp>
      <p:sp>
        <p:nvSpPr>
          <p:cNvPr id="14" name="Card"/>
          <p:cNvSpPr/>
          <p:nvPr/>
        </p:nvSpPr>
        <p:spPr>
          <a:xfrm>
            <a:off x="8046720" y="3931920"/>
            <a:ext cx="3566160" cy="1143000"/>
          </a:xfrm>
          <a:prstGeom prst="roundRect">
            <a:avLst>
              <a:gd name="adj" fmla="val 9600"/>
            </a:avLst>
          </a:prstGeom>
          <a:solidFill>
            <a:schemeClr val="bg2"/>
          </a:solidFill>
          <a:ln w="6350">
            <a:solidFill>
              <a:schemeClr val="bg2"/>
            </a:solidFill>
            <a:prstDash val="solid"/>
          </a:ln>
        </p:spPr>
      </p:sp>
      <p:sp>
        <p:nvSpPr>
          <p:cNvPr id="15" name="Icon circle"/>
          <p:cNvSpPr/>
          <p:nvPr/>
        </p:nvSpPr>
        <p:spPr>
          <a:xfrm>
            <a:off x="8229600" y="4233672"/>
            <a:ext cx="548640" cy="548640"/>
          </a:xfrm>
          <a:prstGeom prst="ellipse">
            <a:avLst/>
          </a:prstGeom>
          <a:solidFill>
            <a:schemeClr val="accent3"/>
          </a:solidFill>
          <a:ln w="6350">
            <a:solidFill>
              <a:schemeClr val="accent3"/>
            </a:solidFill>
            <a:prstDash val="solid"/>
          </a:ln>
        </p:spPr>
      </p:sp>
      <p:pic>
        <p:nvPicPr>
          <p:cNvPr id="16" name="Icon" descr="icon">    </p:cNvPr>
          <p:cNvPicPr>
            <a:picLocks noChangeAspect="1"/>
          </p:cNvPicPr>
          <p:nvPr/>
        </p:nvPicPr>
        <p:blipFill>
          <a:blip r:embed="rId3"/>
          <a:stretch>
            <a:fillRect/>
          </a:stretch>
        </p:blipFill>
        <p:spPr>
          <a:xfrm>
            <a:off x="8372246" y="4376318"/>
            <a:ext cx="263347" cy="263347"/>
          </a:xfrm>
          <a:prstGeom prst="rect">
            <a:avLst/>
          </a:prstGeom>
        </p:spPr>
      </p:pic>
      <p:sp>
        <p:nvSpPr>
          <p:cNvPr id="17" name="Text 11"/>
          <p:cNvSpPr txBox="1"/>
          <p:nvPr/>
        </p:nvSpPr>
        <p:spPr>
          <a:xfrm>
            <a:off x="8961120" y="4041648"/>
            <a:ext cx="2560320" cy="320040"/>
          </a:xfrm>
          <a:prstGeom prst="rect">
            <a:avLst/>
          </a:prstGeom>
          <a:noFill/>
          <a:ln/>
        </p:spPr>
        <p:txBody>
          <a:bodyPr wrap="square" lIns="0" tIns="0" rIns="0" bIns="0" rtlCol="0" anchor="ctr"/>
          <a:lstStyle/>
          <a:p>
            <a:pPr indent="0" marL="0">
              <a:buNone/>
            </a:pPr>
            <a:r>
              <a:rPr lang="en-US" sz="1400" b="1" dirty="0">
                <a:solidFill>
                  <a:schemeClr val="tx2"/>
                </a:solidFill>
              </a:rPr>
              <a:t>Least-privilege DB user</a:t>
            </a:r>
            <a:endParaRPr lang="en-US" sz="1400" dirty="0"/>
          </a:p>
        </p:txBody>
      </p:sp>
      <p:sp>
        <p:nvSpPr>
          <p:cNvPr id="18" name="Text 12"/>
          <p:cNvSpPr txBox="1"/>
          <p:nvPr/>
        </p:nvSpPr>
        <p:spPr>
          <a:xfrm>
            <a:off x="8961120" y="4407408"/>
            <a:ext cx="2560320" cy="594360"/>
          </a:xfrm>
          <a:prstGeom prst="rect">
            <a:avLst/>
          </a:prstGeom>
          <a:noFill/>
          <a:ln/>
        </p:spPr>
        <p:txBody>
          <a:bodyPr wrap="square" lIns="0" tIns="0" rIns="0" bIns="0" rtlCol="0" anchor="t"/>
          <a:lstStyle/>
          <a:p>
            <a:pPr indent="0" marL="0">
              <a:buNone/>
            </a:pPr>
            <a:r>
              <a:rPr lang="en-US" sz="1300" dirty="0">
                <a:solidFill>
                  <a:schemeClr val="tx1"/>
                </a:solidFill>
              </a:rPr>
              <a:t>The app connects with only the MySQL rights it needs.</a:t>
            </a:r>
            <a:endParaRPr lang="en-US" sz="1300" dirty="0"/>
          </a:p>
        </p:txBody>
      </p:sp>
      <p:sp>
        <p:nvSpPr>
          <p:cNvPr id="19" name="Banner"/>
          <p:cNvSpPr/>
          <p:nvPr/>
        </p:nvSpPr>
        <p:spPr>
          <a:xfrm>
            <a:off x="548640" y="5394960"/>
            <a:ext cx="11064240" cy="822960"/>
          </a:xfrm>
          <a:prstGeom prst="roundRect">
            <a:avLst>
              <a:gd name="adj" fmla="val 13333"/>
            </a:avLst>
          </a:prstGeom>
          <a:solidFill>
            <a:schemeClr val="tx2"/>
          </a:solidFill>
          <a:ln w="6350">
            <a:solidFill>
              <a:schemeClr val="tx2"/>
            </a:solidFill>
            <a:prstDash val="solid"/>
          </a:ln>
        </p:spPr>
      </p:sp>
      <p:sp>
        <p:nvSpPr>
          <p:cNvPr id="20" name="Text 14"/>
          <p:cNvSpPr txBox="1"/>
          <p:nvPr/>
        </p:nvSpPr>
        <p:spPr>
          <a:xfrm>
            <a:off x="868680" y="5394960"/>
            <a:ext cx="10424160" cy="822960"/>
          </a:xfrm>
          <a:prstGeom prst="rect">
            <a:avLst/>
          </a:prstGeom>
          <a:noFill/>
          <a:ln/>
        </p:spPr>
        <p:txBody>
          <a:bodyPr wrap="square" lIns="0" tIns="0" rIns="0" bIns="0" rtlCol="0" anchor="ctr"/>
          <a:lstStyle/>
          <a:p>
            <a:pPr indent="0" marL="0">
              <a:buNone/>
            </a:pPr>
            <a:r>
              <a:rPr lang="en-US" sz="1600" b="1" dirty="0">
                <a:solidFill>
                  <a:schemeClr val="accent2"/>
                </a:solidFill>
              </a:rPr>
              <a:t>Audit trail: </a:t>
            </a:r>
            <a:pPr indent="0" marL="0">
              <a:buNone/>
            </a:pPr>
            <a:r>
              <a:rPr lang="en-US" sz="1600" dirty="0">
                <a:solidFill>
                  <a:schemeClr val="bg1"/>
                </a:solidFill>
              </a:rPr>
              <a:t>important actions are recorded in audit_logs, so changes can be traced to a user.</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REST API Design</a:t>
            </a:r>
            <a:endParaRPr lang="en-US" sz="3600" dirty="0"/>
          </a:p>
        </p:txBody>
      </p:sp>
      <p:graphicFrame>
        <p:nvGraphicFramePr>
          <p:cNvPr id="11" name="API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743200"/>
                <a:gridCol w="1554480"/>
                <a:gridCol w="2651760"/>
                <a:gridCol w="4114800"/>
              </a:tblGrid>
              <a:tr h="457200">
                <a:tc>
                  <a:txBody>
                    <a:bodyPr/>
                    <a:lstStyle/>
                    <a:p>
                      <a:pPr algn="l" indent="0" marL="0">
                        <a:buNone/>
                      </a:pPr>
                      <a:r>
                        <a:rPr lang="en-US" sz="1400" b="1" dirty="0">
                          <a:solidFill>
                            <a:schemeClr val="bg1"/>
                          </a:solidFill>
                        </a:rPr>
                        <a:t>Endpoint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Method</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Allowed role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Purpose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algn="l" indent="0" marL="0">
                        <a:buNone/>
                      </a:pPr>
                      <a:r>
                        <a:rPr lang="en-US" sz="1400" b="1" dirty="0">
                          <a:solidFill>
                            <a:schemeClr val="accent1"/>
                          </a:solidFill>
                        </a:rPr>
                        <a:t>/api/auth/login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POST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All users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Verify credentials and start a session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b="1" dirty="0">
                          <a:solidFill>
                            <a:schemeClr val="accent1"/>
                          </a:solidFill>
                        </a:rPr>
                        <a:t>/api/products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GET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All roles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Search and list products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b="1" dirty="0">
                          <a:solidFill>
                            <a:schemeClr val="accent1"/>
                          </a:solidFill>
                        </a:rPr>
                        <a:t>/api/products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POST / PUT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Admin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Add or edit products and prices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b="1" dirty="0">
                          <a:solidFill>
                            <a:schemeClr val="accent1"/>
                          </a:solidFill>
                        </a:rPr>
                        <a:t>/api/sales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POST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Cashier</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Create a sale in one transaction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b="1" dirty="0">
                          <a:solidFill>
                            <a:schemeClr val="accent1"/>
                          </a:solidFill>
                        </a:rPr>
                        <a:t>/api/purchases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POST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Admin, Inventory Mgr</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Record goods received, increase stock</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l" indent="0" marL="0">
                        <a:buNone/>
                      </a:pPr>
                      <a:r>
                        <a:rPr lang="en-US" sz="1400" b="1" dirty="0">
                          <a:solidFill>
                            <a:schemeClr val="accent1"/>
                          </a:solidFill>
                        </a:rPr>
                        <a:t>/api/stock/adjust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POST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Inventory Mgr</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Log a manual stock adjustment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l" indent="0" marL="0">
                        <a:buNone/>
                      </a:pPr>
                      <a:r>
                        <a:rPr lang="en-US" sz="1400" b="1" dirty="0">
                          <a:solidFill>
                            <a:schemeClr val="accent1"/>
                          </a:solidFill>
                        </a:rPr>
                        <a:t>/api/reports/*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GET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Admin</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Sales, best-sellers and low-stock reports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Chip"/>
          <p:cNvSpPr/>
          <p:nvPr/>
        </p:nvSpPr>
        <p:spPr>
          <a:xfrm>
            <a:off x="548640" y="5623560"/>
            <a:ext cx="2423160" cy="640080"/>
          </a:xfrm>
          <a:prstGeom prst="roundRect">
            <a:avLst>
              <a:gd name="adj" fmla="val 17143"/>
            </a:avLst>
          </a:prstGeom>
          <a:solidFill>
            <a:schemeClr val="accent1"/>
          </a:solidFill>
          <a:ln w="6350">
            <a:solidFill>
              <a:schemeClr val="accent1"/>
            </a:solidFill>
            <a:prstDash val="solid"/>
          </a:ln>
        </p:spPr>
      </p:sp>
      <p:sp>
        <p:nvSpPr>
          <p:cNvPr id="5" name="Text 2"/>
          <p:cNvSpPr txBox="1"/>
          <p:nvPr/>
        </p:nvSpPr>
        <p:spPr>
          <a:xfrm>
            <a:off x="640080" y="5623560"/>
            <a:ext cx="2240280" cy="640080"/>
          </a:xfrm>
          <a:prstGeom prst="rect">
            <a:avLst/>
          </a:prstGeom>
          <a:noFill/>
          <a:ln/>
        </p:spPr>
        <p:txBody>
          <a:bodyPr wrap="square" lIns="0" tIns="0" rIns="0" bIns="0" rtlCol="0" anchor="ctr"/>
          <a:lstStyle/>
          <a:p>
            <a:pPr algn="ctr" indent="0" marL="0">
              <a:buNone/>
            </a:pPr>
            <a:r>
              <a:rPr lang="en-US" sz="1400" b="1" dirty="0">
                <a:solidFill>
                  <a:schemeClr val="bg1"/>
                </a:solidFill>
              </a:rPr>
              <a:t>Authenticate</a:t>
            </a:r>
            <a:endParaRPr lang="en-US" sz="1400" dirty="0"/>
          </a:p>
        </p:txBody>
      </p:sp>
      <p:sp>
        <p:nvSpPr>
          <p:cNvPr id="6" name="Arrow"/>
          <p:cNvSpPr/>
          <p:nvPr/>
        </p:nvSpPr>
        <p:spPr>
          <a:xfrm>
            <a:off x="3035808" y="5824728"/>
            <a:ext cx="274320" cy="237744"/>
          </a:xfrm>
          <a:prstGeom prst="rightArrow">
            <a:avLst/>
          </a:prstGeom>
          <a:solidFill>
            <a:schemeClr val="accent2"/>
          </a:solidFill>
          <a:ln w="6350">
            <a:solidFill>
              <a:schemeClr val="accent2"/>
            </a:solidFill>
            <a:prstDash val="solid"/>
          </a:ln>
        </p:spPr>
      </p:sp>
      <p:sp>
        <p:nvSpPr>
          <p:cNvPr id="7" name="Chip"/>
          <p:cNvSpPr/>
          <p:nvPr/>
        </p:nvSpPr>
        <p:spPr>
          <a:xfrm>
            <a:off x="3383280" y="5623560"/>
            <a:ext cx="2423160" cy="640080"/>
          </a:xfrm>
          <a:prstGeom prst="roundRect">
            <a:avLst>
              <a:gd name="adj" fmla="val 17143"/>
            </a:avLst>
          </a:prstGeom>
          <a:solidFill>
            <a:schemeClr val="accent5"/>
          </a:solidFill>
          <a:ln w="6350">
            <a:solidFill>
              <a:schemeClr val="accent5"/>
            </a:solidFill>
            <a:prstDash val="solid"/>
          </a:ln>
        </p:spPr>
      </p:sp>
      <p:sp>
        <p:nvSpPr>
          <p:cNvPr id="8" name="Text 5"/>
          <p:cNvSpPr txBox="1"/>
          <p:nvPr/>
        </p:nvSpPr>
        <p:spPr>
          <a:xfrm>
            <a:off x="3474720" y="5623560"/>
            <a:ext cx="2240280" cy="640080"/>
          </a:xfrm>
          <a:prstGeom prst="rect">
            <a:avLst/>
          </a:prstGeom>
          <a:noFill/>
          <a:ln/>
        </p:spPr>
        <p:txBody>
          <a:bodyPr wrap="square" lIns="0" tIns="0" rIns="0" bIns="0" rtlCol="0" anchor="ctr"/>
          <a:lstStyle/>
          <a:p>
            <a:pPr algn="ctr" indent="0" marL="0">
              <a:buNone/>
            </a:pPr>
            <a:r>
              <a:rPr lang="en-US" sz="1400" b="1" dirty="0">
                <a:solidFill>
                  <a:schemeClr val="bg1"/>
                </a:solidFill>
              </a:rPr>
              <a:t>Check role</a:t>
            </a:r>
            <a:endParaRPr lang="en-US" sz="1400" dirty="0"/>
          </a:p>
        </p:txBody>
      </p:sp>
      <p:sp>
        <p:nvSpPr>
          <p:cNvPr id="9" name="Arrow"/>
          <p:cNvSpPr/>
          <p:nvPr/>
        </p:nvSpPr>
        <p:spPr>
          <a:xfrm>
            <a:off x="5870448" y="5824728"/>
            <a:ext cx="274320" cy="237744"/>
          </a:xfrm>
          <a:prstGeom prst="rightArrow">
            <a:avLst/>
          </a:prstGeom>
          <a:solidFill>
            <a:schemeClr val="accent2"/>
          </a:solidFill>
          <a:ln w="6350">
            <a:solidFill>
              <a:schemeClr val="accent2"/>
            </a:solidFill>
            <a:prstDash val="solid"/>
          </a:ln>
        </p:spPr>
      </p:sp>
      <p:sp>
        <p:nvSpPr>
          <p:cNvPr id="10" name="Chip"/>
          <p:cNvSpPr/>
          <p:nvPr/>
        </p:nvSpPr>
        <p:spPr>
          <a:xfrm>
            <a:off x="6217920" y="5623560"/>
            <a:ext cx="2423160" cy="640080"/>
          </a:xfrm>
          <a:prstGeom prst="roundRect">
            <a:avLst>
              <a:gd name="adj" fmla="val 17143"/>
            </a:avLst>
          </a:prstGeom>
          <a:solidFill>
            <a:schemeClr val="accent3"/>
          </a:solidFill>
          <a:ln w="6350">
            <a:solidFill>
              <a:schemeClr val="accent3"/>
            </a:solidFill>
            <a:prstDash val="solid"/>
          </a:ln>
        </p:spPr>
      </p:sp>
      <p:sp>
        <p:nvSpPr>
          <p:cNvPr id="11" name="Text 8"/>
          <p:cNvSpPr txBox="1"/>
          <p:nvPr/>
        </p:nvSpPr>
        <p:spPr>
          <a:xfrm>
            <a:off x="6309360" y="5623560"/>
            <a:ext cx="2240280" cy="640080"/>
          </a:xfrm>
          <a:prstGeom prst="rect">
            <a:avLst/>
          </a:prstGeom>
          <a:noFill/>
          <a:ln/>
        </p:spPr>
        <p:txBody>
          <a:bodyPr wrap="square" lIns="0" tIns="0" rIns="0" bIns="0" rtlCol="0" anchor="ctr"/>
          <a:lstStyle/>
          <a:p>
            <a:pPr algn="ctr" indent="0" marL="0">
              <a:buNone/>
            </a:pPr>
            <a:r>
              <a:rPr lang="en-US" sz="1400" b="1" dirty="0">
                <a:solidFill>
                  <a:schemeClr val="bg1"/>
                </a:solidFill>
              </a:rPr>
              <a:t>Validate input</a:t>
            </a:r>
            <a:endParaRPr lang="en-US" sz="1400" dirty="0"/>
          </a:p>
        </p:txBody>
      </p:sp>
      <p:sp>
        <p:nvSpPr>
          <p:cNvPr id="12" name="Arrow"/>
          <p:cNvSpPr/>
          <p:nvPr/>
        </p:nvSpPr>
        <p:spPr>
          <a:xfrm>
            <a:off x="8705088" y="5824728"/>
            <a:ext cx="274320" cy="237744"/>
          </a:xfrm>
          <a:prstGeom prst="rightArrow">
            <a:avLst/>
          </a:prstGeom>
          <a:solidFill>
            <a:schemeClr val="accent2"/>
          </a:solidFill>
          <a:ln w="6350">
            <a:solidFill>
              <a:schemeClr val="accent2"/>
            </a:solidFill>
            <a:prstDash val="solid"/>
          </a:ln>
        </p:spPr>
      </p:sp>
      <p:sp>
        <p:nvSpPr>
          <p:cNvPr id="13" name="Chip"/>
          <p:cNvSpPr/>
          <p:nvPr/>
        </p:nvSpPr>
        <p:spPr>
          <a:xfrm>
            <a:off x="9052560" y="5623560"/>
            <a:ext cx="2423160" cy="640080"/>
          </a:xfrm>
          <a:prstGeom prst="roundRect">
            <a:avLst>
              <a:gd name="adj" fmla="val 17143"/>
            </a:avLst>
          </a:prstGeom>
          <a:solidFill>
            <a:schemeClr val="tx2"/>
          </a:solidFill>
          <a:ln w="6350">
            <a:solidFill>
              <a:schemeClr val="tx2"/>
            </a:solidFill>
            <a:prstDash val="solid"/>
          </a:ln>
        </p:spPr>
      </p:sp>
      <p:sp>
        <p:nvSpPr>
          <p:cNvPr id="14" name="Text 11"/>
          <p:cNvSpPr txBox="1"/>
          <p:nvPr/>
        </p:nvSpPr>
        <p:spPr>
          <a:xfrm>
            <a:off x="9144000" y="5623560"/>
            <a:ext cx="2240280" cy="640080"/>
          </a:xfrm>
          <a:prstGeom prst="rect">
            <a:avLst/>
          </a:prstGeom>
          <a:noFill/>
          <a:ln/>
        </p:spPr>
        <p:txBody>
          <a:bodyPr wrap="square" lIns="0" tIns="0" rIns="0" bIns="0" rtlCol="0" anchor="ctr"/>
          <a:lstStyle/>
          <a:p>
            <a:pPr algn="ctr" indent="0" marL="0">
              <a:buNone/>
            </a:pPr>
            <a:r>
              <a:rPr lang="en-US" sz="1400" b="1" dirty="0">
                <a:solidFill>
                  <a:schemeClr val="bg1"/>
                </a:solidFill>
              </a:rPr>
              <a:t>Run SQL transaction</a:t>
            </a:r>
            <a:endParaRPr lang="en-US" sz="1400" dirty="0"/>
          </a:p>
        </p:txBody>
      </p:sp>
      <p:sp>
        <p:nvSpPr>
          <p:cNvPr id="15" name="Text 12"/>
          <p:cNvSpPr txBox="1"/>
          <p:nvPr/>
        </p:nvSpPr>
        <p:spPr>
          <a:xfrm>
            <a:off x="548640" y="5257800"/>
            <a:ext cx="7315200" cy="274320"/>
          </a:xfrm>
          <a:prstGeom prst="rect">
            <a:avLst/>
          </a:prstGeom>
          <a:noFill/>
          <a:ln/>
        </p:spPr>
        <p:txBody>
          <a:bodyPr wrap="square" lIns="0" tIns="0" rIns="0" bIns="0" rtlCol="0" anchor="t"/>
          <a:lstStyle/>
          <a:p>
            <a:pPr indent="0" marL="0">
              <a:buNone/>
            </a:pPr>
            <a:r>
              <a:rPr lang="en-US" sz="1200" b="1" dirty="0">
                <a:solidFill>
                  <a:schemeClr val="accent1"/>
                </a:solidFill>
              </a:rPr>
              <a:t>EVERY REQUEST FOLLOWS THE SAME PIPELINE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Testing and Validation</a:t>
            </a:r>
            <a:endParaRPr lang="en-US" sz="3600" dirty="0"/>
          </a:p>
        </p:txBody>
      </p:sp>
      <p:graphicFrame>
        <p:nvGraphicFramePr>
          <p:cNvPr id="12" name="Test cases"/>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640080"/>
                <a:gridCol w="5029200"/>
                <a:gridCol w="5394960"/>
              </a:tblGrid>
              <a:tr h="457200">
                <a:tc>
                  <a:txBody>
                    <a:bodyPr/>
                    <a:lstStyle/>
                    <a:p>
                      <a:pPr algn="ctr" indent="0" marL="0">
                        <a:buNone/>
                      </a:pPr>
                      <a:r>
                        <a:rPr lang="en-US" sz="1400" b="1" dirty="0">
                          <a:solidFill>
                            <a:schemeClr val="bg1"/>
                          </a:solidFill>
                        </a:rPr>
                        <a: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Test scenario</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Expected result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algn="ctr" indent="0" marL="0">
                        <a:buNone/>
                      </a:pPr>
                      <a:r>
                        <a:rPr lang="en-US" sz="1400" b="1" dirty="0">
                          <a:solidFill>
                            <a:schemeClr val="accent1"/>
                          </a:solidFill>
                        </a:rPr>
                        <a:t>1</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Sell 5 units when 50 are in stock</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Stock becomes 45; movement is logged</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ctr" indent="0" marL="0">
                        <a:buNone/>
                      </a:pPr>
                      <a:r>
                        <a:rPr lang="en-US" sz="1400" b="1" dirty="0">
                          <a:solidFill>
                            <a:schemeClr val="accent1"/>
                          </a:solidFill>
                        </a:rPr>
                        <a:t>2</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Sell more units than available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Sale rejected; no data changed</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ctr" indent="0" marL="0">
                        <a:buNone/>
                      </a:pPr>
                      <a:r>
                        <a:rPr lang="en-US" sz="1400" b="1" dirty="0">
                          <a:solidFill>
                            <a:schemeClr val="accent1"/>
                          </a:solidFill>
                        </a:rPr>
                        <a:t>3</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Receive a purchase of 20 units</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Stock increases by 20</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ctr" indent="0" marL="0">
                        <a:buNone/>
                      </a:pPr>
                      <a:r>
                        <a:rPr lang="en-US" sz="1400" b="1" dirty="0">
                          <a:solidFill>
                            <a:schemeClr val="accent1"/>
                          </a:solidFill>
                        </a:rPr>
                        <a:t>4</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Cashier calls an Admin-only route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Blocked by permission check</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ctr" indent="0" marL="0">
                        <a:buNone/>
                      </a:pPr>
                      <a:r>
                        <a:rPr lang="en-US" sz="1400" b="1" dirty="0">
                          <a:solidFill>
                            <a:schemeClr val="accent1"/>
                          </a:solidFill>
                        </a:rPr>
                        <a:t>5</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Insert sale item for a missing product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Foreign key rejects the insert</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algn="ctr" indent="0" marL="0">
                        <a:buNone/>
                      </a:pPr>
                      <a:r>
                        <a:rPr lang="en-US" sz="1400" b="1" dirty="0">
                          <a:solidFill>
                            <a:schemeClr val="accent1"/>
                          </a:solidFill>
                        </a:rPr>
                        <a:t>6</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Enter a negative price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l" indent="0" marL="0">
                        <a:buNone/>
                      </a:pPr>
                      <a:r>
                        <a:rPr lang="en-US" sz="1400" dirty="0">
                          <a:solidFill>
                            <a:schemeClr val="tx1"/>
                          </a:solidFill>
                        </a:rPr>
                        <a:t>CHECK constraint rejects the value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algn="ctr" indent="0" marL="0">
                        <a:buNone/>
                      </a:pPr>
                      <a:r>
                        <a:rPr lang="en-US" sz="1400" b="1" dirty="0">
                          <a:solidFill>
                            <a:schemeClr val="accent1"/>
                          </a:solidFill>
                        </a:rPr>
                        <a:t>7</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A step fails in the middle of a sale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l" indent="0" marL="0">
                        <a:buNone/>
                      </a:pPr>
                      <a:r>
                        <a:rPr lang="en-US" sz="1400" dirty="0">
                          <a:solidFill>
                            <a:schemeClr val="tx1"/>
                          </a:solidFill>
                        </a:rPr>
                        <a:t>Full rollback; no partial invoice</a:t>
                      </a:r>
                      <a:endParaRPr lang="en-US" sz="1400" dirty="0"/>
                    </a:p>
                  </a:txBody>
                  <a:tcPr marL="91440" marR="91440"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Banner"/>
          <p:cNvSpPr/>
          <p:nvPr/>
        </p:nvSpPr>
        <p:spPr>
          <a:xfrm>
            <a:off x="548640" y="5440680"/>
            <a:ext cx="11064240" cy="731520"/>
          </a:xfrm>
          <a:prstGeom prst="roundRect">
            <a:avLst>
              <a:gd name="adj" fmla="val 15000"/>
            </a:avLst>
          </a:prstGeom>
          <a:solidFill>
            <a:schemeClr val="tx2"/>
          </a:solidFill>
          <a:ln w="6350">
            <a:solidFill>
              <a:schemeClr val="tx2"/>
            </a:solidFill>
            <a:prstDash val="solid"/>
          </a:ln>
        </p:spPr>
      </p:sp>
      <p:sp>
        <p:nvSpPr>
          <p:cNvPr id="5" name="Text 2"/>
          <p:cNvSpPr txBox="1"/>
          <p:nvPr/>
        </p:nvSpPr>
        <p:spPr>
          <a:xfrm>
            <a:off x="868680" y="5440680"/>
            <a:ext cx="10424160" cy="731520"/>
          </a:xfrm>
          <a:prstGeom prst="rect">
            <a:avLst/>
          </a:prstGeom>
          <a:noFill/>
          <a:ln/>
        </p:spPr>
        <p:txBody>
          <a:bodyPr wrap="square" lIns="0" tIns="0" rIns="0" bIns="0" rtlCol="0" anchor="ctr"/>
          <a:lstStyle/>
          <a:p>
            <a:pPr indent="0" marL="0">
              <a:buNone/>
            </a:pPr>
            <a:r>
              <a:rPr lang="en-US" sz="1600" b="1" dirty="0">
                <a:solidFill>
                  <a:schemeClr val="accent2"/>
                </a:solidFill>
              </a:rPr>
              <a:t>Coverage: </a:t>
            </a:r>
            <a:pPr indent="0" marL="0">
              <a:buNone/>
            </a:pPr>
            <a:r>
              <a:rPr lang="en-US" sz="1600" dirty="0">
                <a:solidFill>
                  <a:schemeClr val="bg1"/>
                </a:solidFill>
              </a:rPr>
              <a:t>business logic (1-3), security (4) and database integrity (5-7).</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Challenges and Solutions</a:t>
            </a:r>
            <a:endParaRPr lang="en-US" sz="3600" dirty="0"/>
          </a:p>
        </p:txBody>
      </p:sp>
      <p:sp>
        <p:nvSpPr>
          <p:cNvPr id="3" name="Card"/>
          <p:cNvSpPr/>
          <p:nvPr/>
        </p:nvSpPr>
        <p:spPr>
          <a:xfrm>
            <a:off x="548640" y="1371600"/>
            <a:ext cx="5440680" cy="2194560"/>
          </a:xfrm>
          <a:prstGeom prst="roundRect">
            <a:avLst>
              <a:gd name="adj" fmla="val 5000"/>
            </a:avLst>
          </a:prstGeom>
          <a:solidFill>
            <a:schemeClr val="bg2"/>
          </a:solidFill>
          <a:ln w="6350">
            <a:solidFill>
              <a:schemeClr val="bg2"/>
            </a:solidFill>
            <a:prstDash val="solid"/>
          </a:ln>
        </p:spPr>
      </p:sp>
      <p:sp>
        <p:nvSpPr>
          <p:cNvPr id="4" name="Chip"/>
          <p:cNvSpPr/>
          <p:nvPr/>
        </p:nvSpPr>
        <p:spPr>
          <a:xfrm>
            <a:off x="822960" y="1600200"/>
            <a:ext cx="1371600" cy="365760"/>
          </a:xfrm>
          <a:prstGeom prst="roundRect">
            <a:avLst>
              <a:gd name="adj" fmla="val 30000"/>
            </a:avLst>
          </a:prstGeom>
          <a:solidFill>
            <a:schemeClr val="accent4"/>
          </a:solidFill>
          <a:ln w="6350">
            <a:solidFill>
              <a:schemeClr val="accent4"/>
            </a:solidFill>
            <a:prstDash val="solid"/>
          </a:ln>
        </p:spPr>
      </p:sp>
      <p:sp>
        <p:nvSpPr>
          <p:cNvPr id="5" name="Text 3"/>
          <p:cNvSpPr txBox="1"/>
          <p:nvPr/>
        </p:nvSpPr>
        <p:spPr>
          <a:xfrm>
            <a:off x="914400" y="1600200"/>
            <a:ext cx="1188720" cy="365760"/>
          </a:xfrm>
          <a:prstGeom prst="rect">
            <a:avLst/>
          </a:prstGeom>
          <a:noFill/>
          <a:ln/>
        </p:spPr>
        <p:txBody>
          <a:bodyPr wrap="square" lIns="0" tIns="0" rIns="0" bIns="0" rtlCol="0" anchor="ctr"/>
          <a:lstStyle/>
          <a:p>
            <a:pPr algn="ctr" indent="0" marL="0">
              <a:buNone/>
            </a:pPr>
            <a:r>
              <a:rPr lang="en-US" sz="1400" b="1" dirty="0">
                <a:solidFill>
                  <a:schemeClr val="bg1"/>
                </a:solidFill>
              </a:rPr>
              <a:t>CHALLENGE</a:t>
            </a:r>
            <a:endParaRPr lang="en-US" sz="1400" dirty="0"/>
          </a:p>
        </p:txBody>
      </p:sp>
      <p:sp>
        <p:nvSpPr>
          <p:cNvPr id="6" name="Text 4"/>
          <p:cNvSpPr txBox="1"/>
          <p:nvPr/>
        </p:nvSpPr>
        <p:spPr>
          <a:xfrm>
            <a:off x="2377440" y="1554480"/>
            <a:ext cx="3474720" cy="457200"/>
          </a:xfrm>
          <a:prstGeom prst="rect">
            <a:avLst/>
          </a:prstGeom>
          <a:noFill/>
          <a:ln/>
        </p:spPr>
        <p:txBody>
          <a:bodyPr wrap="square" lIns="0" tIns="0" rIns="0" bIns="0" rtlCol="0" anchor="ctr"/>
          <a:lstStyle/>
          <a:p>
            <a:pPr indent="0" marL="0">
              <a:buNone/>
            </a:pPr>
            <a:r>
              <a:rPr lang="en-US" sz="1600" b="1" dirty="0">
                <a:solidFill>
                  <a:schemeClr val="tx2"/>
                </a:solidFill>
              </a:rPr>
              <a:t>Keeping stock accurate</a:t>
            </a:r>
            <a:endParaRPr lang="en-US" sz="1600" dirty="0"/>
          </a:p>
        </p:txBody>
      </p:sp>
      <p:sp>
        <p:nvSpPr>
          <p:cNvPr id="7" name="Chip"/>
          <p:cNvSpPr/>
          <p:nvPr/>
        </p:nvSpPr>
        <p:spPr>
          <a:xfrm>
            <a:off x="822960" y="2286000"/>
            <a:ext cx="1371600" cy="365760"/>
          </a:xfrm>
          <a:prstGeom prst="roundRect">
            <a:avLst>
              <a:gd name="adj" fmla="val 30000"/>
            </a:avLst>
          </a:prstGeom>
          <a:solidFill>
            <a:schemeClr val="accent3"/>
          </a:solidFill>
          <a:ln w="6350">
            <a:solidFill>
              <a:schemeClr val="accent3"/>
            </a:solidFill>
            <a:prstDash val="solid"/>
          </a:ln>
        </p:spPr>
      </p:sp>
      <p:sp>
        <p:nvSpPr>
          <p:cNvPr id="8" name="Text 6"/>
          <p:cNvSpPr txBox="1"/>
          <p:nvPr/>
        </p:nvSpPr>
        <p:spPr>
          <a:xfrm>
            <a:off x="914400" y="2286000"/>
            <a:ext cx="1188720" cy="365760"/>
          </a:xfrm>
          <a:prstGeom prst="rect">
            <a:avLst/>
          </a:prstGeom>
          <a:noFill/>
          <a:ln/>
        </p:spPr>
        <p:txBody>
          <a:bodyPr wrap="square" lIns="0" tIns="0" rIns="0" bIns="0" rtlCol="0" anchor="ctr"/>
          <a:lstStyle/>
          <a:p>
            <a:pPr algn="ctr" indent="0" marL="0">
              <a:buNone/>
            </a:pPr>
            <a:r>
              <a:rPr lang="en-US" sz="1400" b="1" dirty="0">
                <a:solidFill>
                  <a:schemeClr val="bg1"/>
                </a:solidFill>
              </a:rPr>
              <a:t>SOLUTION</a:t>
            </a:r>
            <a:endParaRPr lang="en-US" sz="1400" dirty="0"/>
          </a:p>
        </p:txBody>
      </p:sp>
      <p:sp>
        <p:nvSpPr>
          <p:cNvPr id="9" name="Text 7"/>
          <p:cNvSpPr txBox="1"/>
          <p:nvPr/>
        </p:nvSpPr>
        <p:spPr>
          <a:xfrm>
            <a:off x="2377440" y="2286000"/>
            <a:ext cx="3383280" cy="1097280"/>
          </a:xfrm>
          <a:prstGeom prst="rect">
            <a:avLst/>
          </a:prstGeom>
          <a:noFill/>
          <a:ln/>
        </p:spPr>
        <p:txBody>
          <a:bodyPr wrap="square" lIns="0" tIns="0" rIns="0" bIns="0" rtlCol="0" anchor="t"/>
          <a:lstStyle/>
          <a:p>
            <a:pPr indent="0" marL="0">
              <a:buNone/>
            </a:pPr>
            <a:r>
              <a:rPr lang="en-US" sz="1400" dirty="0">
                <a:solidFill>
                  <a:schemeClr val="tx1"/>
                </a:solidFill>
              </a:rPr>
              <a:t>Every change runs in a transaction and is logged in stock_movements.</a:t>
            </a:r>
            <a:endParaRPr lang="en-US" sz="1400" dirty="0"/>
          </a:p>
        </p:txBody>
      </p:sp>
      <p:sp>
        <p:nvSpPr>
          <p:cNvPr id="10" name="Card"/>
          <p:cNvSpPr/>
          <p:nvPr/>
        </p:nvSpPr>
        <p:spPr>
          <a:xfrm>
            <a:off x="6172200" y="1371600"/>
            <a:ext cx="5440680" cy="2194560"/>
          </a:xfrm>
          <a:prstGeom prst="roundRect">
            <a:avLst>
              <a:gd name="adj" fmla="val 5000"/>
            </a:avLst>
          </a:prstGeom>
          <a:solidFill>
            <a:schemeClr val="bg2"/>
          </a:solidFill>
          <a:ln w="6350">
            <a:solidFill>
              <a:schemeClr val="bg2"/>
            </a:solidFill>
            <a:prstDash val="solid"/>
          </a:ln>
        </p:spPr>
      </p:sp>
      <p:sp>
        <p:nvSpPr>
          <p:cNvPr id="11" name="Chip"/>
          <p:cNvSpPr/>
          <p:nvPr/>
        </p:nvSpPr>
        <p:spPr>
          <a:xfrm>
            <a:off x="6446520" y="1600200"/>
            <a:ext cx="1371600" cy="365760"/>
          </a:xfrm>
          <a:prstGeom prst="roundRect">
            <a:avLst>
              <a:gd name="adj" fmla="val 30000"/>
            </a:avLst>
          </a:prstGeom>
          <a:solidFill>
            <a:schemeClr val="accent4"/>
          </a:solidFill>
          <a:ln w="6350">
            <a:solidFill>
              <a:schemeClr val="accent4"/>
            </a:solidFill>
            <a:prstDash val="solid"/>
          </a:ln>
        </p:spPr>
      </p:sp>
      <p:sp>
        <p:nvSpPr>
          <p:cNvPr id="12" name="Text 10"/>
          <p:cNvSpPr txBox="1"/>
          <p:nvPr/>
        </p:nvSpPr>
        <p:spPr>
          <a:xfrm>
            <a:off x="6537960" y="1600200"/>
            <a:ext cx="1188720" cy="365760"/>
          </a:xfrm>
          <a:prstGeom prst="rect">
            <a:avLst/>
          </a:prstGeom>
          <a:noFill/>
          <a:ln/>
        </p:spPr>
        <p:txBody>
          <a:bodyPr wrap="square" lIns="0" tIns="0" rIns="0" bIns="0" rtlCol="0" anchor="ctr"/>
          <a:lstStyle/>
          <a:p>
            <a:pPr algn="ctr" indent="0" marL="0">
              <a:buNone/>
            </a:pPr>
            <a:r>
              <a:rPr lang="en-US" sz="1400" b="1" dirty="0">
                <a:solidFill>
                  <a:schemeClr val="bg1"/>
                </a:solidFill>
              </a:rPr>
              <a:t>CHALLENGE</a:t>
            </a:r>
            <a:endParaRPr lang="en-US" sz="1400" dirty="0"/>
          </a:p>
        </p:txBody>
      </p:sp>
      <p:sp>
        <p:nvSpPr>
          <p:cNvPr id="13" name="Text 11"/>
          <p:cNvSpPr txBox="1"/>
          <p:nvPr/>
        </p:nvSpPr>
        <p:spPr>
          <a:xfrm>
            <a:off x="8001000" y="1554480"/>
            <a:ext cx="3474720" cy="457200"/>
          </a:xfrm>
          <a:prstGeom prst="rect">
            <a:avLst/>
          </a:prstGeom>
          <a:noFill/>
          <a:ln/>
        </p:spPr>
        <p:txBody>
          <a:bodyPr wrap="square" lIns="0" tIns="0" rIns="0" bIns="0" rtlCol="0" anchor="ctr"/>
          <a:lstStyle/>
          <a:p>
            <a:pPr indent="0" marL="0">
              <a:buNone/>
            </a:pPr>
            <a:r>
              <a:rPr lang="en-US" sz="1600" b="1" dirty="0">
                <a:solidFill>
                  <a:schemeClr val="tx2"/>
                </a:solidFill>
              </a:rPr>
              <a:t>Two cashiers selling the last item</a:t>
            </a:r>
            <a:endParaRPr lang="en-US" sz="1600" dirty="0"/>
          </a:p>
        </p:txBody>
      </p:sp>
      <p:sp>
        <p:nvSpPr>
          <p:cNvPr id="14" name="Chip"/>
          <p:cNvSpPr/>
          <p:nvPr/>
        </p:nvSpPr>
        <p:spPr>
          <a:xfrm>
            <a:off x="6446520" y="2286000"/>
            <a:ext cx="1371600" cy="365760"/>
          </a:xfrm>
          <a:prstGeom prst="roundRect">
            <a:avLst>
              <a:gd name="adj" fmla="val 30000"/>
            </a:avLst>
          </a:prstGeom>
          <a:solidFill>
            <a:schemeClr val="accent3"/>
          </a:solidFill>
          <a:ln w="6350">
            <a:solidFill>
              <a:schemeClr val="accent3"/>
            </a:solidFill>
            <a:prstDash val="solid"/>
          </a:ln>
        </p:spPr>
      </p:sp>
      <p:sp>
        <p:nvSpPr>
          <p:cNvPr id="15" name="Text 13"/>
          <p:cNvSpPr txBox="1"/>
          <p:nvPr/>
        </p:nvSpPr>
        <p:spPr>
          <a:xfrm>
            <a:off x="6537960" y="2286000"/>
            <a:ext cx="1188720" cy="365760"/>
          </a:xfrm>
          <a:prstGeom prst="rect">
            <a:avLst/>
          </a:prstGeom>
          <a:noFill/>
          <a:ln/>
        </p:spPr>
        <p:txBody>
          <a:bodyPr wrap="square" lIns="0" tIns="0" rIns="0" bIns="0" rtlCol="0" anchor="ctr"/>
          <a:lstStyle/>
          <a:p>
            <a:pPr algn="ctr" indent="0" marL="0">
              <a:buNone/>
            </a:pPr>
            <a:r>
              <a:rPr lang="en-US" sz="1400" b="1" dirty="0">
                <a:solidFill>
                  <a:schemeClr val="bg1"/>
                </a:solidFill>
              </a:rPr>
              <a:t>SOLUTION</a:t>
            </a:r>
            <a:endParaRPr lang="en-US" sz="1400" dirty="0"/>
          </a:p>
        </p:txBody>
      </p:sp>
      <p:sp>
        <p:nvSpPr>
          <p:cNvPr id="16" name="Text 14"/>
          <p:cNvSpPr txBox="1"/>
          <p:nvPr/>
        </p:nvSpPr>
        <p:spPr>
          <a:xfrm>
            <a:off x="8001000" y="2286000"/>
            <a:ext cx="3383280" cy="1097280"/>
          </a:xfrm>
          <a:prstGeom prst="rect">
            <a:avLst/>
          </a:prstGeom>
          <a:noFill/>
          <a:ln/>
        </p:spPr>
        <p:txBody>
          <a:bodyPr wrap="square" lIns="0" tIns="0" rIns="0" bIns="0" rtlCol="0" anchor="t"/>
          <a:lstStyle/>
          <a:p>
            <a:pPr indent="0" marL="0">
              <a:buNone/>
            </a:pPr>
            <a:r>
              <a:rPr lang="en-US" sz="1400" dirty="0">
                <a:solidFill>
                  <a:schemeClr val="tx1"/>
                </a:solidFill>
              </a:rPr>
              <a:t>Row locking with SELECT ... FOR UPDATE prevents overselling.</a:t>
            </a:r>
            <a:endParaRPr lang="en-US" sz="1400" dirty="0"/>
          </a:p>
        </p:txBody>
      </p:sp>
      <p:sp>
        <p:nvSpPr>
          <p:cNvPr id="17" name="Card"/>
          <p:cNvSpPr/>
          <p:nvPr/>
        </p:nvSpPr>
        <p:spPr>
          <a:xfrm>
            <a:off x="548640" y="3749040"/>
            <a:ext cx="5440680" cy="2194560"/>
          </a:xfrm>
          <a:prstGeom prst="roundRect">
            <a:avLst>
              <a:gd name="adj" fmla="val 5000"/>
            </a:avLst>
          </a:prstGeom>
          <a:solidFill>
            <a:schemeClr val="bg2"/>
          </a:solidFill>
          <a:ln w="6350">
            <a:solidFill>
              <a:schemeClr val="bg2"/>
            </a:solidFill>
            <a:prstDash val="solid"/>
          </a:ln>
        </p:spPr>
      </p:sp>
      <p:sp>
        <p:nvSpPr>
          <p:cNvPr id="18" name="Chip"/>
          <p:cNvSpPr/>
          <p:nvPr/>
        </p:nvSpPr>
        <p:spPr>
          <a:xfrm>
            <a:off x="822960" y="3977640"/>
            <a:ext cx="1371600" cy="365760"/>
          </a:xfrm>
          <a:prstGeom prst="roundRect">
            <a:avLst>
              <a:gd name="adj" fmla="val 30000"/>
            </a:avLst>
          </a:prstGeom>
          <a:solidFill>
            <a:schemeClr val="accent4"/>
          </a:solidFill>
          <a:ln w="6350">
            <a:solidFill>
              <a:schemeClr val="accent4"/>
            </a:solidFill>
            <a:prstDash val="solid"/>
          </a:ln>
        </p:spPr>
      </p:sp>
      <p:sp>
        <p:nvSpPr>
          <p:cNvPr id="19" name="Text 17"/>
          <p:cNvSpPr txBox="1"/>
          <p:nvPr/>
        </p:nvSpPr>
        <p:spPr>
          <a:xfrm>
            <a:off x="914400" y="3977640"/>
            <a:ext cx="1188720" cy="365760"/>
          </a:xfrm>
          <a:prstGeom prst="rect">
            <a:avLst/>
          </a:prstGeom>
          <a:noFill/>
          <a:ln/>
        </p:spPr>
        <p:txBody>
          <a:bodyPr wrap="square" lIns="0" tIns="0" rIns="0" bIns="0" rtlCol="0" anchor="ctr"/>
          <a:lstStyle/>
          <a:p>
            <a:pPr algn="ctr" indent="0" marL="0">
              <a:buNone/>
            </a:pPr>
            <a:r>
              <a:rPr lang="en-US" sz="1400" b="1" dirty="0">
                <a:solidFill>
                  <a:schemeClr val="bg1"/>
                </a:solidFill>
              </a:rPr>
              <a:t>CHALLENGE</a:t>
            </a:r>
            <a:endParaRPr lang="en-US" sz="1400" dirty="0"/>
          </a:p>
        </p:txBody>
      </p:sp>
      <p:sp>
        <p:nvSpPr>
          <p:cNvPr id="20" name="Text 18"/>
          <p:cNvSpPr txBox="1"/>
          <p:nvPr/>
        </p:nvSpPr>
        <p:spPr>
          <a:xfrm>
            <a:off x="2377440" y="3931920"/>
            <a:ext cx="3474720" cy="457200"/>
          </a:xfrm>
          <a:prstGeom prst="rect">
            <a:avLst/>
          </a:prstGeom>
          <a:noFill/>
          <a:ln/>
        </p:spPr>
        <p:txBody>
          <a:bodyPr wrap="square" lIns="0" tIns="0" rIns="0" bIns="0" rtlCol="0" anchor="ctr"/>
          <a:lstStyle/>
          <a:p>
            <a:pPr indent="0" marL="0">
              <a:buNone/>
            </a:pPr>
            <a:r>
              <a:rPr lang="en-US" sz="1600" b="1" dirty="0">
                <a:solidFill>
                  <a:schemeClr val="tx2"/>
                </a:solidFill>
              </a:rPr>
              <a:t>Price changes affecting old invoices</a:t>
            </a:r>
            <a:endParaRPr lang="en-US" sz="1600" dirty="0"/>
          </a:p>
        </p:txBody>
      </p:sp>
      <p:sp>
        <p:nvSpPr>
          <p:cNvPr id="21" name="Chip"/>
          <p:cNvSpPr/>
          <p:nvPr/>
        </p:nvSpPr>
        <p:spPr>
          <a:xfrm>
            <a:off x="822960" y="4663440"/>
            <a:ext cx="1371600" cy="365760"/>
          </a:xfrm>
          <a:prstGeom prst="roundRect">
            <a:avLst>
              <a:gd name="adj" fmla="val 30000"/>
            </a:avLst>
          </a:prstGeom>
          <a:solidFill>
            <a:schemeClr val="accent3"/>
          </a:solidFill>
          <a:ln w="6350">
            <a:solidFill>
              <a:schemeClr val="accent3"/>
            </a:solidFill>
            <a:prstDash val="solid"/>
          </a:ln>
        </p:spPr>
      </p:sp>
      <p:sp>
        <p:nvSpPr>
          <p:cNvPr id="22" name="Text 20"/>
          <p:cNvSpPr txBox="1"/>
          <p:nvPr/>
        </p:nvSpPr>
        <p:spPr>
          <a:xfrm>
            <a:off x="914400" y="4663440"/>
            <a:ext cx="1188720" cy="365760"/>
          </a:xfrm>
          <a:prstGeom prst="rect">
            <a:avLst/>
          </a:prstGeom>
          <a:noFill/>
          <a:ln/>
        </p:spPr>
        <p:txBody>
          <a:bodyPr wrap="square" lIns="0" tIns="0" rIns="0" bIns="0" rtlCol="0" anchor="ctr"/>
          <a:lstStyle/>
          <a:p>
            <a:pPr algn="ctr" indent="0" marL="0">
              <a:buNone/>
            </a:pPr>
            <a:r>
              <a:rPr lang="en-US" sz="1400" b="1" dirty="0">
                <a:solidFill>
                  <a:schemeClr val="bg1"/>
                </a:solidFill>
              </a:rPr>
              <a:t>SOLUTION</a:t>
            </a:r>
            <a:endParaRPr lang="en-US" sz="1400" dirty="0"/>
          </a:p>
        </p:txBody>
      </p:sp>
      <p:sp>
        <p:nvSpPr>
          <p:cNvPr id="23" name="Text 21"/>
          <p:cNvSpPr txBox="1"/>
          <p:nvPr/>
        </p:nvSpPr>
        <p:spPr>
          <a:xfrm>
            <a:off x="2377440" y="4663440"/>
            <a:ext cx="3383280" cy="1097280"/>
          </a:xfrm>
          <a:prstGeom prst="rect">
            <a:avLst/>
          </a:prstGeom>
          <a:noFill/>
          <a:ln/>
        </p:spPr>
        <p:txBody>
          <a:bodyPr wrap="square" lIns="0" tIns="0" rIns="0" bIns="0" rtlCol="0" anchor="t"/>
          <a:lstStyle/>
          <a:p>
            <a:pPr indent="0" marL="0">
              <a:buNone/>
            </a:pPr>
            <a:r>
              <a:rPr lang="en-US" sz="1400" dirty="0">
                <a:solidFill>
                  <a:schemeClr val="tx1"/>
                </a:solidFill>
              </a:rPr>
              <a:t>unit_price is saved in sale_items at the time of sale.</a:t>
            </a:r>
            <a:endParaRPr lang="en-US" sz="1400" dirty="0"/>
          </a:p>
        </p:txBody>
      </p:sp>
      <p:sp>
        <p:nvSpPr>
          <p:cNvPr id="24" name="Card"/>
          <p:cNvSpPr/>
          <p:nvPr/>
        </p:nvSpPr>
        <p:spPr>
          <a:xfrm>
            <a:off x="6172200" y="3749040"/>
            <a:ext cx="5440680" cy="2194560"/>
          </a:xfrm>
          <a:prstGeom prst="roundRect">
            <a:avLst>
              <a:gd name="adj" fmla="val 5000"/>
            </a:avLst>
          </a:prstGeom>
          <a:solidFill>
            <a:schemeClr val="bg2"/>
          </a:solidFill>
          <a:ln w="6350">
            <a:solidFill>
              <a:schemeClr val="bg2"/>
            </a:solidFill>
            <a:prstDash val="solid"/>
          </a:ln>
        </p:spPr>
      </p:sp>
      <p:sp>
        <p:nvSpPr>
          <p:cNvPr id="25" name="Chip"/>
          <p:cNvSpPr/>
          <p:nvPr/>
        </p:nvSpPr>
        <p:spPr>
          <a:xfrm>
            <a:off x="6446520" y="3977640"/>
            <a:ext cx="1371600" cy="365760"/>
          </a:xfrm>
          <a:prstGeom prst="roundRect">
            <a:avLst>
              <a:gd name="adj" fmla="val 30000"/>
            </a:avLst>
          </a:prstGeom>
          <a:solidFill>
            <a:schemeClr val="accent4"/>
          </a:solidFill>
          <a:ln w="6350">
            <a:solidFill>
              <a:schemeClr val="accent4"/>
            </a:solidFill>
            <a:prstDash val="solid"/>
          </a:ln>
        </p:spPr>
      </p:sp>
      <p:sp>
        <p:nvSpPr>
          <p:cNvPr id="26" name="Text 24"/>
          <p:cNvSpPr txBox="1"/>
          <p:nvPr/>
        </p:nvSpPr>
        <p:spPr>
          <a:xfrm>
            <a:off x="6537960" y="3977640"/>
            <a:ext cx="1188720" cy="365760"/>
          </a:xfrm>
          <a:prstGeom prst="rect">
            <a:avLst/>
          </a:prstGeom>
          <a:noFill/>
          <a:ln/>
        </p:spPr>
        <p:txBody>
          <a:bodyPr wrap="square" lIns="0" tIns="0" rIns="0" bIns="0" rtlCol="0" anchor="ctr"/>
          <a:lstStyle/>
          <a:p>
            <a:pPr algn="ctr" indent="0" marL="0">
              <a:buNone/>
            </a:pPr>
            <a:r>
              <a:rPr lang="en-US" sz="1400" b="1" dirty="0">
                <a:solidFill>
                  <a:schemeClr val="bg1"/>
                </a:solidFill>
              </a:rPr>
              <a:t>CHALLENGE</a:t>
            </a:r>
            <a:endParaRPr lang="en-US" sz="1400" dirty="0"/>
          </a:p>
        </p:txBody>
      </p:sp>
      <p:sp>
        <p:nvSpPr>
          <p:cNvPr id="27" name="Text 25"/>
          <p:cNvSpPr txBox="1"/>
          <p:nvPr/>
        </p:nvSpPr>
        <p:spPr>
          <a:xfrm>
            <a:off x="8001000" y="3931920"/>
            <a:ext cx="3474720" cy="457200"/>
          </a:xfrm>
          <a:prstGeom prst="rect">
            <a:avLst/>
          </a:prstGeom>
          <a:noFill/>
          <a:ln/>
        </p:spPr>
        <p:txBody>
          <a:bodyPr wrap="square" lIns="0" tIns="0" rIns="0" bIns="0" rtlCol="0" anchor="ctr"/>
          <a:lstStyle/>
          <a:p>
            <a:pPr indent="0" marL="0">
              <a:buNone/>
            </a:pPr>
            <a:r>
              <a:rPr lang="en-US" sz="1600" b="1" dirty="0">
                <a:solidFill>
                  <a:schemeClr val="tx2"/>
                </a:solidFill>
              </a:rPr>
              <a:t>Reports slowing as data grows</a:t>
            </a:r>
            <a:endParaRPr lang="en-US" sz="1600" dirty="0"/>
          </a:p>
        </p:txBody>
      </p:sp>
      <p:sp>
        <p:nvSpPr>
          <p:cNvPr id="28" name="Chip"/>
          <p:cNvSpPr/>
          <p:nvPr/>
        </p:nvSpPr>
        <p:spPr>
          <a:xfrm>
            <a:off x="6446520" y="4663440"/>
            <a:ext cx="1371600" cy="365760"/>
          </a:xfrm>
          <a:prstGeom prst="roundRect">
            <a:avLst>
              <a:gd name="adj" fmla="val 30000"/>
            </a:avLst>
          </a:prstGeom>
          <a:solidFill>
            <a:schemeClr val="accent3"/>
          </a:solidFill>
          <a:ln w="6350">
            <a:solidFill>
              <a:schemeClr val="accent3"/>
            </a:solidFill>
            <a:prstDash val="solid"/>
          </a:ln>
        </p:spPr>
      </p:sp>
      <p:sp>
        <p:nvSpPr>
          <p:cNvPr id="29" name="Text 27"/>
          <p:cNvSpPr txBox="1"/>
          <p:nvPr/>
        </p:nvSpPr>
        <p:spPr>
          <a:xfrm>
            <a:off x="6537960" y="4663440"/>
            <a:ext cx="1188720" cy="365760"/>
          </a:xfrm>
          <a:prstGeom prst="rect">
            <a:avLst/>
          </a:prstGeom>
          <a:noFill/>
          <a:ln/>
        </p:spPr>
        <p:txBody>
          <a:bodyPr wrap="square" lIns="0" tIns="0" rIns="0" bIns="0" rtlCol="0" anchor="ctr"/>
          <a:lstStyle/>
          <a:p>
            <a:pPr algn="ctr" indent="0" marL="0">
              <a:buNone/>
            </a:pPr>
            <a:r>
              <a:rPr lang="en-US" sz="1400" b="1" dirty="0">
                <a:solidFill>
                  <a:schemeClr val="bg1"/>
                </a:solidFill>
              </a:rPr>
              <a:t>SOLUTION</a:t>
            </a:r>
            <a:endParaRPr lang="en-US" sz="1400" dirty="0"/>
          </a:p>
        </p:txBody>
      </p:sp>
      <p:sp>
        <p:nvSpPr>
          <p:cNvPr id="30" name="Text 28"/>
          <p:cNvSpPr txBox="1"/>
          <p:nvPr/>
        </p:nvSpPr>
        <p:spPr>
          <a:xfrm>
            <a:off x="8001000" y="4663440"/>
            <a:ext cx="3383280" cy="1097280"/>
          </a:xfrm>
          <a:prstGeom prst="rect">
            <a:avLst/>
          </a:prstGeom>
          <a:noFill/>
          <a:ln/>
        </p:spPr>
        <p:txBody>
          <a:bodyPr wrap="square" lIns="0" tIns="0" rIns="0" bIns="0" rtlCol="0" anchor="t"/>
          <a:lstStyle/>
          <a:p>
            <a:pPr indent="0" marL="0">
              <a:buNone/>
            </a:pPr>
            <a:r>
              <a:rPr lang="en-US" sz="1400" dirty="0">
                <a:solidFill>
                  <a:schemeClr val="tx1"/>
                </a:solidFill>
              </a:rPr>
              <a:t>Indexes on dates and foreign keys, plus aggregate queries.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Future Scope and Conclusion</a:t>
            </a:r>
            <a:endParaRPr lang="en-US" sz="3600" dirty="0"/>
          </a:p>
        </p:txBody>
      </p:sp>
      <p:sp>
        <p:nvSpPr>
          <p:cNvPr id="3" name="Card"/>
          <p:cNvSpPr/>
          <p:nvPr/>
        </p:nvSpPr>
        <p:spPr>
          <a:xfrm>
            <a:off x="548640" y="1371600"/>
            <a:ext cx="3566160" cy="1600200"/>
          </a:xfrm>
          <a:prstGeom prst="roundRect">
            <a:avLst>
              <a:gd name="adj" fmla="val 6857"/>
            </a:avLst>
          </a:prstGeom>
          <a:solidFill>
            <a:schemeClr val="bg2"/>
          </a:solidFill>
          <a:ln w="6350">
            <a:solidFill>
              <a:schemeClr val="bg2"/>
            </a:solidFill>
            <a:prstDash val="solid"/>
          </a:ln>
        </p:spPr>
      </p:sp>
      <p:sp>
        <p:nvSpPr>
          <p:cNvPr id="4" name="Icon circle"/>
          <p:cNvSpPr/>
          <p:nvPr/>
        </p:nvSpPr>
        <p:spPr>
          <a:xfrm>
            <a:off x="822960" y="1645920"/>
            <a:ext cx="640080" cy="640080"/>
          </a:xfrm>
          <a:prstGeom prst="ellipse">
            <a:avLst/>
          </a:prstGeom>
          <a:solidFill>
            <a:schemeClr val="accent1"/>
          </a:solidFill>
          <a:ln w="6350">
            <a:solidFill>
              <a:schemeClr val="accent1"/>
            </a:solidFill>
            <a:prstDash val="solid"/>
          </a:ln>
        </p:spPr>
      </p:sp>
      <p:pic>
        <p:nvPicPr>
          <p:cNvPr id="5" name="Icon" descr="icon">    </p:cNvPr>
          <p:cNvPicPr>
            <a:picLocks noChangeAspect="1"/>
          </p:cNvPicPr>
          <p:nvPr/>
        </p:nvPicPr>
        <p:blipFill>
          <a:blip r:embed="rId1"/>
          <a:stretch>
            <a:fillRect/>
          </a:stretch>
        </p:blipFill>
        <p:spPr>
          <a:xfrm>
            <a:off x="989381" y="1812341"/>
            <a:ext cx="307238" cy="307238"/>
          </a:xfrm>
          <a:prstGeom prst="rect">
            <a:avLst/>
          </a:prstGeom>
        </p:spPr>
      </p:pic>
      <p:sp>
        <p:nvSpPr>
          <p:cNvPr id="6" name="Text 3"/>
          <p:cNvSpPr txBox="1"/>
          <p:nvPr/>
        </p:nvSpPr>
        <p:spPr>
          <a:xfrm>
            <a:off x="1645920" y="1645920"/>
            <a:ext cx="2286000" cy="365760"/>
          </a:xfrm>
          <a:prstGeom prst="rect">
            <a:avLst/>
          </a:prstGeom>
          <a:noFill/>
          <a:ln/>
        </p:spPr>
        <p:txBody>
          <a:bodyPr wrap="square" lIns="0" tIns="0" rIns="0" bIns="0" rtlCol="0" anchor="t"/>
          <a:lstStyle/>
          <a:p>
            <a:pPr indent="0" marL="0">
              <a:buNone/>
            </a:pPr>
            <a:r>
              <a:rPr lang="en-US" sz="1800" b="1" dirty="0">
                <a:solidFill>
                  <a:schemeClr val="tx2"/>
                </a:solidFill>
              </a:rPr>
              <a:t>Barcode scanning</a:t>
            </a:r>
            <a:endParaRPr lang="en-US" sz="1800" dirty="0"/>
          </a:p>
        </p:txBody>
      </p:sp>
      <p:sp>
        <p:nvSpPr>
          <p:cNvPr id="7" name="Text 4"/>
          <p:cNvSpPr txBox="1"/>
          <p:nvPr/>
        </p:nvSpPr>
        <p:spPr>
          <a:xfrm>
            <a:off x="1645920" y="2057400"/>
            <a:ext cx="2286000" cy="822960"/>
          </a:xfrm>
          <a:prstGeom prst="rect">
            <a:avLst/>
          </a:prstGeom>
          <a:noFill/>
          <a:ln/>
        </p:spPr>
        <p:txBody>
          <a:bodyPr wrap="square" lIns="0" tIns="0" rIns="0" bIns="0" rtlCol="0" anchor="t"/>
          <a:lstStyle/>
          <a:p>
            <a:pPr indent="0" marL="0">
              <a:buNone/>
            </a:pPr>
            <a:r>
              <a:rPr lang="en-US" sz="1400" dirty="0">
                <a:solidFill>
                  <a:schemeClr val="tx1"/>
                </a:solidFill>
              </a:rPr>
              <a:t>Add products to the cart instantly.</a:t>
            </a:r>
            <a:endParaRPr lang="en-US" sz="1400" dirty="0"/>
          </a:p>
        </p:txBody>
      </p:sp>
      <p:sp>
        <p:nvSpPr>
          <p:cNvPr id="8" name="Card"/>
          <p:cNvSpPr/>
          <p:nvPr/>
        </p:nvSpPr>
        <p:spPr>
          <a:xfrm>
            <a:off x="4297680" y="1371600"/>
            <a:ext cx="3566160" cy="1600200"/>
          </a:xfrm>
          <a:prstGeom prst="roundRect">
            <a:avLst>
              <a:gd name="adj" fmla="val 6857"/>
            </a:avLst>
          </a:prstGeom>
          <a:solidFill>
            <a:schemeClr val="bg2"/>
          </a:solidFill>
          <a:ln w="6350">
            <a:solidFill>
              <a:schemeClr val="bg2"/>
            </a:solidFill>
            <a:prstDash val="solid"/>
          </a:ln>
        </p:spPr>
      </p:sp>
      <p:sp>
        <p:nvSpPr>
          <p:cNvPr id="9" name="Icon circle"/>
          <p:cNvSpPr/>
          <p:nvPr/>
        </p:nvSpPr>
        <p:spPr>
          <a:xfrm>
            <a:off x="4572000" y="1645920"/>
            <a:ext cx="640080" cy="640080"/>
          </a:xfrm>
          <a:prstGeom prst="ellipse">
            <a:avLst/>
          </a:prstGeom>
          <a:solidFill>
            <a:schemeClr val="accent5"/>
          </a:solidFill>
          <a:ln w="6350">
            <a:solidFill>
              <a:schemeClr val="accent5"/>
            </a:solidFill>
            <a:prstDash val="solid"/>
          </a:ln>
        </p:spPr>
      </p:sp>
      <p:pic>
        <p:nvPicPr>
          <p:cNvPr id="10" name="Icon" descr="icon">    </p:cNvPr>
          <p:cNvPicPr>
            <a:picLocks noChangeAspect="1"/>
          </p:cNvPicPr>
          <p:nvPr/>
        </p:nvPicPr>
        <p:blipFill>
          <a:blip r:embed="rId2"/>
          <a:stretch>
            <a:fillRect/>
          </a:stretch>
        </p:blipFill>
        <p:spPr>
          <a:xfrm>
            <a:off x="4738421" y="1812341"/>
            <a:ext cx="307238" cy="307238"/>
          </a:xfrm>
          <a:prstGeom prst="rect">
            <a:avLst/>
          </a:prstGeom>
        </p:spPr>
      </p:pic>
      <p:sp>
        <p:nvSpPr>
          <p:cNvPr id="11" name="Text 7"/>
          <p:cNvSpPr txBox="1"/>
          <p:nvPr/>
        </p:nvSpPr>
        <p:spPr>
          <a:xfrm>
            <a:off x="5394960" y="1645920"/>
            <a:ext cx="2286000" cy="365760"/>
          </a:xfrm>
          <a:prstGeom prst="rect">
            <a:avLst/>
          </a:prstGeom>
          <a:noFill/>
          <a:ln/>
        </p:spPr>
        <p:txBody>
          <a:bodyPr wrap="square" lIns="0" tIns="0" rIns="0" bIns="0" rtlCol="0" anchor="t"/>
          <a:lstStyle/>
          <a:p>
            <a:pPr indent="0" marL="0">
              <a:buNone/>
            </a:pPr>
            <a:r>
              <a:rPr lang="en-US" sz="1800" b="1" dirty="0">
                <a:solidFill>
                  <a:schemeClr val="tx2"/>
                </a:solidFill>
              </a:rPr>
              <a:t>Tax-ready invoices</a:t>
            </a:r>
            <a:endParaRPr lang="en-US" sz="1800" dirty="0"/>
          </a:p>
        </p:txBody>
      </p:sp>
      <p:sp>
        <p:nvSpPr>
          <p:cNvPr id="12" name="Text 8"/>
          <p:cNvSpPr txBox="1"/>
          <p:nvPr/>
        </p:nvSpPr>
        <p:spPr>
          <a:xfrm>
            <a:off x="5394960" y="2057400"/>
            <a:ext cx="2286000" cy="822960"/>
          </a:xfrm>
          <a:prstGeom prst="rect">
            <a:avLst/>
          </a:prstGeom>
          <a:noFill/>
          <a:ln/>
        </p:spPr>
        <p:txBody>
          <a:bodyPr wrap="square" lIns="0" tIns="0" rIns="0" bIns="0" rtlCol="0" anchor="t"/>
          <a:lstStyle/>
          <a:p>
            <a:pPr indent="0" marL="0">
              <a:buNone/>
            </a:pPr>
            <a:r>
              <a:rPr lang="en-US" sz="1400" dirty="0">
                <a:solidFill>
                  <a:schemeClr val="tx1"/>
                </a:solidFill>
              </a:rPr>
              <a:t>GST breakdown on every receipt.</a:t>
            </a:r>
            <a:endParaRPr lang="en-US" sz="1400" dirty="0"/>
          </a:p>
        </p:txBody>
      </p:sp>
      <p:sp>
        <p:nvSpPr>
          <p:cNvPr id="13" name="Card"/>
          <p:cNvSpPr/>
          <p:nvPr/>
        </p:nvSpPr>
        <p:spPr>
          <a:xfrm>
            <a:off x="8046720" y="1371600"/>
            <a:ext cx="3566160" cy="1600200"/>
          </a:xfrm>
          <a:prstGeom prst="roundRect">
            <a:avLst>
              <a:gd name="adj" fmla="val 6857"/>
            </a:avLst>
          </a:prstGeom>
          <a:solidFill>
            <a:schemeClr val="bg2"/>
          </a:solidFill>
          <a:ln w="6350">
            <a:solidFill>
              <a:schemeClr val="bg2"/>
            </a:solidFill>
            <a:prstDash val="solid"/>
          </a:ln>
        </p:spPr>
      </p:sp>
      <p:sp>
        <p:nvSpPr>
          <p:cNvPr id="14" name="Icon circle"/>
          <p:cNvSpPr/>
          <p:nvPr/>
        </p:nvSpPr>
        <p:spPr>
          <a:xfrm>
            <a:off x="8321040" y="1645920"/>
            <a:ext cx="640080" cy="640080"/>
          </a:xfrm>
          <a:prstGeom prst="ellipse">
            <a:avLst/>
          </a:prstGeom>
          <a:solidFill>
            <a:schemeClr val="accent3"/>
          </a:solidFill>
          <a:ln w="6350">
            <a:solidFill>
              <a:schemeClr val="accent3"/>
            </a:solidFill>
            <a:prstDash val="solid"/>
          </a:ln>
        </p:spPr>
      </p:sp>
      <p:pic>
        <p:nvPicPr>
          <p:cNvPr id="15" name="Icon" descr="icon">    </p:cNvPr>
          <p:cNvPicPr>
            <a:picLocks noChangeAspect="1"/>
          </p:cNvPicPr>
          <p:nvPr/>
        </p:nvPicPr>
        <p:blipFill>
          <a:blip r:embed="rId3"/>
          <a:stretch>
            <a:fillRect/>
          </a:stretch>
        </p:blipFill>
        <p:spPr>
          <a:xfrm>
            <a:off x="8487461" y="1812341"/>
            <a:ext cx="307238" cy="307238"/>
          </a:xfrm>
          <a:prstGeom prst="rect">
            <a:avLst/>
          </a:prstGeom>
        </p:spPr>
      </p:pic>
      <p:sp>
        <p:nvSpPr>
          <p:cNvPr id="16" name="Text 11"/>
          <p:cNvSpPr txBox="1"/>
          <p:nvPr/>
        </p:nvSpPr>
        <p:spPr>
          <a:xfrm>
            <a:off x="9144000" y="1645920"/>
            <a:ext cx="2286000" cy="365760"/>
          </a:xfrm>
          <a:prstGeom prst="rect">
            <a:avLst/>
          </a:prstGeom>
          <a:noFill/>
          <a:ln/>
        </p:spPr>
        <p:txBody>
          <a:bodyPr wrap="square" lIns="0" tIns="0" rIns="0" bIns="0" rtlCol="0" anchor="t"/>
          <a:lstStyle/>
          <a:p>
            <a:pPr indent="0" marL="0">
              <a:buNone/>
            </a:pPr>
            <a:r>
              <a:rPr lang="en-US" sz="1800" b="1" dirty="0">
                <a:solidFill>
                  <a:schemeClr val="tx2"/>
                </a:solidFill>
              </a:rPr>
              <a:t>Auto reorder</a:t>
            </a:r>
            <a:endParaRPr lang="en-US" sz="1800" dirty="0"/>
          </a:p>
        </p:txBody>
      </p:sp>
      <p:sp>
        <p:nvSpPr>
          <p:cNvPr id="17" name="Text 12"/>
          <p:cNvSpPr txBox="1"/>
          <p:nvPr/>
        </p:nvSpPr>
        <p:spPr>
          <a:xfrm>
            <a:off x="9144000" y="2057400"/>
            <a:ext cx="2286000" cy="822960"/>
          </a:xfrm>
          <a:prstGeom prst="rect">
            <a:avLst/>
          </a:prstGeom>
          <a:noFill/>
          <a:ln/>
        </p:spPr>
        <p:txBody>
          <a:bodyPr wrap="square" lIns="0" tIns="0" rIns="0" bIns="0" rtlCol="0" anchor="t"/>
          <a:lstStyle/>
          <a:p>
            <a:pPr indent="0" marL="0">
              <a:buNone/>
            </a:pPr>
            <a:r>
              <a:rPr lang="en-US" sz="1400" dirty="0">
                <a:solidFill>
                  <a:schemeClr val="tx1"/>
                </a:solidFill>
              </a:rPr>
              <a:t>Suggest purchases from low-stock data.</a:t>
            </a:r>
            <a:endParaRPr lang="en-US" sz="1400" dirty="0"/>
          </a:p>
        </p:txBody>
      </p:sp>
      <p:sp>
        <p:nvSpPr>
          <p:cNvPr id="18" name="Card"/>
          <p:cNvSpPr/>
          <p:nvPr/>
        </p:nvSpPr>
        <p:spPr>
          <a:xfrm>
            <a:off x="548640" y="3154680"/>
            <a:ext cx="3566160" cy="1600200"/>
          </a:xfrm>
          <a:prstGeom prst="roundRect">
            <a:avLst>
              <a:gd name="adj" fmla="val 6857"/>
            </a:avLst>
          </a:prstGeom>
          <a:solidFill>
            <a:schemeClr val="bg2"/>
          </a:solidFill>
          <a:ln w="6350">
            <a:solidFill>
              <a:schemeClr val="bg2"/>
            </a:solidFill>
            <a:prstDash val="solid"/>
          </a:ln>
        </p:spPr>
      </p:sp>
      <p:sp>
        <p:nvSpPr>
          <p:cNvPr id="19" name="Icon circle"/>
          <p:cNvSpPr/>
          <p:nvPr/>
        </p:nvSpPr>
        <p:spPr>
          <a:xfrm>
            <a:off x="822960" y="3429000"/>
            <a:ext cx="640080" cy="640080"/>
          </a:xfrm>
          <a:prstGeom prst="ellipse">
            <a:avLst/>
          </a:prstGeom>
          <a:solidFill>
            <a:schemeClr val="accent1"/>
          </a:solidFill>
          <a:ln w="6350">
            <a:solidFill>
              <a:schemeClr val="accent1"/>
            </a:solidFill>
            <a:prstDash val="solid"/>
          </a:ln>
        </p:spPr>
      </p:sp>
      <p:pic>
        <p:nvPicPr>
          <p:cNvPr id="20" name="Icon" descr="icon">    </p:cNvPr>
          <p:cNvPicPr>
            <a:picLocks noChangeAspect="1"/>
          </p:cNvPicPr>
          <p:nvPr/>
        </p:nvPicPr>
        <p:blipFill>
          <a:blip r:embed="rId4"/>
          <a:stretch>
            <a:fillRect/>
          </a:stretch>
        </p:blipFill>
        <p:spPr>
          <a:xfrm>
            <a:off x="989381" y="3595421"/>
            <a:ext cx="307238" cy="307238"/>
          </a:xfrm>
          <a:prstGeom prst="rect">
            <a:avLst/>
          </a:prstGeom>
        </p:spPr>
      </p:pic>
      <p:sp>
        <p:nvSpPr>
          <p:cNvPr id="21" name="Text 15"/>
          <p:cNvSpPr txBox="1"/>
          <p:nvPr/>
        </p:nvSpPr>
        <p:spPr>
          <a:xfrm>
            <a:off x="1645920" y="3429000"/>
            <a:ext cx="2286000" cy="365760"/>
          </a:xfrm>
          <a:prstGeom prst="rect">
            <a:avLst/>
          </a:prstGeom>
          <a:noFill/>
          <a:ln/>
        </p:spPr>
        <p:txBody>
          <a:bodyPr wrap="square" lIns="0" tIns="0" rIns="0" bIns="0" rtlCol="0" anchor="t"/>
          <a:lstStyle/>
          <a:p>
            <a:pPr indent="0" marL="0">
              <a:buNone/>
            </a:pPr>
            <a:r>
              <a:rPr lang="en-US" sz="1800" b="1" dirty="0">
                <a:solidFill>
                  <a:schemeClr val="tx2"/>
                </a:solidFill>
              </a:rPr>
              <a:t>Sales analytics</a:t>
            </a:r>
            <a:endParaRPr lang="en-US" sz="1800" dirty="0"/>
          </a:p>
        </p:txBody>
      </p:sp>
      <p:sp>
        <p:nvSpPr>
          <p:cNvPr id="22" name="Text 16"/>
          <p:cNvSpPr txBox="1"/>
          <p:nvPr/>
        </p:nvSpPr>
        <p:spPr>
          <a:xfrm>
            <a:off x="1645920" y="3840480"/>
            <a:ext cx="2286000" cy="822960"/>
          </a:xfrm>
          <a:prstGeom prst="rect">
            <a:avLst/>
          </a:prstGeom>
          <a:noFill/>
          <a:ln/>
        </p:spPr>
        <p:txBody>
          <a:bodyPr wrap="square" lIns="0" tIns="0" rIns="0" bIns="0" rtlCol="0" anchor="t"/>
          <a:lstStyle/>
          <a:p>
            <a:pPr indent="0" marL="0">
              <a:buNone/>
            </a:pPr>
            <a:r>
              <a:rPr lang="en-US" sz="1400" dirty="0">
                <a:solidFill>
                  <a:schemeClr val="tx1"/>
                </a:solidFill>
              </a:rPr>
              <a:t>Trends, forecasts and dashboards.</a:t>
            </a:r>
            <a:endParaRPr lang="en-US" sz="1400" dirty="0"/>
          </a:p>
        </p:txBody>
      </p:sp>
      <p:sp>
        <p:nvSpPr>
          <p:cNvPr id="23" name="Card"/>
          <p:cNvSpPr/>
          <p:nvPr/>
        </p:nvSpPr>
        <p:spPr>
          <a:xfrm>
            <a:off x="4297680" y="3154680"/>
            <a:ext cx="3566160" cy="1600200"/>
          </a:xfrm>
          <a:prstGeom prst="roundRect">
            <a:avLst>
              <a:gd name="adj" fmla="val 6857"/>
            </a:avLst>
          </a:prstGeom>
          <a:solidFill>
            <a:schemeClr val="bg2"/>
          </a:solidFill>
          <a:ln w="6350">
            <a:solidFill>
              <a:schemeClr val="bg2"/>
            </a:solidFill>
            <a:prstDash val="solid"/>
          </a:ln>
        </p:spPr>
      </p:sp>
      <p:sp>
        <p:nvSpPr>
          <p:cNvPr id="24" name="Icon circle"/>
          <p:cNvSpPr/>
          <p:nvPr/>
        </p:nvSpPr>
        <p:spPr>
          <a:xfrm>
            <a:off x="4572000" y="3429000"/>
            <a:ext cx="640080" cy="640080"/>
          </a:xfrm>
          <a:prstGeom prst="ellipse">
            <a:avLst/>
          </a:prstGeom>
          <a:solidFill>
            <a:schemeClr val="accent5"/>
          </a:solidFill>
          <a:ln w="6350">
            <a:solidFill>
              <a:schemeClr val="accent5"/>
            </a:solidFill>
            <a:prstDash val="solid"/>
          </a:ln>
        </p:spPr>
      </p:sp>
      <p:pic>
        <p:nvPicPr>
          <p:cNvPr id="25" name="Icon" descr="icon">    </p:cNvPr>
          <p:cNvPicPr>
            <a:picLocks noChangeAspect="1"/>
          </p:cNvPicPr>
          <p:nvPr/>
        </p:nvPicPr>
        <p:blipFill>
          <a:blip r:embed="rId5"/>
          <a:stretch>
            <a:fillRect/>
          </a:stretch>
        </p:blipFill>
        <p:spPr>
          <a:xfrm>
            <a:off x="4738421" y="3595421"/>
            <a:ext cx="307238" cy="307238"/>
          </a:xfrm>
          <a:prstGeom prst="rect">
            <a:avLst/>
          </a:prstGeom>
        </p:spPr>
      </p:pic>
      <p:sp>
        <p:nvSpPr>
          <p:cNvPr id="26" name="Text 19"/>
          <p:cNvSpPr txBox="1"/>
          <p:nvPr/>
        </p:nvSpPr>
        <p:spPr>
          <a:xfrm>
            <a:off x="5394960" y="3429000"/>
            <a:ext cx="2286000" cy="365760"/>
          </a:xfrm>
          <a:prstGeom prst="rect">
            <a:avLst/>
          </a:prstGeom>
          <a:noFill/>
          <a:ln/>
        </p:spPr>
        <p:txBody>
          <a:bodyPr wrap="square" lIns="0" tIns="0" rIns="0" bIns="0" rtlCol="0" anchor="t"/>
          <a:lstStyle/>
          <a:p>
            <a:pPr indent="0" marL="0">
              <a:buNone/>
            </a:pPr>
            <a:r>
              <a:rPr lang="en-US" sz="1800" b="1" dirty="0">
                <a:solidFill>
                  <a:schemeClr val="tx2"/>
                </a:solidFill>
              </a:rPr>
              <a:t>Mobile access</a:t>
            </a:r>
            <a:endParaRPr lang="en-US" sz="1800" dirty="0"/>
          </a:p>
        </p:txBody>
      </p:sp>
      <p:sp>
        <p:nvSpPr>
          <p:cNvPr id="27" name="Text 20"/>
          <p:cNvSpPr txBox="1"/>
          <p:nvPr/>
        </p:nvSpPr>
        <p:spPr>
          <a:xfrm>
            <a:off x="5394960" y="3840480"/>
            <a:ext cx="2286000" cy="822960"/>
          </a:xfrm>
          <a:prstGeom prst="rect">
            <a:avLst/>
          </a:prstGeom>
          <a:noFill/>
          <a:ln/>
        </p:spPr>
        <p:txBody>
          <a:bodyPr wrap="square" lIns="0" tIns="0" rIns="0" bIns="0" rtlCol="0" anchor="t"/>
          <a:lstStyle/>
          <a:p>
            <a:pPr indent="0" marL="0">
              <a:buNone/>
            </a:pPr>
            <a:r>
              <a:rPr lang="en-US" sz="1400" dirty="0">
                <a:solidFill>
                  <a:schemeClr val="tx1"/>
                </a:solidFill>
              </a:rPr>
              <a:t>Owner view of sales on a phone.</a:t>
            </a:r>
            <a:endParaRPr lang="en-US" sz="1400" dirty="0"/>
          </a:p>
        </p:txBody>
      </p:sp>
      <p:sp>
        <p:nvSpPr>
          <p:cNvPr id="28" name="Card"/>
          <p:cNvSpPr/>
          <p:nvPr/>
        </p:nvSpPr>
        <p:spPr>
          <a:xfrm>
            <a:off x="8046720" y="3154680"/>
            <a:ext cx="3566160" cy="1600200"/>
          </a:xfrm>
          <a:prstGeom prst="roundRect">
            <a:avLst>
              <a:gd name="adj" fmla="val 6857"/>
            </a:avLst>
          </a:prstGeom>
          <a:solidFill>
            <a:schemeClr val="bg2"/>
          </a:solidFill>
          <a:ln w="6350">
            <a:solidFill>
              <a:schemeClr val="bg2"/>
            </a:solidFill>
            <a:prstDash val="solid"/>
          </a:ln>
        </p:spPr>
      </p:sp>
      <p:sp>
        <p:nvSpPr>
          <p:cNvPr id="29" name="Icon circle"/>
          <p:cNvSpPr/>
          <p:nvPr/>
        </p:nvSpPr>
        <p:spPr>
          <a:xfrm>
            <a:off x="8321040" y="3429000"/>
            <a:ext cx="640080" cy="640080"/>
          </a:xfrm>
          <a:prstGeom prst="ellipse">
            <a:avLst/>
          </a:prstGeom>
          <a:solidFill>
            <a:schemeClr val="accent3"/>
          </a:solidFill>
          <a:ln w="6350">
            <a:solidFill>
              <a:schemeClr val="accent3"/>
            </a:solidFill>
            <a:prstDash val="solid"/>
          </a:ln>
        </p:spPr>
      </p:sp>
      <p:pic>
        <p:nvPicPr>
          <p:cNvPr id="30" name="Icon" descr="icon">    </p:cNvPr>
          <p:cNvPicPr>
            <a:picLocks noChangeAspect="1"/>
          </p:cNvPicPr>
          <p:nvPr/>
        </p:nvPicPr>
        <p:blipFill>
          <a:blip r:embed="rId6"/>
          <a:stretch>
            <a:fillRect/>
          </a:stretch>
        </p:blipFill>
        <p:spPr>
          <a:xfrm>
            <a:off x="8487461" y="3595421"/>
            <a:ext cx="307238" cy="307238"/>
          </a:xfrm>
          <a:prstGeom prst="rect">
            <a:avLst/>
          </a:prstGeom>
        </p:spPr>
      </p:pic>
      <p:sp>
        <p:nvSpPr>
          <p:cNvPr id="31" name="Text 23"/>
          <p:cNvSpPr txBox="1"/>
          <p:nvPr/>
        </p:nvSpPr>
        <p:spPr>
          <a:xfrm>
            <a:off x="9144000" y="3429000"/>
            <a:ext cx="2286000" cy="365760"/>
          </a:xfrm>
          <a:prstGeom prst="rect">
            <a:avLst/>
          </a:prstGeom>
          <a:noFill/>
          <a:ln/>
        </p:spPr>
        <p:txBody>
          <a:bodyPr wrap="square" lIns="0" tIns="0" rIns="0" bIns="0" rtlCol="0" anchor="t"/>
          <a:lstStyle/>
          <a:p>
            <a:pPr indent="0" marL="0">
              <a:buNone/>
            </a:pPr>
            <a:r>
              <a:rPr lang="en-US" sz="1800" b="1" dirty="0">
                <a:solidFill>
                  <a:schemeClr val="tx2"/>
                </a:solidFill>
              </a:rPr>
              <a:t>Backups and recovery</a:t>
            </a:r>
            <a:endParaRPr lang="en-US" sz="1800" dirty="0"/>
          </a:p>
        </p:txBody>
      </p:sp>
      <p:sp>
        <p:nvSpPr>
          <p:cNvPr id="32" name="Text 24"/>
          <p:cNvSpPr txBox="1"/>
          <p:nvPr/>
        </p:nvSpPr>
        <p:spPr>
          <a:xfrm>
            <a:off x="9144000" y="3840480"/>
            <a:ext cx="2286000" cy="822960"/>
          </a:xfrm>
          <a:prstGeom prst="rect">
            <a:avLst/>
          </a:prstGeom>
          <a:noFill/>
          <a:ln/>
        </p:spPr>
        <p:txBody>
          <a:bodyPr wrap="square" lIns="0" tIns="0" rIns="0" bIns="0" rtlCol="0" anchor="t"/>
          <a:lstStyle/>
          <a:p>
            <a:pPr indent="0" marL="0">
              <a:buNone/>
            </a:pPr>
            <a:r>
              <a:rPr lang="en-US" sz="1400" dirty="0">
                <a:solidFill>
                  <a:schemeClr val="tx1"/>
                </a:solidFill>
              </a:rPr>
              <a:t>Scheduled backups of the database.</a:t>
            </a:r>
            <a:endParaRPr lang="en-US" sz="1400" dirty="0"/>
          </a:p>
        </p:txBody>
      </p:sp>
      <p:sp>
        <p:nvSpPr>
          <p:cNvPr id="33" name="Banner"/>
          <p:cNvSpPr/>
          <p:nvPr/>
        </p:nvSpPr>
        <p:spPr>
          <a:xfrm>
            <a:off x="548640" y="5074920"/>
            <a:ext cx="11064240" cy="1188720"/>
          </a:xfrm>
          <a:prstGeom prst="roundRect">
            <a:avLst>
              <a:gd name="adj" fmla="val 9231"/>
            </a:avLst>
          </a:prstGeom>
          <a:solidFill>
            <a:schemeClr val="tx2"/>
          </a:solidFill>
          <a:ln w="6350">
            <a:solidFill>
              <a:schemeClr val="tx2"/>
            </a:solidFill>
            <a:prstDash val="solid"/>
          </a:ln>
        </p:spPr>
      </p:sp>
      <p:sp>
        <p:nvSpPr>
          <p:cNvPr id="34" name="Text 26"/>
          <p:cNvSpPr txBox="1"/>
          <p:nvPr/>
        </p:nvSpPr>
        <p:spPr>
          <a:xfrm>
            <a:off x="868680" y="5074920"/>
            <a:ext cx="10424160" cy="1188720"/>
          </a:xfrm>
          <a:prstGeom prst="rect">
            <a:avLst/>
          </a:prstGeom>
          <a:noFill/>
          <a:ln/>
        </p:spPr>
        <p:txBody>
          <a:bodyPr wrap="square" lIns="0" tIns="0" rIns="0" bIns="0" rtlCol="0" anchor="ctr"/>
          <a:lstStyle/>
          <a:p>
            <a:pPr indent="0" marL="0">
              <a:buNone/>
            </a:pPr>
            <a:r>
              <a:rPr lang="en-US" sz="1600" b="1" dirty="0">
                <a:solidFill>
                  <a:schemeClr val="accent2"/>
                </a:solidFill>
              </a:rPr>
              <a:t>Conclusion: </a:t>
            </a:r>
            <a:pPr indent="0" marL="0">
              <a:buNone/>
            </a:pPr>
            <a:r>
              <a:rPr lang="en-US" sz="1600" dirty="0">
                <a:solidFill>
                  <a:schemeClr val="bg1"/>
                </a:solidFill>
              </a:rPr>
              <a:t>the system centralizes inventory, billing and reporting in MySQL, with constraints, transactions and role-based access keeping the data accurate and secure.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731520" y="1737360"/>
            <a:ext cx="6949440" cy="210312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3" name="Text 1"/>
          <p:cNvSpPr/>
          <p:nvPr>
            <p:ph idx="102" type="body" hasCustomPrompt="1"/>
          </p:nvPr>
        </p:nvSpPr>
        <p:spPr>
          <a:xfrm>
            <a:off x="731520" y="4114800"/>
            <a:ext cx="6949440" cy="640080"/>
          </a:xfrm>
          <a:prstGeom prst="rect">
            <a:avLst/>
          </a:prstGeom>
          <a:noFill/>
          <a:ln/>
        </p:spPr>
        <p:txBody>
          <a:bodyPr wrap="square" lIns="0" tIns="0" rIns="0" bIns="0" rtlCol="0" anchor="t"/>
          <a:lstStyle/>
          <a:p>
            <a:pPr indent="0" marL="0">
              <a:buNone/>
            </a:pPr>
            <a:r>
              <a:rPr lang="en-US" sz="2000" b="1" dirty="0">
                <a:solidFill>
                  <a:schemeClr val="accent2"/>
                </a:solidFill>
              </a:rPr>
              <a:t>Questions?</a:t>
            </a:r>
            <a:endParaRPr lang="en-US" sz="2000" dirty="0"/>
          </a:p>
        </p:txBody>
      </p:sp>
      <p:sp>
        <p:nvSpPr>
          <p:cNvPr id="4" name="Icon circle"/>
          <p:cNvSpPr/>
          <p:nvPr/>
        </p:nvSpPr>
        <p:spPr>
          <a:xfrm>
            <a:off x="8229600" y="1554480"/>
            <a:ext cx="914400" cy="914400"/>
          </a:xfrm>
          <a:prstGeom prst="ellipse">
            <a:avLst/>
          </a:prstGeom>
          <a:solidFill>
            <a:schemeClr val="accent1"/>
          </a:solidFill>
          <a:ln w="6350">
            <a:solidFill>
              <a:schemeClr val="accent1"/>
            </a:solidFill>
            <a:prstDash val="solid"/>
          </a:ln>
        </p:spPr>
      </p:sp>
      <p:pic>
        <p:nvPicPr>
          <p:cNvPr id="5" name="Icon" descr="icon">    </p:cNvPr>
          <p:cNvPicPr>
            <a:picLocks noChangeAspect="1"/>
          </p:cNvPicPr>
          <p:nvPr/>
        </p:nvPicPr>
        <p:blipFill>
          <a:blip r:embed="rId1"/>
          <a:stretch>
            <a:fillRect/>
          </a:stretch>
        </p:blipFill>
        <p:spPr>
          <a:xfrm>
            <a:off x="8467344" y="1792224"/>
            <a:ext cx="438912" cy="438912"/>
          </a:xfrm>
          <a:prstGeom prst="rect">
            <a:avLst/>
          </a:prstGeom>
        </p:spPr>
      </p:pic>
      <p:sp>
        <p:nvSpPr>
          <p:cNvPr id="6" name="Text 3"/>
          <p:cNvSpPr txBox="1"/>
          <p:nvPr/>
        </p:nvSpPr>
        <p:spPr>
          <a:xfrm>
            <a:off x="9372600" y="1554480"/>
            <a:ext cx="2286000" cy="914400"/>
          </a:xfrm>
          <a:prstGeom prst="rect">
            <a:avLst/>
          </a:prstGeom>
          <a:noFill/>
          <a:ln/>
        </p:spPr>
        <p:txBody>
          <a:bodyPr wrap="square" lIns="0" tIns="0" rIns="0" bIns="0" rtlCol="0" anchor="ctr"/>
          <a:lstStyle/>
          <a:p>
            <a:pPr indent="0" marL="0">
              <a:buNone/>
            </a:pPr>
            <a:r>
              <a:rPr lang="en-US" sz="1800" b="1" dirty="0">
                <a:solidFill>
                  <a:schemeClr val="bg1"/>
                </a:solidFill>
              </a:rPr>
              <a:t>Well-structured MySQL schema</a:t>
            </a:r>
            <a:endParaRPr lang="en-US" sz="1800" dirty="0"/>
          </a:p>
        </p:txBody>
      </p:sp>
      <p:sp>
        <p:nvSpPr>
          <p:cNvPr id="7" name="Icon circle"/>
          <p:cNvSpPr/>
          <p:nvPr/>
        </p:nvSpPr>
        <p:spPr>
          <a:xfrm>
            <a:off x="8229600" y="2880360"/>
            <a:ext cx="914400" cy="914400"/>
          </a:xfrm>
          <a:prstGeom prst="ellipse">
            <a:avLst/>
          </a:prstGeom>
          <a:solidFill>
            <a:schemeClr val="accent2"/>
          </a:solidFill>
          <a:ln w="6350">
            <a:solidFill>
              <a:schemeClr val="accent2"/>
            </a:solidFill>
            <a:prstDash val="solid"/>
          </a:ln>
        </p:spPr>
      </p:sp>
      <p:pic>
        <p:nvPicPr>
          <p:cNvPr id="8" name="Icon" descr="icon">    </p:cNvPr>
          <p:cNvPicPr>
            <a:picLocks noChangeAspect="1"/>
          </p:cNvPicPr>
          <p:nvPr/>
        </p:nvPicPr>
        <p:blipFill>
          <a:blip r:embed="rId2"/>
          <a:stretch>
            <a:fillRect/>
          </a:stretch>
        </p:blipFill>
        <p:spPr>
          <a:xfrm>
            <a:off x="8467344" y="3118104"/>
            <a:ext cx="438912" cy="438912"/>
          </a:xfrm>
          <a:prstGeom prst="rect">
            <a:avLst/>
          </a:prstGeom>
        </p:spPr>
      </p:pic>
      <p:sp>
        <p:nvSpPr>
          <p:cNvPr id="9" name="Text 5"/>
          <p:cNvSpPr txBox="1"/>
          <p:nvPr/>
        </p:nvSpPr>
        <p:spPr>
          <a:xfrm>
            <a:off x="9372600" y="2880360"/>
            <a:ext cx="2286000" cy="914400"/>
          </a:xfrm>
          <a:prstGeom prst="rect">
            <a:avLst/>
          </a:prstGeom>
          <a:noFill/>
          <a:ln/>
        </p:spPr>
        <p:txBody>
          <a:bodyPr wrap="square" lIns="0" tIns="0" rIns="0" bIns="0" rtlCol="0" anchor="ctr"/>
          <a:lstStyle/>
          <a:p>
            <a:pPr indent="0" marL="0">
              <a:buNone/>
            </a:pPr>
            <a:r>
              <a:rPr lang="en-US" sz="1800" b="1" dirty="0">
                <a:solidFill>
                  <a:schemeClr val="bg1"/>
                </a:solidFill>
              </a:rPr>
              <a:t>Reliable transactions</a:t>
            </a:r>
            <a:endParaRPr lang="en-US" sz="1800" dirty="0"/>
          </a:p>
        </p:txBody>
      </p:sp>
      <p:sp>
        <p:nvSpPr>
          <p:cNvPr id="10" name="Icon circle"/>
          <p:cNvSpPr/>
          <p:nvPr/>
        </p:nvSpPr>
        <p:spPr>
          <a:xfrm>
            <a:off x="8229600" y="4206240"/>
            <a:ext cx="914400" cy="914400"/>
          </a:xfrm>
          <a:prstGeom prst="ellipse">
            <a:avLst/>
          </a:prstGeom>
          <a:solidFill>
            <a:schemeClr val="accent3"/>
          </a:solidFill>
          <a:ln w="6350">
            <a:solidFill>
              <a:schemeClr val="accent3"/>
            </a:solidFill>
            <a:prstDash val="solid"/>
          </a:ln>
        </p:spPr>
      </p:sp>
      <p:pic>
        <p:nvPicPr>
          <p:cNvPr id="11" name="Icon" descr="icon">    </p:cNvPr>
          <p:cNvPicPr>
            <a:picLocks noChangeAspect="1"/>
          </p:cNvPicPr>
          <p:nvPr/>
        </p:nvPicPr>
        <p:blipFill>
          <a:blip r:embed="rId3"/>
          <a:stretch>
            <a:fillRect/>
          </a:stretch>
        </p:blipFill>
        <p:spPr>
          <a:xfrm>
            <a:off x="8467344" y="4443984"/>
            <a:ext cx="438912" cy="438912"/>
          </a:xfrm>
          <a:prstGeom prst="rect">
            <a:avLst/>
          </a:prstGeom>
        </p:spPr>
      </p:pic>
      <p:sp>
        <p:nvSpPr>
          <p:cNvPr id="12" name="Text 7"/>
          <p:cNvSpPr txBox="1"/>
          <p:nvPr/>
        </p:nvSpPr>
        <p:spPr>
          <a:xfrm>
            <a:off x="9372600" y="4206240"/>
            <a:ext cx="2286000" cy="914400"/>
          </a:xfrm>
          <a:prstGeom prst="rect">
            <a:avLst/>
          </a:prstGeom>
          <a:noFill/>
          <a:ln/>
        </p:spPr>
        <p:txBody>
          <a:bodyPr wrap="square" lIns="0" tIns="0" rIns="0" bIns="0" rtlCol="0" anchor="ctr"/>
          <a:lstStyle/>
          <a:p>
            <a:pPr indent="0" marL="0">
              <a:buNone/>
            </a:pPr>
            <a:r>
              <a:rPr lang="en-US" sz="1800" b="1" dirty="0">
                <a:solidFill>
                  <a:schemeClr val="bg1"/>
                </a:solidFill>
              </a:rPr>
              <a:t>Secure role-based access</a:t>
            </a:r>
            <a:endParaRPr lang="en-US" sz="1800" dirty="0"/>
          </a:p>
        </p:txBody>
      </p:sp>
    </p:spTree>
  </p:cSld>
  <p:clrMapOvr>
    <a:masterClrMapping/>
  </p:clrMapOvr>
</p:sld>
</file>

<file path=ppt/theme/theme1.xml><?xml version="1.0" encoding="utf-8"?>
<a:theme xmlns:a="http://schemas.openxmlformats.org/drawingml/2006/main" name="Retail Inventory R3">
  <a:themeElements>
    <a:clrScheme name="Retail Inventory R3">
      <a:dk1>
        <a:srgbClr val="1B2B2E"/>
      </a:dk1>
      <a:lt1>
        <a:srgbClr val="FFFFFF"/>
      </a:lt1>
      <a:dk2>
        <a:srgbClr val="0F3D3E"/>
      </a:dk2>
      <a:lt2>
        <a:srgbClr val="EAF2F1"/>
      </a:lt2>
      <a:accent1>
        <a:srgbClr val="1C7C7D"/>
      </a:accent1>
      <a:accent2>
        <a:srgbClr val="F2A541"/>
      </a:accent2>
      <a:accent3>
        <a:srgbClr val="2E9E83"/>
      </a:accent3>
      <a:accent4>
        <a:srgbClr val="E4572E"/>
      </a:accent4>
      <a:accent5>
        <a:srgbClr val="5B7C99"/>
      </a:accent5>
      <a:accent6>
        <a:srgbClr val="8AA29E"/>
      </a:accent6>
      <a:hlink>
        <a:srgbClr val="1C7C7D"/>
      </a:hlink>
      <a:folHlink>
        <a:srgbClr val="5B7C99"/>
      </a:folHlink>
    </a:clrScheme>
    <a:fontScheme name="Retail Inventory R3">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Dbms Pbl REVIEW 3</dc:title>
  <dc:subject>Retail Inventory and Sales Management System - Review 3</dc:subject>
  <dc:creator>PptxGenJS</dc:creator>
  <cp:lastModifiedBy>PptxGenJS</cp:lastModifiedBy>
  <cp:revision>1</cp:revision>
  <dcterms:created xsi:type="dcterms:W3CDTF">2026-10-13T20:21:04Z</dcterms:created>
  <dcterms:modified xsi:type="dcterms:W3CDTF">2026-10-13T20:21:04Z</dcterms:modified>
</cp:coreProperties>
</file>